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</p:sldIdLst>
  <p:sldSz cx="14630400" cy="9753600" type="screen4x3"/>
  <p:notesSz cx="6858000" cy="9144000"/>
  <p:embeddedFontLst>
    <p:embeddedFont>
      <p:font typeface="Liberation Sans"/>
      <p:regular r:id="rIdLiberation1"/>
      <p:bold r:id="rIdLiberation2"/>
      <p:italic r:id="rIdLiberation3"/>
      <p:boldItalic r:id="rIdLiberation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Liberation1" Type="http://schemas.openxmlformats.org/officeDocument/2006/relationships/font" Target="fonts/LiberationSans-Regular.fntdata"/><Relationship Id="rIdLiberation2" Type="http://schemas.openxmlformats.org/officeDocument/2006/relationships/font" Target="fonts/LiberationSans-Bold.fntdata"/><Relationship Id="rIdLiberation3" Type="http://schemas.openxmlformats.org/officeDocument/2006/relationships/font" Target="fonts/LiberationSans-Italic.fntdata"/><Relationship Id="rIdLiberation4" Type="http://schemas.openxmlformats.org/officeDocument/2006/relationships/font" Target="fonts/Liberation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Refined from the accepted 6.1 layout. Panel c is generated from archived CSVs. No model optimization was run. See figure_legend.md and README.md for conditions, units, historical imbalance evidence, independent objective tests and provenance.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00_titles_and_panel_rules"/>
          <p:cNvGrpSpPr/>
          <p:nvPr/>
        </p:nvGrpSpPr>
        <p:grpSpPr>
          <a:xfrm>
            <a:off x="320040" y="228600"/>
            <a:ext cx="11128249" cy="8458200"/>
            <a:chOff x="320040" y="228600"/>
            <a:chExt cx="11128249" cy="8458200"/>
          </a:xfrm>
        </p:grpSpPr>
        <p:sp>
          <p:nvSpPr>
            <p:cNvPr id="3" name="Metabolic route"/>
            <p:cNvSpPr/>
            <p:nvPr/>
          </p:nvSpPr>
          <p:spPr>
            <a:xfrm>
              <a:off x="2816352" y="265176"/>
              <a:ext cx="1" cy="8421624"/>
            </a:xfrm>
            <a:custGeom>
              <a:avLst/>
              <a:gdLst/>
              <a:ahLst/>
              <a:cxnLst/>
              <a:rect l="0" t="0" r="r" b="b"/>
              <a:pathLst>
                <a:path w="1" h="8421624" fill="none">
                  <a:moveTo>
                    <a:pt x="0" y="0"/>
                  </a:moveTo>
                  <a:lnTo>
                    <a:pt x="0" y="8421624"/>
                  </a:lnTo>
                </a:path>
              </a:pathLst>
            </a:custGeom>
            <a:noFill/>
            <a:ln w="9525" cap="rnd">
              <a:solidFill>
                <a:srgbClr val="D7DCE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Metabolic route"/>
            <p:cNvSpPr/>
            <p:nvPr/>
          </p:nvSpPr>
          <p:spPr>
            <a:xfrm>
              <a:off x="11448288" y="265176"/>
              <a:ext cx="1" cy="8421624"/>
            </a:xfrm>
            <a:custGeom>
              <a:avLst/>
              <a:gdLst/>
              <a:ahLst/>
              <a:cxnLst/>
              <a:rect l="0" t="0" r="r" b="b"/>
              <a:pathLst>
                <a:path w="1" h="8421624" fill="none">
                  <a:moveTo>
                    <a:pt x="0" y="0"/>
                  </a:moveTo>
                  <a:lnTo>
                    <a:pt x="0" y="8421624"/>
                  </a:lnTo>
                </a:path>
              </a:pathLst>
            </a:custGeom>
            <a:noFill/>
            <a:ln w="9525" cap="rnd">
              <a:solidFill>
                <a:srgbClr val="D7DCE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Metabolic route"/>
            <p:cNvSpPr/>
            <p:nvPr/>
          </p:nvSpPr>
          <p:spPr>
            <a:xfrm>
              <a:off x="2990088" y="4709160"/>
              <a:ext cx="8293608" cy="1"/>
            </a:xfrm>
            <a:custGeom>
              <a:avLst/>
              <a:gdLst/>
              <a:ahLst/>
              <a:cxnLst/>
              <a:rect l="0" t="0" r="r" b="b"/>
              <a:pathLst>
                <a:path w="8293608" h="1" fill="none">
                  <a:moveTo>
                    <a:pt x="0" y="0"/>
                  </a:moveTo>
                  <a:lnTo>
                    <a:pt x="8293608" y="0"/>
                  </a:lnTo>
                </a:path>
              </a:pathLst>
            </a:custGeom>
            <a:noFill/>
            <a:ln w="8890" cap="rnd">
              <a:solidFill>
                <a:srgbClr val="D7DCE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a"/>
            <p:cNvSpPr txBox="1"/>
            <p:nvPr/>
          </p:nvSpPr>
          <p:spPr>
            <a:xfrm>
              <a:off x="320040" y="228600"/>
              <a:ext cx="246888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 i="0">
                  <a:solidFill>
                    <a:srgbClr val="20262E"/>
                  </a:solidFill>
                  <a:latin typeface="Liberation Sans"/>
                </a:rPr>
                <a:t>a</a:t>
              </a:r>
            </a:p>
          </p:txBody>
        </p:sp>
        <p:sp>
          <p:nvSpPr>
            <p:cNvPr id="7" name="No-carbon phenotype screen"/>
            <p:cNvSpPr txBox="1"/>
            <p:nvPr/>
          </p:nvSpPr>
          <p:spPr>
            <a:xfrm>
              <a:off x="603504" y="228600"/>
              <a:ext cx="1984248" cy="457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i="0">
                  <a:solidFill>
                    <a:srgbClr val="20262E"/>
                  </a:solidFill>
                  <a:latin typeface="Liberation Sans"/>
                </a:rPr>
                <a:t>No-carbon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i="0">
                  <a:solidFill>
                    <a:srgbClr val="20262E"/>
                  </a:solidFill>
                  <a:latin typeface="Liberation Sans"/>
                </a:rPr>
                <a:t>phenotype screen</a:t>
              </a:r>
            </a:p>
          </p:txBody>
        </p:sp>
        <p:sp>
          <p:nvSpPr>
            <p:cNvPr id="8" name="b"/>
            <p:cNvSpPr txBox="1"/>
            <p:nvPr/>
          </p:nvSpPr>
          <p:spPr>
            <a:xfrm>
              <a:off x="2999232" y="228600"/>
              <a:ext cx="246888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 i="0">
                  <a:solidFill>
                    <a:srgbClr val="20262E"/>
                  </a:solidFill>
                  <a:latin typeface="Liberation Sans"/>
                </a:rPr>
                <a:t>b</a:t>
              </a:r>
            </a:p>
          </p:txBody>
        </p:sp>
        <p:sp>
          <p:nvSpPr>
            <p:cNvPr id="9" name="Active pathways and targeted constraints"/>
            <p:cNvSpPr txBox="1"/>
            <p:nvPr/>
          </p:nvSpPr>
          <p:spPr>
            <a:xfrm>
              <a:off x="3337560" y="228600"/>
              <a:ext cx="7516368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i="0">
                  <a:solidFill>
                    <a:srgbClr val="20262E"/>
                  </a:solidFill>
                  <a:latin typeface="Liberation Sans"/>
                </a:rPr>
                <a:t>Active pathways and targeted constraints</a:t>
              </a:r>
            </a:p>
          </p:txBody>
        </p:sp>
        <p:sp>
          <p:nvSpPr>
            <p:cNvPr id="10" name="(1) FDR-dependent redox cycle"/>
            <p:cNvSpPr txBox="1"/>
            <p:nvPr/>
          </p:nvSpPr>
          <p:spPr>
            <a:xfrm>
              <a:off x="2990088" y="603504"/>
              <a:ext cx="4087368" cy="3657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i="0">
                  <a:solidFill>
                    <a:srgbClr val="20262E"/>
                  </a:solidFill>
                  <a:latin typeface="Liberation Sans"/>
                </a:rPr>
                <a:t>(1) FDR-dependent redox cycle</a:t>
              </a:r>
            </a:p>
          </p:txBody>
        </p:sp>
        <p:sp>
          <p:nvSpPr>
            <p:cNvPr id="11" name="(2) ABAH-dependent redox cycle"/>
            <p:cNvSpPr txBox="1"/>
            <p:nvPr/>
          </p:nvSpPr>
          <p:spPr>
            <a:xfrm>
              <a:off x="7251192" y="603504"/>
              <a:ext cx="4087368" cy="3657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i="0">
                  <a:solidFill>
                    <a:srgbClr val="20262E"/>
                  </a:solidFill>
                  <a:latin typeface="Liberation Sans"/>
                </a:rPr>
                <a:t>(2) ABAH-dependent redox cycle</a:t>
              </a:r>
            </a:p>
          </p:txBody>
        </p:sp>
        <p:sp>
          <p:nvSpPr>
            <p:cNvPr id="12" name="(3) Proton-supported ATP synthesis"/>
            <p:cNvSpPr txBox="1"/>
            <p:nvPr/>
          </p:nvSpPr>
          <p:spPr>
            <a:xfrm>
              <a:off x="2990088" y="4846320"/>
              <a:ext cx="4087368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i="0">
                  <a:solidFill>
                    <a:srgbClr val="20262E"/>
                  </a:solidFill>
                  <a:latin typeface="Liberation Sans"/>
                </a:rPr>
                <a:t>(3) Proton-supported ATP synthesis</a:t>
              </a:r>
            </a:p>
          </p:txBody>
        </p:sp>
        <p:sp>
          <p:nvSpPr>
            <p:cNvPr id="13" name="(4) Unsupported metabolite production"/>
            <p:cNvSpPr txBox="1"/>
            <p:nvPr/>
          </p:nvSpPr>
          <p:spPr>
            <a:xfrm>
              <a:off x="7251192" y="4846320"/>
              <a:ext cx="4087368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i="0">
                  <a:solidFill>
                    <a:srgbClr val="20262E"/>
                  </a:solidFill>
                  <a:latin typeface="Liberation Sans"/>
                </a:rPr>
                <a:t>(4) Unsupported metabolite production</a:t>
              </a:r>
            </a:p>
          </p:txBody>
        </p:sp>
      </p:grpSp>
      <p:grpSp>
        <p:nvGrpSpPr>
          <p:cNvPr id="14" name="a_condition_model"/>
          <p:cNvGrpSpPr/>
          <p:nvPr/>
        </p:nvGrpSpPr>
        <p:grpSpPr>
          <a:xfrm>
            <a:off x="347472" y="827532"/>
            <a:ext cx="2340864" cy="2372868"/>
            <a:chOff x="347472" y="1906524"/>
            <a:chExt cx="2340864" cy="2372868"/>
          </a:xfrm>
        </p:grpSpPr>
        <p:sp>
          <p:nvSpPr>
            <p:cNvPr id="15" name="Hexagon 14"/>
            <p:cNvSpPr/>
            <p:nvPr/>
          </p:nvSpPr>
          <p:spPr>
            <a:xfrm>
              <a:off x="484632" y="2203704"/>
              <a:ext cx="402336" cy="384048"/>
            </a:xfrm>
            <a:prstGeom prst="hexagon">
              <a:avLst/>
            </a:prstGeom>
            <a:solidFill>
              <a:srgbClr val="EDF4FA"/>
            </a:solidFill>
            <a:ln w="1397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carbon source"/>
            <p:cNvSpPr txBox="1"/>
            <p:nvPr/>
          </p:nvSpPr>
          <p:spPr>
            <a:xfrm>
              <a:off x="347472" y="2642616"/>
              <a:ext cx="694944" cy="4297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0" i="0">
                  <a:solidFill>
                    <a:srgbClr val="20262E"/>
                  </a:solidFill>
                  <a:latin typeface="Liberation Sans"/>
                </a:rPr>
                <a:t>carbon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0" i="0">
                  <a:solidFill>
                    <a:srgbClr val="20262E"/>
                  </a:solidFill>
                  <a:latin typeface="Liberation Sans"/>
                </a:rPr>
                <a:t>source</a:t>
              </a:r>
            </a:p>
          </p:txBody>
        </p:sp>
        <p:sp>
          <p:nvSpPr>
            <p:cNvPr id="17" name="Metabolic route"/>
            <p:cNvSpPr/>
            <p:nvPr/>
          </p:nvSpPr>
          <p:spPr>
            <a:xfrm>
              <a:off x="932688" y="2395728"/>
              <a:ext cx="448056" cy="1"/>
            </a:xfrm>
            <a:custGeom>
              <a:avLst/>
              <a:gdLst/>
              <a:ahLst/>
              <a:cxnLst/>
              <a:rect l="0" t="0" r="r" b="b"/>
              <a:pathLst>
                <a:path w="448056" h="1" fill="none">
                  <a:moveTo>
                    <a:pt x="0" y="0"/>
                  </a:moveTo>
                  <a:lnTo>
                    <a:pt x="448056" y="0"/>
                  </a:lnTo>
                </a:path>
              </a:pathLst>
            </a:custGeom>
            <a:noFill/>
            <a:ln w="22860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MQC stop"/>
            <p:cNvSpPr/>
            <p:nvPr/>
          </p:nvSpPr>
          <p:spPr>
            <a:xfrm>
              <a:off x="1063447" y="2316175"/>
              <a:ext cx="159106" cy="159106"/>
            </a:xfrm>
            <a:custGeom>
              <a:avLst/>
              <a:gdLst/>
              <a:ahLst/>
              <a:cxnLst/>
              <a:rect l="0" t="0" r="r" b="b"/>
              <a:pathLst>
                <a:path w="159106" h="159106" fill="none">
                  <a:moveTo>
                    <a:pt x="0" y="0"/>
                  </a:moveTo>
                  <a:lnTo>
                    <a:pt x="159106" y="159106"/>
                  </a:lnTo>
                </a:path>
              </a:pathLst>
            </a:custGeom>
            <a:noFill/>
            <a:ln w="33020" cap="rnd">
              <a:solidFill>
                <a:srgbClr val="C43C3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MQC stop"/>
            <p:cNvSpPr/>
            <p:nvPr/>
          </p:nvSpPr>
          <p:spPr>
            <a:xfrm>
              <a:off x="1063447" y="2316175"/>
              <a:ext cx="159106" cy="159106"/>
            </a:xfrm>
            <a:custGeom>
              <a:avLst/>
              <a:gdLst/>
              <a:ahLst/>
              <a:cxnLst/>
              <a:rect l="0" t="0" r="r" b="b"/>
              <a:pathLst>
                <a:path w="159106" h="159106" fill="none">
                  <a:moveTo>
                    <a:pt x="0" y="159106"/>
                  </a:moveTo>
                  <a:lnTo>
                    <a:pt x="159106" y="0"/>
                  </a:lnTo>
                </a:path>
              </a:pathLst>
            </a:custGeom>
            <a:noFill/>
            <a:ln w="33020" cap="rnd">
              <a:solidFill>
                <a:srgbClr val="C43C3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Metabolic route"/>
            <p:cNvSpPr/>
            <p:nvPr/>
          </p:nvSpPr>
          <p:spPr>
            <a:xfrm>
              <a:off x="1655064" y="1947672"/>
              <a:ext cx="292608" cy="192024"/>
            </a:xfrm>
            <a:custGeom>
              <a:avLst/>
              <a:gdLst/>
              <a:ahLst/>
              <a:cxnLst/>
              <a:rect l="0" t="0" r="r" b="b"/>
              <a:pathLst>
                <a:path w="292608" h="192024" fill="none">
                  <a:moveTo>
                    <a:pt x="0" y="192024"/>
                  </a:moveTo>
                  <a:lnTo>
                    <a:pt x="292608" y="0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Metabolic route"/>
            <p:cNvSpPr/>
            <p:nvPr/>
          </p:nvSpPr>
          <p:spPr>
            <a:xfrm>
              <a:off x="1947672" y="1947672"/>
              <a:ext cx="320040" cy="173736"/>
            </a:xfrm>
            <a:custGeom>
              <a:avLst/>
              <a:gdLst/>
              <a:ahLst/>
              <a:cxnLst/>
              <a:rect l="0" t="0" r="r" b="b"/>
              <a:pathLst>
                <a:path w="320040" h="173736" fill="none">
                  <a:moveTo>
                    <a:pt x="0" y="0"/>
                  </a:moveTo>
                  <a:lnTo>
                    <a:pt x="320040" y="173736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Metabolic route"/>
            <p:cNvSpPr/>
            <p:nvPr/>
          </p:nvSpPr>
          <p:spPr>
            <a:xfrm>
              <a:off x="2267712" y="2121408"/>
              <a:ext cx="192024" cy="384048"/>
            </a:xfrm>
            <a:custGeom>
              <a:avLst/>
              <a:gdLst/>
              <a:ahLst/>
              <a:cxnLst/>
              <a:rect l="0" t="0" r="r" b="b"/>
              <a:pathLst>
                <a:path w="192024" h="384048" fill="none">
                  <a:moveTo>
                    <a:pt x="0" y="0"/>
                  </a:moveTo>
                  <a:lnTo>
                    <a:pt x="192024" y="384048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Metabolic route"/>
            <p:cNvSpPr/>
            <p:nvPr/>
          </p:nvSpPr>
          <p:spPr>
            <a:xfrm>
              <a:off x="2194560" y="2505456"/>
              <a:ext cx="265176" cy="274320"/>
            </a:xfrm>
            <a:custGeom>
              <a:avLst/>
              <a:gdLst/>
              <a:ahLst/>
              <a:cxnLst/>
              <a:rect l="0" t="0" r="r" b="b"/>
              <a:pathLst>
                <a:path w="265176" h="274320" fill="none">
                  <a:moveTo>
                    <a:pt x="265176" y="0"/>
                  </a:moveTo>
                  <a:lnTo>
                    <a:pt x="0" y="274320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Metabolic route"/>
            <p:cNvSpPr/>
            <p:nvPr/>
          </p:nvSpPr>
          <p:spPr>
            <a:xfrm>
              <a:off x="1847088" y="2779776"/>
              <a:ext cx="347472" cy="73152"/>
            </a:xfrm>
            <a:custGeom>
              <a:avLst/>
              <a:gdLst/>
              <a:ahLst/>
              <a:cxnLst/>
              <a:rect l="0" t="0" r="r" b="b"/>
              <a:pathLst>
                <a:path w="347472" h="73152" fill="none">
                  <a:moveTo>
                    <a:pt x="347472" y="0"/>
                  </a:moveTo>
                  <a:lnTo>
                    <a:pt x="0" y="73152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Metabolic route"/>
            <p:cNvSpPr/>
            <p:nvPr/>
          </p:nvSpPr>
          <p:spPr>
            <a:xfrm>
              <a:off x="1545336" y="2587752"/>
              <a:ext cx="301752" cy="265176"/>
            </a:xfrm>
            <a:custGeom>
              <a:avLst/>
              <a:gdLst/>
              <a:ahLst/>
              <a:cxnLst/>
              <a:rect l="0" t="0" r="r" b="b"/>
              <a:pathLst>
                <a:path w="301752" h="265176" fill="none">
                  <a:moveTo>
                    <a:pt x="301752" y="265176"/>
                  </a:moveTo>
                  <a:lnTo>
                    <a:pt x="0" y="0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Metabolic route"/>
            <p:cNvSpPr/>
            <p:nvPr/>
          </p:nvSpPr>
          <p:spPr>
            <a:xfrm>
              <a:off x="1545336" y="2139696"/>
              <a:ext cx="109728" cy="448056"/>
            </a:xfrm>
            <a:custGeom>
              <a:avLst/>
              <a:gdLst/>
              <a:ahLst/>
              <a:cxnLst/>
              <a:rect l="0" t="0" r="r" b="b"/>
              <a:pathLst>
                <a:path w="109728" h="448056" fill="none">
                  <a:moveTo>
                    <a:pt x="0" y="448056"/>
                  </a:moveTo>
                  <a:lnTo>
                    <a:pt x="109728" y="0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Metabolic route"/>
            <p:cNvSpPr/>
            <p:nvPr/>
          </p:nvSpPr>
          <p:spPr>
            <a:xfrm>
              <a:off x="1655064" y="2139696"/>
              <a:ext cx="329184" cy="292608"/>
            </a:xfrm>
            <a:custGeom>
              <a:avLst/>
              <a:gdLst/>
              <a:ahLst/>
              <a:cxnLst/>
              <a:rect l="0" t="0" r="r" b="b"/>
              <a:pathLst>
                <a:path w="329184" h="292608" fill="none">
                  <a:moveTo>
                    <a:pt x="0" y="0"/>
                  </a:moveTo>
                  <a:lnTo>
                    <a:pt x="329184" y="292608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Metabolic route"/>
            <p:cNvSpPr/>
            <p:nvPr/>
          </p:nvSpPr>
          <p:spPr>
            <a:xfrm>
              <a:off x="1947672" y="1947672"/>
              <a:ext cx="36576" cy="484632"/>
            </a:xfrm>
            <a:custGeom>
              <a:avLst/>
              <a:gdLst/>
              <a:ahLst/>
              <a:cxnLst/>
              <a:rect l="0" t="0" r="r" b="b"/>
              <a:pathLst>
                <a:path w="36576" h="484632" fill="none">
                  <a:moveTo>
                    <a:pt x="0" y="0"/>
                  </a:moveTo>
                  <a:lnTo>
                    <a:pt x="36576" y="484632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Metabolic route"/>
            <p:cNvSpPr/>
            <p:nvPr/>
          </p:nvSpPr>
          <p:spPr>
            <a:xfrm>
              <a:off x="1984248" y="2121408"/>
              <a:ext cx="283464" cy="310896"/>
            </a:xfrm>
            <a:custGeom>
              <a:avLst/>
              <a:gdLst/>
              <a:ahLst/>
              <a:cxnLst/>
              <a:rect l="0" t="0" r="r" b="b"/>
              <a:pathLst>
                <a:path w="283464" h="310896" fill="none">
                  <a:moveTo>
                    <a:pt x="283464" y="0"/>
                  </a:moveTo>
                  <a:lnTo>
                    <a:pt x="0" y="310896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Metabolic route"/>
            <p:cNvSpPr/>
            <p:nvPr/>
          </p:nvSpPr>
          <p:spPr>
            <a:xfrm>
              <a:off x="1984248" y="2432304"/>
              <a:ext cx="475488" cy="73152"/>
            </a:xfrm>
            <a:custGeom>
              <a:avLst/>
              <a:gdLst/>
              <a:ahLst/>
              <a:cxnLst/>
              <a:rect l="0" t="0" r="r" b="b"/>
              <a:pathLst>
                <a:path w="475488" h="73152" fill="none">
                  <a:moveTo>
                    <a:pt x="475488" y="73152"/>
                  </a:moveTo>
                  <a:lnTo>
                    <a:pt x="0" y="0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Metabolic route"/>
            <p:cNvSpPr/>
            <p:nvPr/>
          </p:nvSpPr>
          <p:spPr>
            <a:xfrm>
              <a:off x="1984248" y="2432304"/>
              <a:ext cx="210312" cy="347472"/>
            </a:xfrm>
            <a:custGeom>
              <a:avLst/>
              <a:gdLst/>
              <a:ahLst/>
              <a:cxnLst/>
              <a:rect l="0" t="0" r="r" b="b"/>
              <a:pathLst>
                <a:path w="210312" h="347472" fill="none">
                  <a:moveTo>
                    <a:pt x="210312" y="347472"/>
                  </a:moveTo>
                  <a:lnTo>
                    <a:pt x="0" y="0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Metabolic route"/>
            <p:cNvSpPr/>
            <p:nvPr/>
          </p:nvSpPr>
          <p:spPr>
            <a:xfrm>
              <a:off x="1847088" y="2432304"/>
              <a:ext cx="137160" cy="420624"/>
            </a:xfrm>
            <a:custGeom>
              <a:avLst/>
              <a:gdLst/>
              <a:ahLst/>
              <a:cxnLst/>
              <a:rect l="0" t="0" r="r" b="b"/>
              <a:pathLst>
                <a:path w="137160" h="420624" fill="none">
                  <a:moveTo>
                    <a:pt x="0" y="420624"/>
                  </a:moveTo>
                  <a:lnTo>
                    <a:pt x="137160" y="0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Metabolic route"/>
            <p:cNvSpPr/>
            <p:nvPr/>
          </p:nvSpPr>
          <p:spPr>
            <a:xfrm>
              <a:off x="1545336" y="2432304"/>
              <a:ext cx="438912" cy="155448"/>
            </a:xfrm>
            <a:custGeom>
              <a:avLst/>
              <a:gdLst/>
              <a:ahLst/>
              <a:cxnLst/>
              <a:rect l="0" t="0" r="r" b="b"/>
              <a:pathLst>
                <a:path w="438912" h="155448" fill="none">
                  <a:moveTo>
                    <a:pt x="0" y="155448"/>
                  </a:moveTo>
                  <a:lnTo>
                    <a:pt x="438912" y="0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Metabolic route"/>
            <p:cNvSpPr/>
            <p:nvPr/>
          </p:nvSpPr>
          <p:spPr>
            <a:xfrm>
              <a:off x="2194560" y="2121408"/>
              <a:ext cx="73152" cy="658368"/>
            </a:xfrm>
            <a:custGeom>
              <a:avLst/>
              <a:gdLst/>
              <a:ahLst/>
              <a:cxnLst/>
              <a:rect l="0" t="0" r="r" b="b"/>
              <a:pathLst>
                <a:path w="73152" h="658368" fill="none">
                  <a:moveTo>
                    <a:pt x="73152" y="0"/>
                  </a:moveTo>
                  <a:lnTo>
                    <a:pt x="0" y="658368"/>
                  </a:lnTo>
                </a:path>
              </a:pathLst>
            </a:custGeom>
            <a:noFill/>
            <a:ln w="10795" cap="rnd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1613916" y="2098548"/>
              <a:ext cx="82296" cy="822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1906524" y="1906524"/>
              <a:ext cx="82296" cy="822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2226564" y="2080260"/>
              <a:ext cx="82296" cy="822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2418588" y="2464308"/>
              <a:ext cx="82296" cy="822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2153412" y="2738628"/>
              <a:ext cx="82296" cy="822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1805940" y="2811780"/>
              <a:ext cx="82296" cy="822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1504188" y="2546604"/>
              <a:ext cx="82296" cy="822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Oval 41"/>
            <p:cNvSpPr/>
            <p:nvPr/>
          </p:nvSpPr>
          <p:spPr>
            <a:xfrm>
              <a:off x="1943100" y="2391156"/>
              <a:ext cx="82296" cy="822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iCN718"/>
            <p:cNvSpPr txBox="1"/>
            <p:nvPr/>
          </p:nvSpPr>
          <p:spPr>
            <a:xfrm>
              <a:off x="1499616" y="2953512"/>
              <a:ext cx="960120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i="0">
                  <a:solidFill>
                    <a:srgbClr val="20262E"/>
                  </a:solidFill>
                  <a:latin typeface="Liberation Sans"/>
                </a:rPr>
                <a:t>iCN718</a:t>
              </a:r>
            </a:p>
          </p:txBody>
        </p:sp>
        <p:sp>
          <p:nvSpPr>
            <p:cNvPr id="44" name="Carbon-source uptake closed"/>
            <p:cNvSpPr txBox="1"/>
            <p:nvPr/>
          </p:nvSpPr>
          <p:spPr>
            <a:xfrm>
              <a:off x="356616" y="3337560"/>
              <a:ext cx="2331720" cy="2011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68727D"/>
                  </a:solidFill>
                  <a:latin typeface="Liberation Sans"/>
                </a:rPr>
                <a:t>Carbon-source uptake closed</a:t>
              </a:r>
            </a:p>
          </p:txBody>
        </p:sp>
        <p:sp>
          <p:nvSpPr>
            <p:cNvPr id="45" name="Objective screening"/>
            <p:cNvSpPr txBox="1"/>
            <p:nvPr/>
          </p:nvSpPr>
          <p:spPr>
            <a:xfrm>
              <a:off x="466344" y="3657600"/>
              <a:ext cx="2103120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0" i="0">
                  <a:solidFill>
                    <a:srgbClr val="4C78A8"/>
                  </a:solidFill>
                  <a:latin typeface="Liberation Sans"/>
                </a:rPr>
                <a:t>Objective screening</a:t>
              </a:r>
            </a:p>
          </p:txBody>
        </p:sp>
        <p:sp>
          <p:nvSpPr>
            <p:cNvPr id="46" name="Metabolic route"/>
            <p:cNvSpPr/>
            <p:nvPr/>
          </p:nvSpPr>
          <p:spPr>
            <a:xfrm>
              <a:off x="1517904" y="3977640"/>
              <a:ext cx="1" cy="301752"/>
            </a:xfrm>
            <a:custGeom>
              <a:avLst/>
              <a:gdLst/>
              <a:ahLst/>
              <a:cxnLst/>
              <a:rect l="0" t="0" r="r" b="b"/>
              <a:pathLst>
                <a:path w="1" h="301752" fill="none">
                  <a:moveTo>
                    <a:pt x="0" y="0"/>
                  </a:moveTo>
                  <a:lnTo>
                    <a:pt x="0" y="301752"/>
                  </a:lnTo>
                </a:path>
              </a:pathLst>
            </a:custGeom>
            <a:noFill/>
            <a:ln w="15875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" name="a_objectives"/>
          <p:cNvGrpSpPr/>
          <p:nvPr/>
        </p:nvGrpSpPr>
        <p:grpSpPr>
          <a:xfrm>
            <a:off x="365760" y="3401568"/>
            <a:ext cx="2596896" cy="5135499"/>
            <a:chOff x="365760" y="3401568"/>
            <a:chExt cx="2596896" cy="5135499"/>
          </a:xfrm>
        </p:grpSpPr>
        <p:sp>
          <p:nvSpPr>
            <p:cNvPr id="48" name="Positive objectives"/>
            <p:cNvSpPr txBox="1"/>
            <p:nvPr/>
          </p:nvSpPr>
          <p:spPr>
            <a:xfrm>
              <a:off x="365760" y="3401568"/>
              <a:ext cx="2313432" cy="3657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i="0">
                  <a:solidFill>
                    <a:srgbClr val="20262E"/>
                  </a:solidFill>
                  <a:latin typeface="Liberation Sans"/>
                </a:rPr>
                <a:t>Positive objectives</a:t>
              </a:r>
            </a:p>
          </p:txBody>
        </p:sp>
        <p:sp>
          <p:nvSpPr>
            <p:cNvPr id="49" name="Reducing equivalents"/>
            <p:cNvSpPr txBox="1"/>
            <p:nvPr/>
          </p:nvSpPr>
          <p:spPr>
            <a:xfrm>
              <a:off x="365760" y="3931920"/>
              <a:ext cx="2313432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C7FB8"/>
                  </a:solidFill>
                  <a:latin typeface="Liberation Sans"/>
                </a:rPr>
                <a:t>Reducing equivalents</a:t>
              </a:r>
            </a:p>
          </p:txBody>
        </p:sp>
        <p:sp>
          <p:nvSpPr>
            <p:cNvPr id="50" name="Oval 49"/>
            <p:cNvSpPr/>
            <p:nvPr/>
          </p:nvSpPr>
          <p:spPr>
            <a:xfrm>
              <a:off x="557784" y="4507992"/>
              <a:ext cx="109728" cy="109728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2C7FB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NADH"/>
            <p:cNvSpPr txBox="1"/>
            <p:nvPr/>
          </p:nvSpPr>
          <p:spPr>
            <a:xfrm>
              <a:off x="758952" y="4407408"/>
              <a:ext cx="667512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NADH</a:t>
              </a:r>
            </a:p>
          </p:txBody>
        </p:sp>
        <p:sp>
          <p:nvSpPr>
            <p:cNvPr id="52" name="665.802"/>
            <p:cNvSpPr txBox="1"/>
            <p:nvPr/>
          </p:nvSpPr>
          <p:spPr>
            <a:xfrm>
              <a:off x="1655064" y="4407408"/>
              <a:ext cx="1005840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665.802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557784" y="5394960"/>
              <a:ext cx="109728" cy="109728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E69F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NTPs"/>
            <p:cNvSpPr txBox="1"/>
            <p:nvPr/>
          </p:nvSpPr>
          <p:spPr>
            <a:xfrm>
              <a:off x="758952" y="5294376"/>
              <a:ext cx="667512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NTPs</a:t>
              </a:r>
            </a:p>
          </p:txBody>
        </p:sp>
        <p:sp>
          <p:nvSpPr>
            <p:cNvPr id="55" name="96.250 each"/>
            <p:cNvSpPr txBox="1"/>
            <p:nvPr/>
          </p:nvSpPr>
          <p:spPr>
            <a:xfrm>
              <a:off x="1399032" y="5294376"/>
              <a:ext cx="1289304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96.250 each</a:t>
              </a:r>
            </a:p>
          </p:txBody>
        </p:sp>
        <p:sp>
          <p:nvSpPr>
            <p:cNvPr id="56" name="ATP / CTP / GTP UTP / ITP"/>
            <p:cNvSpPr txBox="1"/>
            <p:nvPr/>
          </p:nvSpPr>
          <p:spPr>
            <a:xfrm>
              <a:off x="457200" y="5641848"/>
              <a:ext cx="2212848" cy="4114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68727D"/>
                  </a:solidFill>
                  <a:latin typeface="Liberation Sans"/>
                </a:rPr>
                <a:t>ATP / CTP / GTP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68727D"/>
                  </a:solidFill>
                  <a:latin typeface="Liberation Sans"/>
                </a:rPr>
                <a:t>UTP / ITP</a:t>
              </a:r>
            </a:p>
          </p:txBody>
        </p:sp>
        <p:sp>
          <p:nvSpPr>
            <p:cNvPr id="57" name="Oval 56"/>
            <p:cNvSpPr/>
            <p:nvPr/>
          </p:nvSpPr>
          <p:spPr>
            <a:xfrm>
              <a:off x="635508" y="6396228"/>
              <a:ext cx="100584" cy="100584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009E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Urea"/>
            <p:cNvSpPr txBox="1"/>
            <p:nvPr/>
          </p:nvSpPr>
          <p:spPr>
            <a:xfrm>
              <a:off x="411480" y="6583680"/>
              <a:ext cx="676656" cy="246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Urea</a:t>
              </a:r>
            </a:p>
          </p:txBody>
        </p:sp>
        <p:sp>
          <p:nvSpPr>
            <p:cNvPr id="59" name="5.000"/>
            <p:cNvSpPr txBox="1"/>
            <p:nvPr/>
          </p:nvSpPr>
          <p:spPr>
            <a:xfrm>
              <a:off x="411480" y="6858000"/>
              <a:ext cx="676656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5.000</a:t>
              </a:r>
            </a:p>
          </p:txBody>
        </p:sp>
        <p:sp>
          <p:nvSpPr>
            <p:cNvPr id="60" name="Oval 59"/>
            <p:cNvSpPr/>
            <p:nvPr/>
          </p:nvSpPr>
          <p:spPr>
            <a:xfrm>
              <a:off x="1897380" y="6396228"/>
              <a:ext cx="100584" cy="100584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7B6FD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Allophanate"/>
            <p:cNvSpPr txBox="1"/>
            <p:nvPr/>
          </p:nvSpPr>
          <p:spPr>
            <a:xfrm>
              <a:off x="1325880" y="6583680"/>
              <a:ext cx="1261872" cy="246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Allophanate</a:t>
              </a:r>
            </a:p>
          </p:txBody>
        </p:sp>
        <p:sp>
          <p:nvSpPr>
            <p:cNvPr id="62" name="5.000"/>
            <p:cNvSpPr txBox="1"/>
            <p:nvPr/>
          </p:nvSpPr>
          <p:spPr>
            <a:xfrm>
              <a:off x="1591056" y="6858000"/>
              <a:ext cx="704088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5.000</a:t>
              </a:r>
            </a:p>
          </p:txBody>
        </p:sp>
        <p:sp>
          <p:nvSpPr>
            <p:cNvPr id="63" name="Metabolic route"/>
            <p:cNvSpPr/>
            <p:nvPr/>
          </p:nvSpPr>
          <p:spPr>
            <a:xfrm>
              <a:off x="685800" y="7232904"/>
              <a:ext cx="1261872" cy="118872"/>
            </a:xfrm>
            <a:custGeom>
              <a:avLst/>
              <a:gdLst/>
              <a:ahLst/>
              <a:cxnLst/>
              <a:rect l="0" t="0" r="r" b="b"/>
              <a:pathLst>
                <a:path w="1261872" h="118872" fill="none">
                  <a:moveTo>
                    <a:pt x="0" y="0"/>
                  </a:moveTo>
                  <a:lnTo>
                    <a:pt x="0" y="118872"/>
                  </a:lnTo>
                  <a:lnTo>
                    <a:pt x="1261872" y="118872"/>
                  </a:lnTo>
                  <a:lnTo>
                    <a:pt x="1261872" y="0"/>
                  </a:lnTo>
                </a:path>
              </a:pathLst>
            </a:custGeom>
            <a:noFill/>
            <a:ln w="10160" cap="rnd">
              <a:solidFill>
                <a:srgbClr val="D7DCE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Metabolic route"/>
            <p:cNvSpPr/>
            <p:nvPr/>
          </p:nvSpPr>
          <p:spPr>
            <a:xfrm>
              <a:off x="1316736" y="7351776"/>
              <a:ext cx="1" cy="228600"/>
            </a:xfrm>
            <a:custGeom>
              <a:avLst/>
              <a:gdLst/>
              <a:ahLst/>
              <a:cxnLst/>
              <a:rect l="0" t="0" r="r" b="b"/>
              <a:pathLst>
                <a:path w="1" h="228600" fill="none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0160" cap="rnd">
              <a:solidFill>
                <a:srgbClr val="D7DCE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Trace active pathways"/>
            <p:cNvSpPr txBox="1"/>
            <p:nvPr/>
          </p:nvSpPr>
          <p:spPr>
            <a:xfrm>
              <a:off x="411480" y="7671816"/>
              <a:ext cx="2221992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4C78A8"/>
                  </a:solidFill>
                  <a:latin typeface="Liberation Sans"/>
                </a:rPr>
                <a:t>Trace active pathways</a:t>
              </a:r>
            </a:p>
          </p:txBody>
        </p:sp>
        <p:sp>
          <p:nvSpPr>
            <p:cNvPr id="66" name="Metabolic route"/>
            <p:cNvSpPr/>
            <p:nvPr/>
          </p:nvSpPr>
          <p:spPr>
            <a:xfrm>
              <a:off x="941832" y="8092440"/>
              <a:ext cx="2020824" cy="1"/>
            </a:xfrm>
            <a:custGeom>
              <a:avLst/>
              <a:gdLst/>
              <a:ahLst/>
              <a:cxnLst/>
              <a:rect l="0" t="0" r="r" b="b"/>
              <a:pathLst>
                <a:path w="2020824" h="1" fill="none">
                  <a:moveTo>
                    <a:pt x="0" y="0"/>
                  </a:moveTo>
                  <a:lnTo>
                    <a:pt x="2020824" y="0"/>
                  </a:lnTo>
                </a:path>
              </a:pathLst>
            </a:custGeom>
            <a:noFill/>
            <a:ln w="20955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67" name="mmol gDCW⁻¹ h⁻¹"/>
            <p:cNvGrpSpPr/>
            <p:nvPr/>
          </p:nvGrpSpPr>
          <p:grpSpPr>
            <a:xfrm>
              <a:off x="855691" y="8317611"/>
              <a:ext cx="1351858" cy="219456"/>
              <a:chOff x="855691" y="8317611"/>
              <a:chExt cx="1351858" cy="219456"/>
            </a:xfrm>
          </p:grpSpPr>
          <p:sp>
            <p:nvSpPr>
              <p:cNvPr id="68" name="Chemical text: mmol gDCW"/>
              <p:cNvSpPr txBox="1"/>
              <p:nvPr/>
            </p:nvSpPr>
            <p:spPr>
              <a:xfrm>
                <a:off x="855691" y="8351901"/>
                <a:ext cx="989798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1">
                    <a:solidFill>
                      <a:srgbClr val="68727D"/>
                    </a:solidFill>
                    <a:latin typeface="Liberation Sans"/>
                  </a:rPr>
                  <a:t>mmol gDCW</a:t>
                </a:r>
              </a:p>
            </p:txBody>
          </p:sp>
          <p:sp>
            <p:nvSpPr>
              <p:cNvPr id="69" name="Chemical text: -1"/>
              <p:cNvSpPr txBox="1"/>
              <p:nvPr/>
            </p:nvSpPr>
            <p:spPr>
              <a:xfrm>
                <a:off x="1827202" y="8317611"/>
                <a:ext cx="127826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1">
                    <a:solidFill>
                      <a:srgbClr val="68727D"/>
                    </a:solidFill>
                    <a:latin typeface="Liberation Sans"/>
                  </a:rPr>
                  <a:t>-1</a:t>
                </a:r>
              </a:p>
            </p:txBody>
          </p:sp>
          <p:sp>
            <p:nvSpPr>
              <p:cNvPr id="70" name="Chemical text:  h"/>
              <p:cNvSpPr txBox="1"/>
              <p:nvPr/>
            </p:nvSpPr>
            <p:spPr>
              <a:xfrm>
                <a:off x="1936739" y="8351901"/>
                <a:ext cx="16127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1">
                    <a:solidFill>
                      <a:srgbClr val="68727D"/>
                    </a:solidFill>
                    <a:latin typeface="Liberation Sans"/>
                  </a:rPr>
                  <a:t> h</a:t>
                </a:r>
              </a:p>
            </p:txBody>
          </p:sp>
          <p:sp>
            <p:nvSpPr>
              <p:cNvPr id="71" name="Chemical text: -1"/>
              <p:cNvSpPr txBox="1"/>
              <p:nvPr/>
            </p:nvSpPr>
            <p:spPr>
              <a:xfrm>
                <a:off x="2079723" y="8317611"/>
                <a:ext cx="127826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1">
                    <a:solidFill>
                      <a:srgbClr val="68727D"/>
                    </a:solidFill>
                    <a:latin typeface="Liberation Sans"/>
                  </a:rPr>
                  <a:t>-1</a:t>
                </a:r>
              </a:p>
            </p:txBody>
          </p:sp>
        </p:grpSp>
      </p:grpSp>
      <p:grpSp>
        <p:nvGrpSpPr>
          <p:cNvPr id="72" name="b1_folate_cycle"/>
          <p:cNvGrpSpPr/>
          <p:nvPr/>
        </p:nvGrpSpPr>
        <p:grpSpPr>
          <a:xfrm>
            <a:off x="3017520" y="969264"/>
            <a:ext cx="4023360" cy="1463040"/>
            <a:chOff x="3017520" y="1975104"/>
            <a:chExt cx="4023360" cy="1463040"/>
          </a:xfrm>
        </p:grpSpPr>
        <p:sp>
          <p:nvSpPr>
            <p:cNvPr id="73" name="MTHFR3 forward"/>
            <p:cNvSpPr/>
            <p:nvPr/>
          </p:nvSpPr>
          <p:spPr>
            <a:xfrm>
              <a:off x="5097780" y="2322576"/>
              <a:ext cx="1147572" cy="786384"/>
            </a:xfrm>
            <a:custGeom>
              <a:avLst/>
              <a:gdLst/>
              <a:ahLst/>
              <a:cxnLst/>
              <a:rect l="0" t="0" r="r" b="b"/>
              <a:pathLst>
                <a:path w="1147572" h="786384" fill="none">
                  <a:moveTo>
                    <a:pt x="0" y="0"/>
                  </a:moveTo>
                  <a:cubicBezTo>
                    <a:pt x="1147572" y="36576"/>
                    <a:pt x="1147572" y="731520"/>
                    <a:pt x="22860" y="786384"/>
                  </a:cubicBezTo>
                </a:path>
              </a:pathLst>
            </a:custGeom>
            <a:noFill/>
            <a:ln w="25400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MTHFR2 reverse"/>
            <p:cNvSpPr/>
            <p:nvPr/>
          </p:nvSpPr>
          <p:spPr>
            <a:xfrm>
              <a:off x="3831336" y="2322576"/>
              <a:ext cx="1147572" cy="786384"/>
            </a:xfrm>
            <a:custGeom>
              <a:avLst/>
              <a:gdLst/>
              <a:ahLst/>
              <a:cxnLst/>
              <a:rect l="0" t="0" r="r" b="b"/>
              <a:pathLst>
                <a:path w="1147572" h="786384" fill="none">
                  <a:moveTo>
                    <a:pt x="1147572" y="786384"/>
                  </a:moveTo>
                  <a:cubicBezTo>
                    <a:pt x="0" y="749808"/>
                    <a:pt x="0" y="54864"/>
                    <a:pt x="1124712" y="0"/>
                  </a:cubicBezTo>
                </a:path>
              </a:pathLst>
            </a:custGeom>
            <a:noFill/>
            <a:ln w="25400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4985309" y="2269541"/>
              <a:ext cx="106070" cy="106070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Oval 75"/>
            <p:cNvSpPr/>
            <p:nvPr/>
          </p:nvSpPr>
          <p:spPr>
            <a:xfrm>
              <a:off x="4985309" y="3055925"/>
              <a:ext cx="106070" cy="106070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5,10-methylene-THF"/>
            <p:cNvSpPr txBox="1"/>
            <p:nvPr/>
          </p:nvSpPr>
          <p:spPr>
            <a:xfrm>
              <a:off x="3803904" y="1975104"/>
              <a:ext cx="246888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5,10-methylene-THF</a:t>
              </a:r>
            </a:p>
          </p:txBody>
        </p:sp>
        <p:sp>
          <p:nvSpPr>
            <p:cNvPr id="78" name="5-methyl-THF"/>
            <p:cNvSpPr txBox="1"/>
            <p:nvPr/>
          </p:nvSpPr>
          <p:spPr>
            <a:xfrm>
              <a:off x="4078224" y="3163824"/>
              <a:ext cx="192024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5-methyl-THF</a:t>
              </a:r>
            </a:p>
          </p:txBody>
        </p:sp>
        <p:sp>
          <p:nvSpPr>
            <p:cNvPr id="79" name="MTHFR3"/>
            <p:cNvSpPr txBox="1"/>
            <p:nvPr/>
          </p:nvSpPr>
          <p:spPr>
            <a:xfrm>
              <a:off x="5961888" y="2459736"/>
              <a:ext cx="1078992" cy="28346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i="1">
                  <a:solidFill>
                    <a:srgbClr val="4C78A8"/>
                  </a:solidFill>
                  <a:latin typeface="Liberation Sans"/>
                </a:rPr>
                <a:t>MTHFR3</a:t>
              </a:r>
            </a:p>
          </p:txBody>
        </p:sp>
        <p:grpSp>
          <p:nvGrpSpPr>
            <p:cNvPr id="80" name="NADPH → NADP⁺"/>
            <p:cNvGrpSpPr/>
            <p:nvPr/>
          </p:nvGrpSpPr>
          <p:grpSpPr>
            <a:xfrm>
              <a:off x="6135983" y="2791206"/>
              <a:ext cx="785666" cy="370332"/>
              <a:chOff x="6135983" y="2791206"/>
              <a:chExt cx="785666" cy="370332"/>
            </a:xfrm>
          </p:grpSpPr>
          <p:sp>
            <p:nvSpPr>
              <p:cNvPr id="81" name="Chemical text: NADPH"/>
              <p:cNvSpPr txBox="1"/>
              <p:nvPr/>
            </p:nvSpPr>
            <p:spPr>
              <a:xfrm>
                <a:off x="6219590" y="2791206"/>
                <a:ext cx="61845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NADPH</a:t>
                </a:r>
              </a:p>
            </p:txBody>
          </p:sp>
          <p:sp>
            <p:nvSpPr>
              <p:cNvPr id="82" name="Chemical text: → NADP"/>
              <p:cNvSpPr txBox="1"/>
              <p:nvPr/>
            </p:nvSpPr>
            <p:spPr>
              <a:xfrm>
                <a:off x="6135983" y="2976372"/>
                <a:ext cx="71372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→ NADP</a:t>
                </a:r>
              </a:p>
            </p:txBody>
          </p:sp>
          <p:sp>
            <p:nvSpPr>
              <p:cNvPr id="83" name="Chemical text: +"/>
              <p:cNvSpPr txBox="1"/>
              <p:nvPr/>
            </p:nvSpPr>
            <p:spPr>
              <a:xfrm>
                <a:off x="6831417" y="2942082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+</a:t>
                </a:r>
              </a:p>
            </p:txBody>
          </p:sp>
        </p:grpSp>
        <p:sp>
          <p:nvSpPr>
            <p:cNvPr id="84" name="MTHFR2 (reverse)"/>
            <p:cNvSpPr txBox="1"/>
            <p:nvPr/>
          </p:nvSpPr>
          <p:spPr>
            <a:xfrm>
              <a:off x="3017520" y="2359152"/>
              <a:ext cx="1078992" cy="4206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i="1">
                  <a:solidFill>
                    <a:srgbClr val="4C78A8"/>
                  </a:solidFill>
                  <a:latin typeface="Liberation Sans"/>
                </a:rPr>
                <a:t>MTHFR2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i="1">
                  <a:solidFill>
                    <a:srgbClr val="4C78A8"/>
                  </a:solidFill>
                  <a:latin typeface="Liberation Sans"/>
                </a:rPr>
                <a:t>(reverse)</a:t>
              </a:r>
            </a:p>
          </p:txBody>
        </p:sp>
        <p:grpSp>
          <p:nvGrpSpPr>
            <p:cNvPr id="85" name="NAD⁺ → NADH"/>
            <p:cNvGrpSpPr/>
            <p:nvPr/>
          </p:nvGrpSpPr>
          <p:grpSpPr>
            <a:xfrm>
              <a:off x="3241147" y="2766060"/>
              <a:ext cx="723178" cy="404622"/>
              <a:chOff x="3241147" y="2766060"/>
              <a:chExt cx="723178" cy="404622"/>
            </a:xfrm>
          </p:grpSpPr>
          <p:sp>
            <p:nvSpPr>
              <p:cNvPr id="86" name="Chemical text: NAD"/>
              <p:cNvSpPr txBox="1"/>
              <p:nvPr/>
            </p:nvSpPr>
            <p:spPr>
              <a:xfrm>
                <a:off x="3376625" y="2800350"/>
                <a:ext cx="380278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NAD</a:t>
                </a:r>
              </a:p>
            </p:txBody>
          </p:sp>
          <p:sp>
            <p:nvSpPr>
              <p:cNvPr id="87" name="Chemical text: +"/>
              <p:cNvSpPr txBox="1"/>
              <p:nvPr/>
            </p:nvSpPr>
            <p:spPr>
              <a:xfrm>
                <a:off x="3738615" y="2766060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+</a:t>
                </a:r>
              </a:p>
            </p:txBody>
          </p:sp>
          <p:sp>
            <p:nvSpPr>
              <p:cNvPr id="88" name="Chemical text: → NADH"/>
              <p:cNvSpPr txBox="1"/>
              <p:nvPr/>
            </p:nvSpPr>
            <p:spPr>
              <a:xfrm>
                <a:off x="3241147" y="2985516"/>
                <a:ext cx="723178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→ NADH</a:t>
                </a:r>
              </a:p>
            </p:txBody>
          </p:sp>
        </p:grpSp>
      </p:grpSp>
      <p:grpSp>
        <p:nvGrpSpPr>
          <p:cNvPr id="89" name="b1_rubredoxin_cycle"/>
          <p:cNvGrpSpPr/>
          <p:nvPr/>
        </p:nvGrpSpPr>
        <p:grpSpPr>
          <a:xfrm>
            <a:off x="3026664" y="2898648"/>
            <a:ext cx="4032504" cy="1619631"/>
            <a:chOff x="3026664" y="3401568"/>
            <a:chExt cx="4032504" cy="1619631"/>
          </a:xfrm>
        </p:grpSpPr>
        <p:sp>
          <p:nvSpPr>
            <p:cNvPr id="90" name="FDR reverse (closed)"/>
            <p:cNvSpPr/>
            <p:nvPr/>
          </p:nvSpPr>
          <p:spPr>
            <a:xfrm>
              <a:off x="5097780" y="3685032"/>
              <a:ext cx="1120140" cy="804672"/>
            </a:xfrm>
            <a:custGeom>
              <a:avLst/>
              <a:gdLst/>
              <a:ahLst/>
              <a:cxnLst/>
              <a:rect l="0" t="0" r="r" b="b"/>
              <a:pathLst>
                <a:path w="1120140" h="804672" fill="none">
                  <a:moveTo>
                    <a:pt x="0" y="0"/>
                  </a:moveTo>
                  <a:cubicBezTo>
                    <a:pt x="1120140" y="36576"/>
                    <a:pt x="1120140" y="768096"/>
                    <a:pt x="22860" y="804672"/>
                  </a:cubicBezTo>
                </a:path>
              </a:pathLst>
            </a:custGeom>
            <a:noFill/>
            <a:ln w="29209" cap="rnd">
              <a:solidFill>
                <a:srgbClr val="D55E00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" name="RDXR return route"/>
            <p:cNvSpPr/>
            <p:nvPr/>
          </p:nvSpPr>
          <p:spPr>
            <a:xfrm>
              <a:off x="3858768" y="3685032"/>
              <a:ext cx="1120140" cy="804672"/>
            </a:xfrm>
            <a:custGeom>
              <a:avLst/>
              <a:gdLst/>
              <a:ahLst/>
              <a:cxnLst/>
              <a:rect l="0" t="0" r="r" b="b"/>
              <a:pathLst>
                <a:path w="1120140" h="804672" fill="none">
                  <a:moveTo>
                    <a:pt x="1120140" y="804672"/>
                  </a:moveTo>
                  <a:cubicBezTo>
                    <a:pt x="0" y="768096"/>
                    <a:pt x="0" y="36576"/>
                    <a:pt x="1097280" y="0"/>
                  </a:cubicBezTo>
                </a:path>
              </a:pathLst>
            </a:custGeom>
            <a:noFill/>
            <a:ln w="25400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Oval 91"/>
            <p:cNvSpPr/>
            <p:nvPr/>
          </p:nvSpPr>
          <p:spPr>
            <a:xfrm>
              <a:off x="4985309" y="3631997"/>
              <a:ext cx="106070" cy="106070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Oval 92"/>
            <p:cNvSpPr/>
            <p:nvPr/>
          </p:nvSpPr>
          <p:spPr>
            <a:xfrm>
              <a:off x="4985309" y="4436669"/>
              <a:ext cx="106070" cy="106070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Reduced rubredoxin"/>
            <p:cNvSpPr txBox="1"/>
            <p:nvPr/>
          </p:nvSpPr>
          <p:spPr>
            <a:xfrm>
              <a:off x="3849624" y="3401568"/>
              <a:ext cx="237744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i="0">
                  <a:solidFill>
                    <a:srgbClr val="20262E"/>
                  </a:solidFill>
                  <a:latin typeface="Liberation Sans"/>
                </a:rPr>
                <a:t>Reduced rubredoxin</a:t>
              </a:r>
            </a:p>
          </p:txBody>
        </p:sp>
        <p:sp>
          <p:nvSpPr>
            <p:cNvPr id="95" name="Oxidized rubredoxin"/>
            <p:cNvSpPr txBox="1"/>
            <p:nvPr/>
          </p:nvSpPr>
          <p:spPr>
            <a:xfrm>
              <a:off x="3803904" y="4562856"/>
              <a:ext cx="246888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Oxidized rubredoxin</a:t>
              </a:r>
            </a:p>
          </p:txBody>
        </p:sp>
        <p:sp>
          <p:nvSpPr>
            <p:cNvPr id="96" name="FDR (reverse)"/>
            <p:cNvSpPr txBox="1"/>
            <p:nvPr/>
          </p:nvSpPr>
          <p:spPr>
            <a:xfrm>
              <a:off x="5998464" y="3657600"/>
              <a:ext cx="1060704" cy="4206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i="1">
                  <a:solidFill>
                    <a:srgbClr val="D55E00"/>
                  </a:solidFill>
                  <a:latin typeface="Liberation Sans"/>
                </a:rPr>
                <a:t>FDR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i="1">
                  <a:solidFill>
                    <a:srgbClr val="D55E00"/>
                  </a:solidFill>
                  <a:latin typeface="Liberation Sans"/>
                </a:rPr>
                <a:t>(reverse)</a:t>
              </a:r>
            </a:p>
          </p:txBody>
        </p:sp>
        <p:grpSp>
          <p:nvGrpSpPr>
            <p:cNvPr id="97" name="NADP⁺ + H⁺ → NADPH"/>
            <p:cNvGrpSpPr/>
            <p:nvPr/>
          </p:nvGrpSpPr>
          <p:grpSpPr>
            <a:xfrm>
              <a:off x="6031663" y="4329684"/>
              <a:ext cx="957731" cy="404622"/>
              <a:chOff x="6031663" y="4329684"/>
              <a:chExt cx="957731" cy="404622"/>
            </a:xfrm>
          </p:grpSpPr>
          <p:sp>
            <p:nvSpPr>
              <p:cNvPr id="98" name="Chemical text: NADP"/>
              <p:cNvSpPr txBox="1"/>
              <p:nvPr/>
            </p:nvSpPr>
            <p:spPr>
              <a:xfrm>
                <a:off x="6031663" y="4363974"/>
                <a:ext cx="494637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NADP</a:t>
                </a:r>
              </a:p>
            </p:txBody>
          </p:sp>
          <p:sp>
            <p:nvSpPr>
              <p:cNvPr id="99" name="Chemical text: +"/>
              <p:cNvSpPr txBox="1"/>
              <p:nvPr/>
            </p:nvSpPr>
            <p:spPr>
              <a:xfrm>
                <a:off x="6508012" y="4329684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+</a:t>
                </a:r>
              </a:p>
            </p:txBody>
          </p:sp>
          <p:sp>
            <p:nvSpPr>
              <p:cNvPr id="100" name="Chemical text:  + H"/>
              <p:cNvSpPr txBox="1"/>
              <p:nvPr/>
            </p:nvSpPr>
            <p:spPr>
              <a:xfrm>
                <a:off x="6579955" y="4363974"/>
                <a:ext cx="337495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 + H</a:t>
                </a:r>
              </a:p>
            </p:txBody>
          </p:sp>
          <p:sp>
            <p:nvSpPr>
              <p:cNvPr id="101" name="Chemical text: +"/>
              <p:cNvSpPr txBox="1"/>
              <p:nvPr/>
            </p:nvSpPr>
            <p:spPr>
              <a:xfrm>
                <a:off x="6899162" y="4329684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+</a:t>
                </a:r>
              </a:p>
            </p:txBody>
          </p:sp>
          <p:sp>
            <p:nvSpPr>
              <p:cNvPr id="102" name="Chemical text: → NADPH"/>
              <p:cNvSpPr txBox="1"/>
              <p:nvPr/>
            </p:nvSpPr>
            <p:spPr>
              <a:xfrm>
                <a:off x="6091759" y="4549140"/>
                <a:ext cx="837537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→ NADPH</a:t>
                </a:r>
              </a:p>
            </p:txBody>
          </p:sp>
        </p:grpSp>
        <p:sp>
          <p:nvSpPr>
            <p:cNvPr id="103" name="RDXR"/>
            <p:cNvSpPr txBox="1"/>
            <p:nvPr/>
          </p:nvSpPr>
          <p:spPr>
            <a:xfrm>
              <a:off x="3026664" y="3721608"/>
              <a:ext cx="1042416" cy="28346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 i="1">
                  <a:solidFill>
                    <a:srgbClr val="4C78A8"/>
                  </a:solidFill>
                  <a:latin typeface="Liberation Sans"/>
                </a:rPr>
                <a:t>RDXR</a:t>
              </a:r>
            </a:p>
          </p:txBody>
        </p:sp>
        <p:grpSp>
          <p:nvGrpSpPr>
            <p:cNvPr id="104" name="NADH → NAD⁺ + H⁺"/>
            <p:cNvGrpSpPr/>
            <p:nvPr/>
          </p:nvGrpSpPr>
          <p:grpSpPr>
            <a:xfrm>
              <a:off x="3185622" y="4034790"/>
              <a:ext cx="843372" cy="370332"/>
              <a:chOff x="3185622" y="4034790"/>
              <a:chExt cx="843372" cy="370332"/>
            </a:xfrm>
          </p:grpSpPr>
          <p:sp>
            <p:nvSpPr>
              <p:cNvPr id="105" name="Chemical text: NADH →"/>
              <p:cNvSpPr txBox="1"/>
              <p:nvPr/>
            </p:nvSpPr>
            <p:spPr>
              <a:xfrm>
                <a:off x="3245719" y="4034790"/>
                <a:ext cx="723178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NADH →</a:t>
                </a:r>
              </a:p>
            </p:txBody>
          </p:sp>
          <p:sp>
            <p:nvSpPr>
              <p:cNvPr id="106" name="Chemical text: NAD"/>
              <p:cNvSpPr txBox="1"/>
              <p:nvPr/>
            </p:nvSpPr>
            <p:spPr>
              <a:xfrm>
                <a:off x="3185622" y="4219956"/>
                <a:ext cx="380278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NAD</a:t>
                </a:r>
              </a:p>
            </p:txBody>
          </p:sp>
          <p:sp>
            <p:nvSpPr>
              <p:cNvPr id="107" name="Chemical text: +"/>
              <p:cNvSpPr txBox="1"/>
              <p:nvPr/>
            </p:nvSpPr>
            <p:spPr>
              <a:xfrm>
                <a:off x="3547612" y="4185666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+</a:t>
                </a:r>
              </a:p>
            </p:txBody>
          </p:sp>
          <p:sp>
            <p:nvSpPr>
              <p:cNvPr id="108" name="Chemical text:  + H"/>
              <p:cNvSpPr txBox="1"/>
              <p:nvPr/>
            </p:nvSpPr>
            <p:spPr>
              <a:xfrm>
                <a:off x="3619556" y="4219956"/>
                <a:ext cx="337495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 + H</a:t>
                </a:r>
              </a:p>
            </p:txBody>
          </p:sp>
          <p:sp>
            <p:nvSpPr>
              <p:cNvPr id="109" name="Chemical text: +"/>
              <p:cNvSpPr txBox="1"/>
              <p:nvPr/>
            </p:nvSpPr>
            <p:spPr>
              <a:xfrm>
                <a:off x="3938762" y="4185666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+</a:t>
                </a:r>
              </a:p>
            </p:txBody>
          </p:sp>
        </p:grpSp>
        <p:sp>
          <p:nvSpPr>
            <p:cNvPr id="110" name="MQC stop"/>
            <p:cNvSpPr/>
            <p:nvPr/>
          </p:nvSpPr>
          <p:spPr>
            <a:xfrm>
              <a:off x="5850331" y="4026103"/>
              <a:ext cx="140818" cy="140818"/>
            </a:xfrm>
            <a:custGeom>
              <a:avLst/>
              <a:gdLst/>
              <a:ahLst/>
              <a:cxnLst/>
              <a:rect l="0" t="0" r="r" b="b"/>
              <a:pathLst>
                <a:path w="140818" h="140818" fill="none">
                  <a:moveTo>
                    <a:pt x="0" y="0"/>
                  </a:moveTo>
                  <a:lnTo>
                    <a:pt x="140818" y="140818"/>
                  </a:lnTo>
                </a:path>
              </a:pathLst>
            </a:custGeom>
            <a:noFill/>
            <a:ln w="33020" cap="rnd">
              <a:solidFill>
                <a:srgbClr val="C43C3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" name="MQC stop"/>
            <p:cNvSpPr/>
            <p:nvPr/>
          </p:nvSpPr>
          <p:spPr>
            <a:xfrm>
              <a:off x="5850331" y="4026103"/>
              <a:ext cx="140818" cy="140818"/>
            </a:xfrm>
            <a:custGeom>
              <a:avLst/>
              <a:gdLst/>
              <a:ahLst/>
              <a:cxnLst/>
              <a:rect l="0" t="0" r="r" b="b"/>
              <a:pathLst>
                <a:path w="140818" h="140818" fill="none">
                  <a:moveTo>
                    <a:pt x="0" y="140818"/>
                  </a:moveTo>
                  <a:lnTo>
                    <a:pt x="140818" y="0"/>
                  </a:lnTo>
                </a:path>
              </a:pathLst>
            </a:custGeom>
            <a:noFill/>
            <a:ln w="33020" cap="rnd">
              <a:solidFill>
                <a:srgbClr val="C43C3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closed"/>
            <p:cNvSpPr txBox="1"/>
            <p:nvPr/>
          </p:nvSpPr>
          <p:spPr>
            <a:xfrm>
              <a:off x="6080760" y="4096512"/>
              <a:ext cx="914400" cy="246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C43C39"/>
                  </a:solidFill>
                  <a:latin typeface="Liberation Sans"/>
                </a:rPr>
                <a:t>closed</a:t>
              </a:r>
            </a:p>
          </p:txBody>
        </p:sp>
        <p:grpSp>
          <p:nvGrpSpPr>
            <p:cNvPr id="113" name="Net: H⁺ + NAD⁺ → NADH; output 500"/>
            <p:cNvGrpSpPr/>
            <p:nvPr/>
          </p:nvGrpSpPr>
          <p:grpSpPr>
            <a:xfrm>
              <a:off x="3554705" y="4801743"/>
              <a:ext cx="2967278" cy="219456"/>
              <a:chOff x="3554705" y="4801743"/>
              <a:chExt cx="2967278" cy="219456"/>
            </a:xfrm>
          </p:grpSpPr>
          <p:sp>
            <p:nvSpPr>
              <p:cNvPr id="114" name="Chemical text: Net: H"/>
              <p:cNvSpPr txBox="1"/>
              <p:nvPr/>
            </p:nvSpPr>
            <p:spPr>
              <a:xfrm>
                <a:off x="3554705" y="4836033"/>
                <a:ext cx="523083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0">
                    <a:solidFill>
                      <a:srgbClr val="20262E"/>
                    </a:solidFill>
                    <a:latin typeface="Liberation Sans"/>
                  </a:rPr>
                  <a:t>Net: H</a:t>
                </a:r>
              </a:p>
            </p:txBody>
          </p:sp>
          <p:sp>
            <p:nvSpPr>
              <p:cNvPr id="115" name="Chemical text: +"/>
              <p:cNvSpPr txBox="1"/>
              <p:nvPr/>
            </p:nvSpPr>
            <p:spPr>
              <a:xfrm>
                <a:off x="4059500" y="4801743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1" i="0">
                    <a:solidFill>
                      <a:srgbClr val="20262E"/>
                    </a:solidFill>
                    <a:latin typeface="Liberation Sans"/>
                  </a:rPr>
                  <a:t>+</a:t>
                </a:r>
              </a:p>
            </p:txBody>
          </p:sp>
          <p:sp>
            <p:nvSpPr>
              <p:cNvPr id="116" name="Chemical text:  + NAD"/>
              <p:cNvSpPr txBox="1"/>
              <p:nvPr/>
            </p:nvSpPr>
            <p:spPr>
              <a:xfrm>
                <a:off x="4131444" y="4836033"/>
                <a:ext cx="585125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0">
                    <a:solidFill>
                      <a:srgbClr val="20262E"/>
                    </a:solidFill>
                    <a:latin typeface="Liberation Sans"/>
                  </a:rPr>
                  <a:t> + NAD</a:t>
                </a:r>
              </a:p>
            </p:txBody>
          </p:sp>
          <p:sp>
            <p:nvSpPr>
              <p:cNvPr id="117" name="Chemical text: +"/>
              <p:cNvSpPr txBox="1"/>
              <p:nvPr/>
            </p:nvSpPr>
            <p:spPr>
              <a:xfrm>
                <a:off x="4698281" y="4801743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1" i="0">
                    <a:solidFill>
                      <a:srgbClr val="20262E"/>
                    </a:solidFill>
                    <a:latin typeface="Liberation Sans"/>
                  </a:rPr>
                  <a:t>+</a:t>
                </a:r>
              </a:p>
            </p:txBody>
          </p:sp>
          <p:sp>
            <p:nvSpPr>
              <p:cNvPr id="118" name="Chemical text:  → NADH; output 500"/>
              <p:cNvSpPr txBox="1"/>
              <p:nvPr/>
            </p:nvSpPr>
            <p:spPr>
              <a:xfrm>
                <a:off x="4770224" y="4836033"/>
                <a:ext cx="1751759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0">
                    <a:solidFill>
                      <a:srgbClr val="20262E"/>
                    </a:solidFill>
                    <a:latin typeface="Liberation Sans"/>
                  </a:rPr>
                  <a:t> → NADH; output 500</a:t>
                </a:r>
              </a:p>
            </p:txBody>
          </p:sp>
        </p:grpSp>
      </p:grpSp>
      <p:grpSp>
        <p:nvGrpSpPr>
          <p:cNvPr id="119" name="b2_outer_cycle"/>
          <p:cNvGrpSpPr/>
          <p:nvPr/>
        </p:nvGrpSpPr>
        <p:grpSpPr>
          <a:xfrm>
            <a:off x="7424928" y="1239012"/>
            <a:ext cx="3913632" cy="2327148"/>
            <a:chOff x="7424928" y="1997964"/>
            <a:chExt cx="3913632" cy="2327148"/>
          </a:xfrm>
        </p:grpSpPr>
        <p:sp>
          <p:nvSpPr>
            <p:cNvPr id="120" name="Rounded Rectangle 119"/>
            <p:cNvSpPr/>
            <p:nvPr/>
          </p:nvSpPr>
          <p:spPr>
            <a:xfrm>
              <a:off x="7680960" y="2020824"/>
              <a:ext cx="3246120" cy="393192"/>
            </a:xfrm>
            <a:prstGeom prst="roundRect">
              <a:avLst/>
            </a:prstGeom>
            <a:solidFill>
              <a:srgbClr val="EDF6F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21" name="2 ATP + NAD⁺ → 2 ADP + 2 Pi + NADH"/>
            <p:cNvGrpSpPr/>
            <p:nvPr/>
          </p:nvGrpSpPr>
          <p:grpSpPr>
            <a:xfrm>
              <a:off x="8476526" y="1997964"/>
              <a:ext cx="1673277" cy="404622"/>
              <a:chOff x="8476526" y="1997964"/>
              <a:chExt cx="1673277" cy="404622"/>
            </a:xfrm>
          </p:grpSpPr>
          <p:sp>
            <p:nvSpPr>
              <p:cNvPr id="122" name="Chemical text: 2 ATP + NAD"/>
              <p:cNvSpPr txBox="1"/>
              <p:nvPr/>
            </p:nvSpPr>
            <p:spPr>
              <a:xfrm>
                <a:off x="8654236" y="2032254"/>
                <a:ext cx="1026827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20262E"/>
                    </a:solidFill>
                    <a:latin typeface="Liberation Sans"/>
                  </a:rPr>
                  <a:t>2 ATP + NAD</a:t>
                </a:r>
              </a:p>
            </p:txBody>
          </p:sp>
          <p:sp>
            <p:nvSpPr>
              <p:cNvPr id="123" name="Chemical text: +"/>
              <p:cNvSpPr txBox="1"/>
              <p:nvPr/>
            </p:nvSpPr>
            <p:spPr>
              <a:xfrm>
                <a:off x="9662775" y="1997964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20262E"/>
                    </a:solidFill>
                    <a:latin typeface="Liberation Sans"/>
                  </a:rPr>
                  <a:t>+</a:t>
                </a:r>
              </a:p>
            </p:txBody>
          </p:sp>
          <p:sp>
            <p:nvSpPr>
              <p:cNvPr id="124" name="Chemical text:  →"/>
              <p:cNvSpPr txBox="1"/>
              <p:nvPr/>
            </p:nvSpPr>
            <p:spPr>
              <a:xfrm>
                <a:off x="9734719" y="2032254"/>
                <a:ext cx="237373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20262E"/>
                    </a:solidFill>
                    <a:latin typeface="Liberation Sans"/>
                  </a:rPr>
                  <a:t> →</a:t>
                </a:r>
              </a:p>
            </p:txBody>
          </p:sp>
          <p:sp>
            <p:nvSpPr>
              <p:cNvPr id="125" name="Chemical text: 2 ADP + 2 Pi + NADH"/>
              <p:cNvSpPr txBox="1"/>
              <p:nvPr/>
            </p:nvSpPr>
            <p:spPr>
              <a:xfrm>
                <a:off x="8476526" y="2217420"/>
                <a:ext cx="1673277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20262E"/>
                    </a:solidFill>
                    <a:latin typeface="Liberation Sans"/>
                  </a:rPr>
                  <a:t>2 ADP + 2 Pi + NADH</a:t>
                </a:r>
              </a:p>
            </p:txBody>
          </p:sp>
        </p:grpSp>
        <p:sp>
          <p:nvSpPr>
            <p:cNvPr id="126" name="OMMBLHX3:2ommbl_c&gt;2omhmbl_c"/>
            <p:cNvSpPr/>
            <p:nvPr/>
          </p:nvSpPr>
          <p:spPr>
            <a:xfrm>
              <a:off x="8302752" y="2825496"/>
              <a:ext cx="1865376" cy="77724"/>
            </a:xfrm>
            <a:custGeom>
              <a:avLst/>
              <a:gdLst/>
              <a:ahLst/>
              <a:cxnLst/>
              <a:rect l="0" t="0" r="r" b="b"/>
              <a:pathLst>
                <a:path w="1865376" h="77724" fill="none">
                  <a:moveTo>
                    <a:pt x="1865376" y="64008"/>
                  </a:moveTo>
                  <a:cubicBezTo>
                    <a:pt x="1490472" y="0"/>
                    <a:pt x="374904" y="0"/>
                    <a:pt x="0" y="77724"/>
                  </a:cubicBezTo>
                </a:path>
              </a:pathLst>
            </a:custGeom>
            <a:noFill/>
            <a:ln w="25400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DMQMT:2omhmbl_c&gt;q8h2_c"/>
            <p:cNvSpPr/>
            <p:nvPr/>
          </p:nvSpPr>
          <p:spPr>
            <a:xfrm>
              <a:off x="7690104" y="2990088"/>
              <a:ext cx="448056" cy="987552"/>
            </a:xfrm>
            <a:custGeom>
              <a:avLst/>
              <a:gdLst/>
              <a:ahLst/>
              <a:cxnLst/>
              <a:rect l="0" t="0" r="r" b="b"/>
              <a:pathLst>
                <a:path w="448056" h="987552" fill="none">
                  <a:moveTo>
                    <a:pt x="448056" y="0"/>
                  </a:moveTo>
                  <a:cubicBezTo>
                    <a:pt x="0" y="210312"/>
                    <a:pt x="18288" y="795528"/>
                    <a:pt x="429768" y="987552"/>
                  </a:cubicBezTo>
                </a:path>
              </a:pathLst>
            </a:custGeom>
            <a:noFill/>
            <a:ln w="25400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ABAH:q8_c&gt;2ommbl_c"/>
            <p:cNvSpPr/>
            <p:nvPr/>
          </p:nvSpPr>
          <p:spPr>
            <a:xfrm>
              <a:off x="10305288" y="2999232"/>
              <a:ext cx="393192" cy="969264"/>
            </a:xfrm>
            <a:custGeom>
              <a:avLst/>
              <a:gdLst/>
              <a:ahLst/>
              <a:cxnLst/>
              <a:rect l="0" t="0" r="r" b="b"/>
              <a:pathLst>
                <a:path w="393192" h="969264" fill="none">
                  <a:moveTo>
                    <a:pt x="0" y="969264"/>
                  </a:moveTo>
                  <a:cubicBezTo>
                    <a:pt x="393192" y="768096"/>
                    <a:pt x="384048" y="210312"/>
                    <a:pt x="13716" y="0"/>
                  </a:cubicBezTo>
                </a:path>
              </a:pathLst>
            </a:custGeom>
            <a:noFill/>
            <a:ln w="29845" cap="rnd">
              <a:solidFill>
                <a:srgbClr val="D55E00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" name="CYTBD:q8h2_c&gt;protein"/>
            <p:cNvSpPr/>
            <p:nvPr/>
          </p:nvSpPr>
          <p:spPr>
            <a:xfrm>
              <a:off x="8247888" y="4059936"/>
              <a:ext cx="713232" cy="265176"/>
            </a:xfrm>
            <a:custGeom>
              <a:avLst/>
              <a:gdLst/>
              <a:ahLst/>
              <a:cxnLst/>
              <a:rect l="0" t="0" r="r" b="b"/>
              <a:pathLst>
                <a:path w="713232" h="265176" fill="none">
                  <a:moveTo>
                    <a:pt x="0" y="0"/>
                  </a:moveTo>
                  <a:cubicBezTo>
                    <a:pt x="393192" y="201168"/>
                    <a:pt x="576072" y="265176"/>
                    <a:pt x="713232" y="265176"/>
                  </a:cubicBezTo>
                </a:path>
              </a:pathLst>
            </a:custGeom>
            <a:noFill/>
            <a:ln w="25400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" name="CYTBD:protein&gt;q8_c"/>
            <p:cNvSpPr/>
            <p:nvPr/>
          </p:nvSpPr>
          <p:spPr>
            <a:xfrm>
              <a:off x="9592056" y="4059936"/>
              <a:ext cx="594360" cy="265176"/>
            </a:xfrm>
            <a:custGeom>
              <a:avLst/>
              <a:gdLst/>
              <a:ahLst/>
              <a:cxnLst/>
              <a:rect l="0" t="0" r="r" b="b"/>
              <a:pathLst>
                <a:path w="594360" h="265176" fill="none">
                  <a:moveTo>
                    <a:pt x="0" y="265176"/>
                  </a:moveTo>
                  <a:cubicBezTo>
                    <a:pt x="192024" y="219456"/>
                    <a:pt x="384048" y="128016"/>
                    <a:pt x="594360" y="0"/>
                  </a:cubicBezTo>
                </a:path>
              </a:pathLst>
            </a:custGeom>
            <a:noFill/>
            <a:ln w="25400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" name="Oval 130"/>
            <p:cNvSpPr/>
            <p:nvPr/>
          </p:nvSpPr>
          <p:spPr>
            <a:xfrm>
              <a:off x="8136331" y="2860243"/>
              <a:ext cx="131674" cy="131674"/>
            </a:xfrm>
            <a:prstGeom prst="ellipse">
              <a:avLst/>
            </a:prstGeom>
            <a:solidFill>
              <a:srgbClr val="EDF4FA"/>
            </a:solidFill>
            <a:ln w="1524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Oval 131"/>
            <p:cNvSpPr/>
            <p:nvPr/>
          </p:nvSpPr>
          <p:spPr>
            <a:xfrm>
              <a:off x="10175443" y="2860243"/>
              <a:ext cx="131674" cy="131674"/>
            </a:xfrm>
            <a:prstGeom prst="ellipse">
              <a:avLst/>
            </a:prstGeom>
            <a:solidFill>
              <a:srgbClr val="EDF4FA"/>
            </a:solidFill>
            <a:ln w="1524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" name="Oval 132"/>
            <p:cNvSpPr/>
            <p:nvPr/>
          </p:nvSpPr>
          <p:spPr>
            <a:xfrm>
              <a:off x="8136331" y="3975811"/>
              <a:ext cx="131674" cy="131674"/>
            </a:xfrm>
            <a:prstGeom prst="ellipse">
              <a:avLst/>
            </a:prstGeom>
            <a:solidFill>
              <a:srgbClr val="EDF4FA"/>
            </a:solidFill>
            <a:ln w="1524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" name="Oval 133"/>
            <p:cNvSpPr/>
            <p:nvPr/>
          </p:nvSpPr>
          <p:spPr>
            <a:xfrm>
              <a:off x="10175443" y="3975811"/>
              <a:ext cx="131674" cy="131674"/>
            </a:xfrm>
            <a:prstGeom prst="ellipse">
              <a:avLst/>
            </a:prstGeom>
            <a:solidFill>
              <a:srgbClr val="EDF4FA"/>
            </a:solidFill>
            <a:ln w="1524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" name="2OMHMBL"/>
            <p:cNvSpPr txBox="1"/>
            <p:nvPr/>
          </p:nvSpPr>
          <p:spPr>
            <a:xfrm>
              <a:off x="7424928" y="2624328"/>
              <a:ext cx="1298448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2OMHMBL</a:t>
              </a:r>
            </a:p>
          </p:txBody>
        </p:sp>
        <p:sp>
          <p:nvSpPr>
            <p:cNvPr id="136" name="2OMMBL"/>
            <p:cNvSpPr txBox="1"/>
            <p:nvPr/>
          </p:nvSpPr>
          <p:spPr>
            <a:xfrm>
              <a:off x="9902952" y="2624328"/>
              <a:ext cx="1316736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2OMMBL</a:t>
              </a:r>
            </a:p>
          </p:txBody>
        </p:sp>
        <p:sp>
          <p:nvSpPr>
            <p:cNvPr id="137" name="OMMBLHX3"/>
            <p:cNvSpPr txBox="1"/>
            <p:nvPr/>
          </p:nvSpPr>
          <p:spPr>
            <a:xfrm>
              <a:off x="8513064" y="2532888"/>
              <a:ext cx="1563624" cy="23774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i="1">
                  <a:solidFill>
                    <a:srgbClr val="4C78A8"/>
                  </a:solidFill>
                  <a:latin typeface="Liberation Sans"/>
                </a:rPr>
                <a:t>OMMBLHX3</a:t>
              </a:r>
            </a:p>
          </p:txBody>
        </p:sp>
        <p:sp>
          <p:nvSpPr>
            <p:cNvPr id="138" name="DMQMT"/>
            <p:cNvSpPr txBox="1"/>
            <p:nvPr/>
          </p:nvSpPr>
          <p:spPr>
            <a:xfrm>
              <a:off x="8001000" y="3264408"/>
              <a:ext cx="877824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i="1">
                  <a:solidFill>
                    <a:srgbClr val="4C78A8"/>
                  </a:solidFill>
                  <a:latin typeface="Liberation Sans"/>
                </a:rPr>
                <a:t>DMQMT</a:t>
              </a:r>
            </a:p>
          </p:txBody>
        </p:sp>
        <p:sp>
          <p:nvSpPr>
            <p:cNvPr id="139" name="ABAH (reverse)"/>
            <p:cNvSpPr txBox="1"/>
            <p:nvPr/>
          </p:nvSpPr>
          <p:spPr>
            <a:xfrm>
              <a:off x="10616184" y="2953512"/>
              <a:ext cx="722376" cy="4297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i="1">
                  <a:solidFill>
                    <a:srgbClr val="D55E00"/>
                  </a:solidFill>
                  <a:latin typeface="Liberation Sans"/>
                </a:rPr>
                <a:t>ABAH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i="1">
                  <a:solidFill>
                    <a:srgbClr val="D55E00"/>
                  </a:solidFill>
                  <a:latin typeface="Liberation Sans"/>
                </a:rPr>
                <a:t>(reverse)</a:t>
              </a:r>
            </a:p>
          </p:txBody>
        </p:sp>
        <p:sp>
          <p:nvSpPr>
            <p:cNvPr id="140" name="MQC stop"/>
            <p:cNvSpPr/>
            <p:nvPr/>
          </p:nvSpPr>
          <p:spPr>
            <a:xfrm>
              <a:off x="10492740" y="3561588"/>
              <a:ext cx="137160" cy="137160"/>
            </a:xfrm>
            <a:custGeom>
              <a:avLst/>
              <a:gdLst/>
              <a:ahLst/>
              <a:cxnLst/>
              <a:rect l="0" t="0" r="r" b="b"/>
              <a:pathLst>
                <a:path w="137160" h="137160" fill="none">
                  <a:moveTo>
                    <a:pt x="0" y="0"/>
                  </a:moveTo>
                  <a:lnTo>
                    <a:pt x="137160" y="137160"/>
                  </a:lnTo>
                </a:path>
              </a:pathLst>
            </a:custGeom>
            <a:noFill/>
            <a:ln w="33020" cap="rnd">
              <a:solidFill>
                <a:srgbClr val="C43C3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" name="MQC stop"/>
            <p:cNvSpPr/>
            <p:nvPr/>
          </p:nvSpPr>
          <p:spPr>
            <a:xfrm>
              <a:off x="10492740" y="3561588"/>
              <a:ext cx="137160" cy="137160"/>
            </a:xfrm>
            <a:custGeom>
              <a:avLst/>
              <a:gdLst/>
              <a:ahLst/>
              <a:cxnLst/>
              <a:rect l="0" t="0" r="r" b="b"/>
              <a:pathLst>
                <a:path w="137160" h="137160" fill="none">
                  <a:moveTo>
                    <a:pt x="0" y="137160"/>
                  </a:moveTo>
                  <a:lnTo>
                    <a:pt x="137160" y="0"/>
                  </a:lnTo>
                </a:path>
              </a:pathLst>
            </a:custGeom>
            <a:noFill/>
            <a:ln w="33020" cap="rnd">
              <a:solidFill>
                <a:srgbClr val="C43C3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" name="closed"/>
            <p:cNvSpPr txBox="1"/>
            <p:nvPr/>
          </p:nvSpPr>
          <p:spPr>
            <a:xfrm>
              <a:off x="10634472" y="3511296"/>
              <a:ext cx="667512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C43C39"/>
                  </a:solidFill>
                  <a:latin typeface="Liberation Sans"/>
                </a:rPr>
                <a:t>closed</a:t>
              </a:r>
            </a:p>
          </p:txBody>
        </p:sp>
        <p:grpSp>
          <p:nvGrpSpPr>
            <p:cNvPr id="143" name="Q₈H₂"/>
            <p:cNvGrpSpPr/>
            <p:nvPr/>
          </p:nvGrpSpPr>
          <p:grpSpPr>
            <a:xfrm>
              <a:off x="7536869" y="3921633"/>
              <a:ext cx="471063" cy="267716"/>
              <a:chOff x="7536869" y="3921633"/>
              <a:chExt cx="471063" cy="267716"/>
            </a:xfrm>
          </p:grpSpPr>
          <p:sp>
            <p:nvSpPr>
              <p:cNvPr id="144" name="Chemical text: Q"/>
              <p:cNvSpPr txBox="1"/>
              <p:nvPr/>
            </p:nvSpPr>
            <p:spPr>
              <a:xfrm>
                <a:off x="7536869" y="3921633"/>
                <a:ext cx="171402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50" b="1" i="0">
                    <a:solidFill>
                      <a:srgbClr val="20262E"/>
                    </a:solidFill>
                    <a:latin typeface="Liberation Sans"/>
                  </a:rPr>
                  <a:t>Q</a:t>
                </a:r>
              </a:p>
            </p:txBody>
          </p:sp>
          <p:sp>
            <p:nvSpPr>
              <p:cNvPr id="145" name="Chemical text: 8"/>
              <p:cNvSpPr txBox="1"/>
              <p:nvPr/>
            </p:nvSpPr>
            <p:spPr>
              <a:xfrm>
                <a:off x="7689983" y="3976751"/>
                <a:ext cx="97038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16" b="1" i="0">
                    <a:solidFill>
                      <a:srgbClr val="20262E"/>
                    </a:solidFill>
                    <a:latin typeface="Liberation Sans"/>
                  </a:rPr>
                  <a:t>8</a:t>
                </a:r>
              </a:p>
            </p:txBody>
          </p:sp>
          <p:sp>
            <p:nvSpPr>
              <p:cNvPr id="146" name="Chemical text: H"/>
              <p:cNvSpPr txBox="1"/>
              <p:nvPr/>
            </p:nvSpPr>
            <p:spPr>
              <a:xfrm>
                <a:off x="7768733" y="3921633"/>
                <a:ext cx="160449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50" b="1" i="0">
                    <a:solidFill>
                      <a:srgbClr val="20262E"/>
                    </a:solidFill>
                    <a:latin typeface="Liberation Sans"/>
                  </a:rPr>
                  <a:t>H</a:t>
                </a:r>
              </a:p>
            </p:txBody>
          </p:sp>
          <p:sp>
            <p:nvSpPr>
              <p:cNvPr id="147" name="Chemical text: 2"/>
              <p:cNvSpPr txBox="1"/>
              <p:nvPr/>
            </p:nvSpPr>
            <p:spPr>
              <a:xfrm>
                <a:off x="7910894" y="3976751"/>
                <a:ext cx="97038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16" b="1" i="0">
                    <a:solidFill>
                      <a:srgbClr val="20262E"/>
                    </a:solidFill>
                    <a:latin typeface="Liberation Sans"/>
                  </a:rPr>
                  <a:t>2</a:t>
                </a:r>
              </a:p>
            </p:txBody>
          </p:sp>
        </p:grpSp>
        <p:grpSp>
          <p:nvGrpSpPr>
            <p:cNvPr id="148" name="Q₈"/>
            <p:cNvGrpSpPr/>
            <p:nvPr/>
          </p:nvGrpSpPr>
          <p:grpSpPr>
            <a:xfrm>
              <a:off x="10573404" y="3907917"/>
              <a:ext cx="250152" cy="267716"/>
              <a:chOff x="10573404" y="3907917"/>
              <a:chExt cx="250152" cy="267716"/>
            </a:xfrm>
          </p:grpSpPr>
          <p:sp>
            <p:nvSpPr>
              <p:cNvPr id="149" name="Chemical text: Q"/>
              <p:cNvSpPr txBox="1"/>
              <p:nvPr/>
            </p:nvSpPr>
            <p:spPr>
              <a:xfrm>
                <a:off x="10573404" y="3907917"/>
                <a:ext cx="171402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50" b="1" i="0">
                    <a:solidFill>
                      <a:srgbClr val="20262E"/>
                    </a:solidFill>
                    <a:latin typeface="Liberation Sans"/>
                  </a:rPr>
                  <a:t>Q</a:t>
                </a:r>
              </a:p>
            </p:txBody>
          </p:sp>
          <p:sp>
            <p:nvSpPr>
              <p:cNvPr id="150" name="Chemical text: 8"/>
              <p:cNvSpPr txBox="1"/>
              <p:nvPr/>
            </p:nvSpPr>
            <p:spPr>
              <a:xfrm>
                <a:off x="10726518" y="3963035"/>
                <a:ext cx="97038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16" b="1" i="0">
                    <a:solidFill>
                      <a:srgbClr val="20262E"/>
                    </a:solidFill>
                    <a:latin typeface="Liberation Sans"/>
                  </a:rPr>
                  <a:t>8</a:t>
                </a:r>
              </a:p>
            </p:txBody>
          </p:sp>
        </p:grpSp>
      </p:grpSp>
      <p:grpSp>
        <p:nvGrpSpPr>
          <p:cNvPr id="151" name="b2_inner_cycle"/>
          <p:cNvGrpSpPr/>
          <p:nvPr/>
        </p:nvGrpSpPr>
        <p:grpSpPr>
          <a:xfrm>
            <a:off x="8686800" y="2076831"/>
            <a:ext cx="1207008" cy="1251585"/>
            <a:chOff x="8686800" y="2835783"/>
            <a:chExt cx="1207008" cy="1251585"/>
          </a:xfrm>
        </p:grpSpPr>
        <p:sp>
          <p:nvSpPr>
            <p:cNvPr id="152" name="DMQMT:amet_c&gt;ahcys_c"/>
            <p:cNvSpPr/>
            <p:nvPr/>
          </p:nvSpPr>
          <p:spPr>
            <a:xfrm>
              <a:off x="8686800" y="3154680"/>
              <a:ext cx="566928" cy="621792"/>
            </a:xfrm>
            <a:custGeom>
              <a:avLst/>
              <a:gdLst/>
              <a:ahLst/>
              <a:cxnLst/>
              <a:rect l="0" t="0" r="r" b="b"/>
              <a:pathLst>
                <a:path w="566928" h="621792" fill="none">
                  <a:moveTo>
                    <a:pt x="566928" y="621792"/>
                  </a:moveTo>
                  <a:cubicBezTo>
                    <a:pt x="0" y="612648"/>
                    <a:pt x="0" y="9144"/>
                    <a:pt x="566928" y="0"/>
                  </a:cubicBezTo>
                </a:path>
              </a:pathLst>
            </a:custGeom>
            <a:noFill/>
            <a:ln w="17780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ABAH:ahcys_c&gt;amet_c"/>
            <p:cNvSpPr/>
            <p:nvPr/>
          </p:nvSpPr>
          <p:spPr>
            <a:xfrm>
              <a:off x="9326880" y="3154680"/>
              <a:ext cx="566928" cy="621792"/>
            </a:xfrm>
            <a:custGeom>
              <a:avLst/>
              <a:gdLst/>
              <a:ahLst/>
              <a:cxnLst/>
              <a:rect l="0" t="0" r="r" b="b"/>
              <a:pathLst>
                <a:path w="566928" h="621792" fill="none">
                  <a:moveTo>
                    <a:pt x="0" y="0"/>
                  </a:moveTo>
                  <a:cubicBezTo>
                    <a:pt x="566928" y="9144"/>
                    <a:pt x="566928" y="612648"/>
                    <a:pt x="0" y="621792"/>
                  </a:cubicBezTo>
                </a:path>
              </a:pathLst>
            </a:custGeom>
            <a:noFill/>
            <a:ln w="17780" cap="rnd">
              <a:solidFill>
                <a:srgbClr val="D55E00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4" name="Oval 153"/>
            <p:cNvSpPr/>
            <p:nvPr/>
          </p:nvSpPr>
          <p:spPr>
            <a:xfrm>
              <a:off x="9235440" y="3099816"/>
              <a:ext cx="109728" cy="109728"/>
            </a:xfrm>
            <a:prstGeom prst="ellipse">
              <a:avLst/>
            </a:prstGeom>
            <a:solidFill>
              <a:srgbClr val="FFF5D9"/>
            </a:solidFill>
            <a:ln w="14604">
              <a:solidFill>
                <a:srgbClr val="E69F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5" name="Oval 154"/>
            <p:cNvSpPr/>
            <p:nvPr/>
          </p:nvSpPr>
          <p:spPr>
            <a:xfrm>
              <a:off x="9235440" y="3721608"/>
              <a:ext cx="109728" cy="109728"/>
            </a:xfrm>
            <a:prstGeom prst="ellipse">
              <a:avLst/>
            </a:prstGeom>
            <a:solidFill>
              <a:srgbClr val="FFF5D9"/>
            </a:solidFill>
            <a:ln w="14604">
              <a:solidFill>
                <a:srgbClr val="E69F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56" name="AdoHcy + H⁺"/>
            <p:cNvGrpSpPr/>
            <p:nvPr/>
          </p:nvGrpSpPr>
          <p:grpSpPr>
            <a:xfrm>
              <a:off x="8770839" y="2835783"/>
              <a:ext cx="1057218" cy="219456"/>
              <a:chOff x="8770839" y="2835783"/>
              <a:chExt cx="1057218" cy="219456"/>
            </a:xfrm>
          </p:grpSpPr>
          <p:sp>
            <p:nvSpPr>
              <p:cNvPr id="157" name="Chemical text: AdoHcy + H"/>
              <p:cNvSpPr txBox="1"/>
              <p:nvPr/>
            </p:nvSpPr>
            <p:spPr>
              <a:xfrm>
                <a:off x="8770839" y="2870073"/>
                <a:ext cx="985274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0">
                    <a:solidFill>
                      <a:srgbClr val="20262E"/>
                    </a:solidFill>
                    <a:latin typeface="Liberation Sans"/>
                  </a:rPr>
                  <a:t>AdoHcy + H</a:t>
                </a:r>
              </a:p>
            </p:txBody>
          </p:sp>
          <p:sp>
            <p:nvSpPr>
              <p:cNvPr id="158" name="Chemical text: +"/>
              <p:cNvSpPr txBox="1"/>
              <p:nvPr/>
            </p:nvSpPr>
            <p:spPr>
              <a:xfrm>
                <a:off x="9737825" y="2835783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1" i="0">
                    <a:solidFill>
                      <a:srgbClr val="20262E"/>
                    </a:solidFill>
                    <a:latin typeface="Liberation Sans"/>
                  </a:rPr>
                  <a:t>+</a:t>
                </a:r>
              </a:p>
            </p:txBody>
          </p:sp>
        </p:grpSp>
        <p:sp>
          <p:nvSpPr>
            <p:cNvPr id="159" name="AdoMet"/>
            <p:cNvSpPr txBox="1"/>
            <p:nvPr/>
          </p:nvSpPr>
          <p:spPr>
            <a:xfrm>
              <a:off x="8769096" y="3840480"/>
              <a:ext cx="1042416" cy="246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i="0">
                  <a:solidFill>
                    <a:srgbClr val="20262E"/>
                  </a:solidFill>
                  <a:latin typeface="Liberation Sans"/>
                </a:rPr>
                <a:t>AdoMet</a:t>
              </a:r>
            </a:p>
          </p:txBody>
        </p:sp>
        <p:sp>
          <p:nvSpPr>
            <p:cNvPr id="160" name="Cofactor recycling"/>
            <p:cNvSpPr txBox="1"/>
            <p:nvPr/>
          </p:nvSpPr>
          <p:spPr>
            <a:xfrm>
              <a:off x="8705088" y="3264408"/>
              <a:ext cx="1170432" cy="3840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1">
                  <a:solidFill>
                    <a:srgbClr val="68727D"/>
                  </a:solidFill>
                  <a:latin typeface="Liberation Sans"/>
                </a:rPr>
                <a:t>Cofactor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1">
                  <a:solidFill>
                    <a:srgbClr val="68727D"/>
                  </a:solidFill>
                  <a:latin typeface="Liberation Sans"/>
                </a:rPr>
                <a:t>recycling</a:t>
              </a:r>
            </a:p>
          </p:txBody>
        </p:sp>
      </p:grpSp>
      <p:grpSp>
        <p:nvGrpSpPr>
          <p:cNvPr id="161" name="b2_membrane"/>
          <p:cNvGrpSpPr/>
          <p:nvPr/>
        </p:nvGrpSpPr>
        <p:grpSpPr>
          <a:xfrm>
            <a:off x="7315200" y="3429000"/>
            <a:ext cx="3941064" cy="896112"/>
            <a:chOff x="7315200" y="4187952"/>
            <a:chExt cx="3941064" cy="896112"/>
          </a:xfrm>
        </p:grpSpPr>
        <p:sp>
          <p:nvSpPr>
            <p:cNvPr id="162" name="Phospholipid tail"/>
            <p:cNvSpPr/>
            <p:nvPr/>
          </p:nvSpPr>
          <p:spPr>
            <a:xfrm>
              <a:off x="7920533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Phospholipid tail"/>
            <p:cNvSpPr/>
            <p:nvPr/>
          </p:nvSpPr>
          <p:spPr>
            <a:xfrm>
              <a:off x="7953451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4" name="Oval 163"/>
            <p:cNvSpPr/>
            <p:nvPr/>
          </p:nvSpPr>
          <p:spPr>
            <a:xfrm>
              <a:off x="7905902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5" name="Phospholipid tail"/>
            <p:cNvSpPr/>
            <p:nvPr/>
          </p:nvSpPr>
          <p:spPr>
            <a:xfrm>
              <a:off x="7920533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6" name="Phospholipid tail"/>
            <p:cNvSpPr/>
            <p:nvPr/>
          </p:nvSpPr>
          <p:spPr>
            <a:xfrm>
              <a:off x="7953451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7" name="Oval 166"/>
            <p:cNvSpPr/>
            <p:nvPr/>
          </p:nvSpPr>
          <p:spPr>
            <a:xfrm>
              <a:off x="7905902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8" name="Phospholipid tail"/>
            <p:cNvSpPr/>
            <p:nvPr/>
          </p:nvSpPr>
          <p:spPr>
            <a:xfrm>
              <a:off x="8028229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9" name="Phospholipid tail"/>
            <p:cNvSpPr/>
            <p:nvPr/>
          </p:nvSpPr>
          <p:spPr>
            <a:xfrm>
              <a:off x="8061147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0" name="Oval 169"/>
            <p:cNvSpPr/>
            <p:nvPr/>
          </p:nvSpPr>
          <p:spPr>
            <a:xfrm>
              <a:off x="8013598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1" name="Phospholipid tail"/>
            <p:cNvSpPr/>
            <p:nvPr/>
          </p:nvSpPr>
          <p:spPr>
            <a:xfrm>
              <a:off x="8028229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2" name="Phospholipid tail"/>
            <p:cNvSpPr/>
            <p:nvPr/>
          </p:nvSpPr>
          <p:spPr>
            <a:xfrm>
              <a:off x="8061147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3" name="Oval 172"/>
            <p:cNvSpPr/>
            <p:nvPr/>
          </p:nvSpPr>
          <p:spPr>
            <a:xfrm>
              <a:off x="8013598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4" name="Phospholipid tail"/>
            <p:cNvSpPr/>
            <p:nvPr/>
          </p:nvSpPr>
          <p:spPr>
            <a:xfrm>
              <a:off x="8135925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5" name="Phospholipid tail"/>
            <p:cNvSpPr/>
            <p:nvPr/>
          </p:nvSpPr>
          <p:spPr>
            <a:xfrm>
              <a:off x="8168843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6" name="Oval 175"/>
            <p:cNvSpPr/>
            <p:nvPr/>
          </p:nvSpPr>
          <p:spPr>
            <a:xfrm>
              <a:off x="8121294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7" name="Phospholipid tail"/>
            <p:cNvSpPr/>
            <p:nvPr/>
          </p:nvSpPr>
          <p:spPr>
            <a:xfrm>
              <a:off x="8135925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8" name="Phospholipid tail"/>
            <p:cNvSpPr/>
            <p:nvPr/>
          </p:nvSpPr>
          <p:spPr>
            <a:xfrm>
              <a:off x="8168843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9" name="Oval 178"/>
            <p:cNvSpPr/>
            <p:nvPr/>
          </p:nvSpPr>
          <p:spPr>
            <a:xfrm>
              <a:off x="8121294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0" name="Phospholipid tail"/>
            <p:cNvSpPr/>
            <p:nvPr/>
          </p:nvSpPr>
          <p:spPr>
            <a:xfrm>
              <a:off x="8243621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1" name="Phospholipid tail"/>
            <p:cNvSpPr/>
            <p:nvPr/>
          </p:nvSpPr>
          <p:spPr>
            <a:xfrm>
              <a:off x="8276539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2" name="Oval 181"/>
            <p:cNvSpPr/>
            <p:nvPr/>
          </p:nvSpPr>
          <p:spPr>
            <a:xfrm>
              <a:off x="8228990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3" name="Phospholipid tail"/>
            <p:cNvSpPr/>
            <p:nvPr/>
          </p:nvSpPr>
          <p:spPr>
            <a:xfrm>
              <a:off x="8243621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4" name="Phospholipid tail"/>
            <p:cNvSpPr/>
            <p:nvPr/>
          </p:nvSpPr>
          <p:spPr>
            <a:xfrm>
              <a:off x="8276539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5" name="Oval 184"/>
            <p:cNvSpPr/>
            <p:nvPr/>
          </p:nvSpPr>
          <p:spPr>
            <a:xfrm>
              <a:off x="8228990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6" name="Phospholipid tail"/>
            <p:cNvSpPr/>
            <p:nvPr/>
          </p:nvSpPr>
          <p:spPr>
            <a:xfrm>
              <a:off x="8351317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7" name="Phospholipid tail"/>
            <p:cNvSpPr/>
            <p:nvPr/>
          </p:nvSpPr>
          <p:spPr>
            <a:xfrm>
              <a:off x="8384235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8" name="Oval 187"/>
            <p:cNvSpPr/>
            <p:nvPr/>
          </p:nvSpPr>
          <p:spPr>
            <a:xfrm>
              <a:off x="8336686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9" name="Phospholipid tail"/>
            <p:cNvSpPr/>
            <p:nvPr/>
          </p:nvSpPr>
          <p:spPr>
            <a:xfrm>
              <a:off x="8351317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0" name="Phospholipid tail"/>
            <p:cNvSpPr/>
            <p:nvPr/>
          </p:nvSpPr>
          <p:spPr>
            <a:xfrm>
              <a:off x="8384235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1" name="Oval 190"/>
            <p:cNvSpPr/>
            <p:nvPr/>
          </p:nvSpPr>
          <p:spPr>
            <a:xfrm>
              <a:off x="8336686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2" name="Phospholipid tail"/>
            <p:cNvSpPr/>
            <p:nvPr/>
          </p:nvSpPr>
          <p:spPr>
            <a:xfrm>
              <a:off x="8459013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3" name="Phospholipid tail"/>
            <p:cNvSpPr/>
            <p:nvPr/>
          </p:nvSpPr>
          <p:spPr>
            <a:xfrm>
              <a:off x="8491931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4" name="Oval 193"/>
            <p:cNvSpPr/>
            <p:nvPr/>
          </p:nvSpPr>
          <p:spPr>
            <a:xfrm>
              <a:off x="8444382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5" name="Phospholipid tail"/>
            <p:cNvSpPr/>
            <p:nvPr/>
          </p:nvSpPr>
          <p:spPr>
            <a:xfrm>
              <a:off x="8459013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6" name="Phospholipid tail"/>
            <p:cNvSpPr/>
            <p:nvPr/>
          </p:nvSpPr>
          <p:spPr>
            <a:xfrm>
              <a:off x="8491931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7" name="Oval 196"/>
            <p:cNvSpPr/>
            <p:nvPr/>
          </p:nvSpPr>
          <p:spPr>
            <a:xfrm>
              <a:off x="8444382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8" name="Phospholipid tail"/>
            <p:cNvSpPr/>
            <p:nvPr/>
          </p:nvSpPr>
          <p:spPr>
            <a:xfrm>
              <a:off x="8566709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9" name="Phospholipid tail"/>
            <p:cNvSpPr/>
            <p:nvPr/>
          </p:nvSpPr>
          <p:spPr>
            <a:xfrm>
              <a:off x="8599627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0" name="Oval 199"/>
            <p:cNvSpPr/>
            <p:nvPr/>
          </p:nvSpPr>
          <p:spPr>
            <a:xfrm>
              <a:off x="8552078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1" name="Phospholipid tail"/>
            <p:cNvSpPr/>
            <p:nvPr/>
          </p:nvSpPr>
          <p:spPr>
            <a:xfrm>
              <a:off x="8566709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2" name="Phospholipid tail"/>
            <p:cNvSpPr/>
            <p:nvPr/>
          </p:nvSpPr>
          <p:spPr>
            <a:xfrm>
              <a:off x="8599627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3" name="Oval 202"/>
            <p:cNvSpPr/>
            <p:nvPr/>
          </p:nvSpPr>
          <p:spPr>
            <a:xfrm>
              <a:off x="8552078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4" name="Phospholipid tail"/>
            <p:cNvSpPr/>
            <p:nvPr/>
          </p:nvSpPr>
          <p:spPr>
            <a:xfrm>
              <a:off x="8674405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5" name="Phospholipid tail"/>
            <p:cNvSpPr/>
            <p:nvPr/>
          </p:nvSpPr>
          <p:spPr>
            <a:xfrm>
              <a:off x="8707323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6" name="Oval 205"/>
            <p:cNvSpPr/>
            <p:nvPr/>
          </p:nvSpPr>
          <p:spPr>
            <a:xfrm>
              <a:off x="8659774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7" name="Phospholipid tail"/>
            <p:cNvSpPr/>
            <p:nvPr/>
          </p:nvSpPr>
          <p:spPr>
            <a:xfrm>
              <a:off x="8674405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8" name="Phospholipid tail"/>
            <p:cNvSpPr/>
            <p:nvPr/>
          </p:nvSpPr>
          <p:spPr>
            <a:xfrm>
              <a:off x="8707323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9" name="Oval 208"/>
            <p:cNvSpPr/>
            <p:nvPr/>
          </p:nvSpPr>
          <p:spPr>
            <a:xfrm>
              <a:off x="8659774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0" name="Phospholipid tail"/>
            <p:cNvSpPr/>
            <p:nvPr/>
          </p:nvSpPr>
          <p:spPr>
            <a:xfrm>
              <a:off x="8782101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1" name="Phospholipid tail"/>
            <p:cNvSpPr/>
            <p:nvPr/>
          </p:nvSpPr>
          <p:spPr>
            <a:xfrm>
              <a:off x="8815019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2" name="Oval 211"/>
            <p:cNvSpPr/>
            <p:nvPr/>
          </p:nvSpPr>
          <p:spPr>
            <a:xfrm>
              <a:off x="8767470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3" name="Phospholipid tail"/>
            <p:cNvSpPr/>
            <p:nvPr/>
          </p:nvSpPr>
          <p:spPr>
            <a:xfrm>
              <a:off x="8782101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4" name="Phospholipid tail"/>
            <p:cNvSpPr/>
            <p:nvPr/>
          </p:nvSpPr>
          <p:spPr>
            <a:xfrm>
              <a:off x="8815019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5" name="Oval 214"/>
            <p:cNvSpPr/>
            <p:nvPr/>
          </p:nvSpPr>
          <p:spPr>
            <a:xfrm>
              <a:off x="8767470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6" name="Phospholipid tail"/>
            <p:cNvSpPr/>
            <p:nvPr/>
          </p:nvSpPr>
          <p:spPr>
            <a:xfrm>
              <a:off x="8889797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7" name="Phospholipid tail"/>
            <p:cNvSpPr/>
            <p:nvPr/>
          </p:nvSpPr>
          <p:spPr>
            <a:xfrm>
              <a:off x="8922715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8" name="Oval 217"/>
            <p:cNvSpPr/>
            <p:nvPr/>
          </p:nvSpPr>
          <p:spPr>
            <a:xfrm>
              <a:off x="8875166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9" name="Phospholipid tail"/>
            <p:cNvSpPr/>
            <p:nvPr/>
          </p:nvSpPr>
          <p:spPr>
            <a:xfrm>
              <a:off x="8889797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0" name="Phospholipid tail"/>
            <p:cNvSpPr/>
            <p:nvPr/>
          </p:nvSpPr>
          <p:spPr>
            <a:xfrm>
              <a:off x="8922715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1" name="Oval 220"/>
            <p:cNvSpPr/>
            <p:nvPr/>
          </p:nvSpPr>
          <p:spPr>
            <a:xfrm>
              <a:off x="8875166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2" name="Phospholipid tail"/>
            <p:cNvSpPr/>
            <p:nvPr/>
          </p:nvSpPr>
          <p:spPr>
            <a:xfrm>
              <a:off x="9643669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3" name="Phospholipid tail"/>
            <p:cNvSpPr/>
            <p:nvPr/>
          </p:nvSpPr>
          <p:spPr>
            <a:xfrm>
              <a:off x="9676587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4" name="Oval 223"/>
            <p:cNvSpPr/>
            <p:nvPr/>
          </p:nvSpPr>
          <p:spPr>
            <a:xfrm>
              <a:off x="9629038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5" name="Phospholipid tail"/>
            <p:cNvSpPr/>
            <p:nvPr/>
          </p:nvSpPr>
          <p:spPr>
            <a:xfrm>
              <a:off x="9643669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6" name="Phospholipid tail"/>
            <p:cNvSpPr/>
            <p:nvPr/>
          </p:nvSpPr>
          <p:spPr>
            <a:xfrm>
              <a:off x="9676587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7" name="Oval 226"/>
            <p:cNvSpPr/>
            <p:nvPr/>
          </p:nvSpPr>
          <p:spPr>
            <a:xfrm>
              <a:off x="9629038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8" name="Phospholipid tail"/>
            <p:cNvSpPr/>
            <p:nvPr/>
          </p:nvSpPr>
          <p:spPr>
            <a:xfrm>
              <a:off x="9751365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9" name="Phospholipid tail"/>
            <p:cNvSpPr/>
            <p:nvPr/>
          </p:nvSpPr>
          <p:spPr>
            <a:xfrm>
              <a:off x="9784283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0" name="Oval 229"/>
            <p:cNvSpPr/>
            <p:nvPr/>
          </p:nvSpPr>
          <p:spPr>
            <a:xfrm>
              <a:off x="9736734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1" name="Phospholipid tail"/>
            <p:cNvSpPr/>
            <p:nvPr/>
          </p:nvSpPr>
          <p:spPr>
            <a:xfrm>
              <a:off x="9751365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2" name="Phospholipid tail"/>
            <p:cNvSpPr/>
            <p:nvPr/>
          </p:nvSpPr>
          <p:spPr>
            <a:xfrm>
              <a:off x="9784283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3" name="Oval 232"/>
            <p:cNvSpPr/>
            <p:nvPr/>
          </p:nvSpPr>
          <p:spPr>
            <a:xfrm>
              <a:off x="9736734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4" name="Phospholipid tail"/>
            <p:cNvSpPr/>
            <p:nvPr/>
          </p:nvSpPr>
          <p:spPr>
            <a:xfrm>
              <a:off x="9859061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5" name="Phospholipid tail"/>
            <p:cNvSpPr/>
            <p:nvPr/>
          </p:nvSpPr>
          <p:spPr>
            <a:xfrm>
              <a:off x="9891979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6" name="Oval 235"/>
            <p:cNvSpPr/>
            <p:nvPr/>
          </p:nvSpPr>
          <p:spPr>
            <a:xfrm>
              <a:off x="9844430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7" name="Phospholipid tail"/>
            <p:cNvSpPr/>
            <p:nvPr/>
          </p:nvSpPr>
          <p:spPr>
            <a:xfrm>
              <a:off x="9859061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8" name="Phospholipid tail"/>
            <p:cNvSpPr/>
            <p:nvPr/>
          </p:nvSpPr>
          <p:spPr>
            <a:xfrm>
              <a:off x="9891979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9" name="Oval 238"/>
            <p:cNvSpPr/>
            <p:nvPr/>
          </p:nvSpPr>
          <p:spPr>
            <a:xfrm>
              <a:off x="9844430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0" name="Phospholipid tail"/>
            <p:cNvSpPr/>
            <p:nvPr/>
          </p:nvSpPr>
          <p:spPr>
            <a:xfrm>
              <a:off x="9966757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1" name="Phospholipid tail"/>
            <p:cNvSpPr/>
            <p:nvPr/>
          </p:nvSpPr>
          <p:spPr>
            <a:xfrm>
              <a:off x="9999675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2" name="Oval 241"/>
            <p:cNvSpPr/>
            <p:nvPr/>
          </p:nvSpPr>
          <p:spPr>
            <a:xfrm>
              <a:off x="9952126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3" name="Phospholipid tail"/>
            <p:cNvSpPr/>
            <p:nvPr/>
          </p:nvSpPr>
          <p:spPr>
            <a:xfrm>
              <a:off x="9966757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4" name="Phospholipid tail"/>
            <p:cNvSpPr/>
            <p:nvPr/>
          </p:nvSpPr>
          <p:spPr>
            <a:xfrm>
              <a:off x="9999675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5" name="Oval 244"/>
            <p:cNvSpPr/>
            <p:nvPr/>
          </p:nvSpPr>
          <p:spPr>
            <a:xfrm>
              <a:off x="9952126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6" name="Phospholipid tail"/>
            <p:cNvSpPr/>
            <p:nvPr/>
          </p:nvSpPr>
          <p:spPr>
            <a:xfrm>
              <a:off x="10074453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7" name="Phospholipid tail"/>
            <p:cNvSpPr/>
            <p:nvPr/>
          </p:nvSpPr>
          <p:spPr>
            <a:xfrm>
              <a:off x="10107371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8" name="Oval 247"/>
            <p:cNvSpPr/>
            <p:nvPr/>
          </p:nvSpPr>
          <p:spPr>
            <a:xfrm>
              <a:off x="10059822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9" name="Phospholipid tail"/>
            <p:cNvSpPr/>
            <p:nvPr/>
          </p:nvSpPr>
          <p:spPr>
            <a:xfrm>
              <a:off x="10074453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0" name="Phospholipid tail"/>
            <p:cNvSpPr/>
            <p:nvPr/>
          </p:nvSpPr>
          <p:spPr>
            <a:xfrm>
              <a:off x="10107371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1" name="Oval 250"/>
            <p:cNvSpPr/>
            <p:nvPr/>
          </p:nvSpPr>
          <p:spPr>
            <a:xfrm>
              <a:off x="10059822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2" name="Phospholipid tail"/>
            <p:cNvSpPr/>
            <p:nvPr/>
          </p:nvSpPr>
          <p:spPr>
            <a:xfrm>
              <a:off x="10182149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3" name="Phospholipid tail"/>
            <p:cNvSpPr/>
            <p:nvPr/>
          </p:nvSpPr>
          <p:spPr>
            <a:xfrm>
              <a:off x="10215067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4" name="Oval 253"/>
            <p:cNvSpPr/>
            <p:nvPr/>
          </p:nvSpPr>
          <p:spPr>
            <a:xfrm>
              <a:off x="10167518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5" name="Phospholipid tail"/>
            <p:cNvSpPr/>
            <p:nvPr/>
          </p:nvSpPr>
          <p:spPr>
            <a:xfrm>
              <a:off x="10182149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6" name="Phospholipid tail"/>
            <p:cNvSpPr/>
            <p:nvPr/>
          </p:nvSpPr>
          <p:spPr>
            <a:xfrm>
              <a:off x="10215067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7" name="Oval 256"/>
            <p:cNvSpPr/>
            <p:nvPr/>
          </p:nvSpPr>
          <p:spPr>
            <a:xfrm>
              <a:off x="10167518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8" name="Phospholipid tail"/>
            <p:cNvSpPr/>
            <p:nvPr/>
          </p:nvSpPr>
          <p:spPr>
            <a:xfrm>
              <a:off x="10289845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9" name="Phospholipid tail"/>
            <p:cNvSpPr/>
            <p:nvPr/>
          </p:nvSpPr>
          <p:spPr>
            <a:xfrm>
              <a:off x="10322763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0" name="Oval 259"/>
            <p:cNvSpPr/>
            <p:nvPr/>
          </p:nvSpPr>
          <p:spPr>
            <a:xfrm>
              <a:off x="10275214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1" name="Phospholipid tail"/>
            <p:cNvSpPr/>
            <p:nvPr/>
          </p:nvSpPr>
          <p:spPr>
            <a:xfrm>
              <a:off x="10289845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2" name="Phospholipid tail"/>
            <p:cNvSpPr/>
            <p:nvPr/>
          </p:nvSpPr>
          <p:spPr>
            <a:xfrm>
              <a:off x="10322763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3" name="Oval 262"/>
            <p:cNvSpPr/>
            <p:nvPr/>
          </p:nvSpPr>
          <p:spPr>
            <a:xfrm>
              <a:off x="10275214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4" name="Phospholipid tail"/>
            <p:cNvSpPr/>
            <p:nvPr/>
          </p:nvSpPr>
          <p:spPr>
            <a:xfrm>
              <a:off x="10397541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5" name="Phospholipid tail"/>
            <p:cNvSpPr/>
            <p:nvPr/>
          </p:nvSpPr>
          <p:spPr>
            <a:xfrm>
              <a:off x="10430459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6" name="Oval 265"/>
            <p:cNvSpPr/>
            <p:nvPr/>
          </p:nvSpPr>
          <p:spPr>
            <a:xfrm>
              <a:off x="10382910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7" name="Phospholipid tail"/>
            <p:cNvSpPr/>
            <p:nvPr/>
          </p:nvSpPr>
          <p:spPr>
            <a:xfrm>
              <a:off x="10397541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8" name="Phospholipid tail"/>
            <p:cNvSpPr/>
            <p:nvPr/>
          </p:nvSpPr>
          <p:spPr>
            <a:xfrm>
              <a:off x="10430459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9" name="Oval 268"/>
            <p:cNvSpPr/>
            <p:nvPr/>
          </p:nvSpPr>
          <p:spPr>
            <a:xfrm>
              <a:off x="10382910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0" name="Phospholipid tail"/>
            <p:cNvSpPr/>
            <p:nvPr/>
          </p:nvSpPr>
          <p:spPr>
            <a:xfrm>
              <a:off x="10505237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1" name="Phospholipid tail"/>
            <p:cNvSpPr/>
            <p:nvPr/>
          </p:nvSpPr>
          <p:spPr>
            <a:xfrm>
              <a:off x="10538155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2" name="Oval 271"/>
            <p:cNvSpPr/>
            <p:nvPr/>
          </p:nvSpPr>
          <p:spPr>
            <a:xfrm>
              <a:off x="10490606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3" name="Phospholipid tail"/>
            <p:cNvSpPr/>
            <p:nvPr/>
          </p:nvSpPr>
          <p:spPr>
            <a:xfrm>
              <a:off x="10505237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4" name="Phospholipid tail"/>
            <p:cNvSpPr/>
            <p:nvPr/>
          </p:nvSpPr>
          <p:spPr>
            <a:xfrm>
              <a:off x="10538155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5" name="Oval 274"/>
            <p:cNvSpPr/>
            <p:nvPr/>
          </p:nvSpPr>
          <p:spPr>
            <a:xfrm>
              <a:off x="10490606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6" name="Phospholipid tail"/>
            <p:cNvSpPr/>
            <p:nvPr/>
          </p:nvSpPr>
          <p:spPr>
            <a:xfrm>
              <a:off x="10612933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7" name="Phospholipid tail"/>
            <p:cNvSpPr/>
            <p:nvPr/>
          </p:nvSpPr>
          <p:spPr>
            <a:xfrm>
              <a:off x="10645851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8" name="Oval 277"/>
            <p:cNvSpPr/>
            <p:nvPr/>
          </p:nvSpPr>
          <p:spPr>
            <a:xfrm>
              <a:off x="10598302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9" name="Phospholipid tail"/>
            <p:cNvSpPr/>
            <p:nvPr/>
          </p:nvSpPr>
          <p:spPr>
            <a:xfrm>
              <a:off x="10612933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0" name="Phospholipid tail"/>
            <p:cNvSpPr/>
            <p:nvPr/>
          </p:nvSpPr>
          <p:spPr>
            <a:xfrm>
              <a:off x="10645851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1" name="Oval 280"/>
            <p:cNvSpPr/>
            <p:nvPr/>
          </p:nvSpPr>
          <p:spPr>
            <a:xfrm>
              <a:off x="10598302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2" name="Phospholipid tail"/>
            <p:cNvSpPr/>
            <p:nvPr/>
          </p:nvSpPr>
          <p:spPr>
            <a:xfrm>
              <a:off x="10720629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3" name="Phospholipid tail"/>
            <p:cNvSpPr/>
            <p:nvPr/>
          </p:nvSpPr>
          <p:spPr>
            <a:xfrm>
              <a:off x="10753547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4" name="Oval 283"/>
            <p:cNvSpPr/>
            <p:nvPr/>
          </p:nvSpPr>
          <p:spPr>
            <a:xfrm>
              <a:off x="10705998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5" name="Phospholipid tail"/>
            <p:cNvSpPr/>
            <p:nvPr/>
          </p:nvSpPr>
          <p:spPr>
            <a:xfrm>
              <a:off x="10720629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6" name="Phospholipid tail"/>
            <p:cNvSpPr/>
            <p:nvPr/>
          </p:nvSpPr>
          <p:spPr>
            <a:xfrm>
              <a:off x="10753547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7" name="Oval 286"/>
            <p:cNvSpPr/>
            <p:nvPr/>
          </p:nvSpPr>
          <p:spPr>
            <a:xfrm>
              <a:off x="10705998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8" name="Phospholipid tail"/>
            <p:cNvSpPr/>
            <p:nvPr/>
          </p:nvSpPr>
          <p:spPr>
            <a:xfrm>
              <a:off x="10828325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9" name="Phospholipid tail"/>
            <p:cNvSpPr/>
            <p:nvPr/>
          </p:nvSpPr>
          <p:spPr>
            <a:xfrm>
              <a:off x="10861243" y="4328770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0"/>
                  </a:moveTo>
                  <a:lnTo>
                    <a:pt x="0" y="34747"/>
                  </a:lnTo>
                  <a:lnTo>
                    <a:pt x="11887" y="6766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0" name="Oval 289"/>
            <p:cNvSpPr/>
            <p:nvPr/>
          </p:nvSpPr>
          <p:spPr>
            <a:xfrm>
              <a:off x="10813694" y="426659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1" name="Phospholipid tail"/>
            <p:cNvSpPr/>
            <p:nvPr/>
          </p:nvSpPr>
          <p:spPr>
            <a:xfrm>
              <a:off x="10828325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2" name="Phospholipid tail"/>
            <p:cNvSpPr/>
            <p:nvPr/>
          </p:nvSpPr>
          <p:spPr>
            <a:xfrm>
              <a:off x="10861243" y="4418381"/>
              <a:ext cx="11887" cy="67666"/>
            </a:xfrm>
            <a:custGeom>
              <a:avLst/>
              <a:gdLst/>
              <a:ahLst/>
              <a:cxnLst/>
              <a:rect l="0" t="0" r="r" b="b"/>
              <a:pathLst>
                <a:path w="11887" h="67666" fill="none">
                  <a:moveTo>
                    <a:pt x="0" y="67666"/>
                  </a:moveTo>
                  <a:lnTo>
                    <a:pt x="0" y="32918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3" name="Oval 292"/>
            <p:cNvSpPr/>
            <p:nvPr/>
          </p:nvSpPr>
          <p:spPr>
            <a:xfrm>
              <a:off x="10813694" y="4486046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4" name="Rounded Rectangle 293"/>
            <p:cNvSpPr/>
            <p:nvPr/>
          </p:nvSpPr>
          <p:spPr>
            <a:xfrm>
              <a:off x="8961120" y="4187952"/>
              <a:ext cx="630936" cy="448056"/>
            </a:xfrm>
            <a:prstGeom prst="roundRect">
              <a:avLst/>
            </a:prstGeom>
            <a:solidFill>
              <a:srgbClr val="EDF4FA"/>
            </a:solidFill>
            <a:ln w="14604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5" name="CYTBD"/>
            <p:cNvSpPr txBox="1"/>
            <p:nvPr/>
          </p:nvSpPr>
          <p:spPr>
            <a:xfrm>
              <a:off x="8869680" y="4297680"/>
              <a:ext cx="813816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i="1">
                  <a:solidFill>
                    <a:srgbClr val="4C78A8"/>
                  </a:solidFill>
                  <a:latin typeface="Liberation Sans"/>
                </a:rPr>
                <a:t>CYTBD</a:t>
              </a:r>
            </a:p>
          </p:txBody>
        </p:sp>
        <p:sp>
          <p:nvSpPr>
            <p:cNvPr id="296" name="c"/>
            <p:cNvSpPr txBox="1"/>
            <p:nvPr/>
          </p:nvSpPr>
          <p:spPr>
            <a:xfrm>
              <a:off x="7452360" y="4187952"/>
              <a:ext cx="429768" cy="246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68727D"/>
                  </a:solidFill>
                  <a:latin typeface="Liberation Sans"/>
                </a:rPr>
                <a:t>c</a:t>
              </a:r>
            </a:p>
          </p:txBody>
        </p:sp>
        <p:sp>
          <p:nvSpPr>
            <p:cNvPr id="297" name="e"/>
            <p:cNvSpPr txBox="1"/>
            <p:nvPr/>
          </p:nvSpPr>
          <p:spPr>
            <a:xfrm>
              <a:off x="7452360" y="4535424"/>
              <a:ext cx="429768" cy="246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68727D"/>
                  </a:solidFill>
                  <a:latin typeface="Liberation Sans"/>
                </a:rPr>
                <a:t>e</a:t>
              </a:r>
            </a:p>
          </p:txBody>
        </p:sp>
        <p:grpSp>
          <p:nvGrpSpPr>
            <p:cNvPr id="298" name="½ O₂ + 2 H⁺(c) → H₂O + 2 H⁺(e)"/>
            <p:cNvGrpSpPr/>
            <p:nvPr/>
          </p:nvGrpSpPr>
          <p:grpSpPr>
            <a:xfrm>
              <a:off x="8347040" y="4628007"/>
              <a:ext cx="2480888" cy="267462"/>
              <a:chOff x="8347040" y="4628007"/>
              <a:chExt cx="2480888" cy="267462"/>
            </a:xfrm>
          </p:grpSpPr>
          <p:sp>
            <p:nvSpPr>
              <p:cNvPr id="299" name="Chemical text: ½ O"/>
              <p:cNvSpPr txBox="1"/>
              <p:nvPr/>
            </p:nvSpPr>
            <p:spPr>
              <a:xfrm>
                <a:off x="8347040" y="4662297"/>
                <a:ext cx="342267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½ O</a:t>
                </a:r>
              </a:p>
            </p:txBody>
          </p:sp>
          <p:sp>
            <p:nvSpPr>
              <p:cNvPr id="300" name="Chemical text: 2"/>
              <p:cNvSpPr txBox="1"/>
              <p:nvPr/>
            </p:nvSpPr>
            <p:spPr>
              <a:xfrm>
                <a:off x="8671019" y="4710303"/>
                <a:ext cx="86799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2</a:t>
                </a:r>
              </a:p>
            </p:txBody>
          </p:sp>
          <p:sp>
            <p:nvSpPr>
              <p:cNvPr id="301" name="Chemical text:  + 2 H"/>
              <p:cNvSpPr txBox="1"/>
              <p:nvPr/>
            </p:nvSpPr>
            <p:spPr>
              <a:xfrm>
                <a:off x="8739530" y="4662297"/>
                <a:ext cx="480479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 + 2 H</a:t>
                </a:r>
              </a:p>
            </p:txBody>
          </p:sp>
          <p:sp>
            <p:nvSpPr>
              <p:cNvPr id="302" name="Chemical text: +"/>
              <p:cNvSpPr txBox="1"/>
              <p:nvPr/>
            </p:nvSpPr>
            <p:spPr>
              <a:xfrm>
                <a:off x="9201721" y="4628007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+</a:t>
                </a:r>
              </a:p>
            </p:txBody>
          </p:sp>
          <p:sp>
            <p:nvSpPr>
              <p:cNvPr id="303" name="Chemical text: (c) → H"/>
              <p:cNvSpPr txBox="1"/>
              <p:nvPr/>
            </p:nvSpPr>
            <p:spPr>
              <a:xfrm>
                <a:off x="9273664" y="4662297"/>
                <a:ext cx="608729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(c) → H</a:t>
                </a:r>
              </a:p>
            </p:txBody>
          </p:sp>
          <p:sp>
            <p:nvSpPr>
              <p:cNvPr id="304" name="Chemical text: 2"/>
              <p:cNvSpPr txBox="1"/>
              <p:nvPr/>
            </p:nvSpPr>
            <p:spPr>
              <a:xfrm>
                <a:off x="9864105" y="4710303"/>
                <a:ext cx="86799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2</a:t>
                </a:r>
              </a:p>
            </p:txBody>
          </p:sp>
          <p:sp>
            <p:nvSpPr>
              <p:cNvPr id="305" name="Chemical text: O + 2 H"/>
              <p:cNvSpPr txBox="1"/>
              <p:nvPr/>
            </p:nvSpPr>
            <p:spPr>
              <a:xfrm>
                <a:off x="9932615" y="4662297"/>
                <a:ext cx="613839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O + 2 H</a:t>
                </a:r>
              </a:p>
            </p:txBody>
          </p:sp>
          <p:sp>
            <p:nvSpPr>
              <p:cNvPr id="306" name="Chemical text: +"/>
              <p:cNvSpPr txBox="1"/>
              <p:nvPr/>
            </p:nvSpPr>
            <p:spPr>
              <a:xfrm>
                <a:off x="10528166" y="4628007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+</a:t>
                </a:r>
              </a:p>
            </p:txBody>
          </p:sp>
          <p:sp>
            <p:nvSpPr>
              <p:cNvPr id="307" name="Chemical text: (e)"/>
              <p:cNvSpPr txBox="1"/>
              <p:nvPr/>
            </p:nvSpPr>
            <p:spPr>
              <a:xfrm>
                <a:off x="10600110" y="4662297"/>
                <a:ext cx="227818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(e)</a:t>
                </a:r>
              </a:p>
            </p:txBody>
          </p:sp>
        </p:grpSp>
        <p:sp>
          <p:nvSpPr>
            <p:cNvPr id="308" name="NADH output: 1.667"/>
            <p:cNvSpPr txBox="1"/>
            <p:nvPr/>
          </p:nvSpPr>
          <p:spPr>
            <a:xfrm>
              <a:off x="7315200" y="4864608"/>
              <a:ext cx="3941064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i="0">
                  <a:solidFill>
                    <a:srgbClr val="20262E"/>
                  </a:solidFill>
                  <a:latin typeface="Liberation Sans"/>
                </a:rPr>
                <a:t>NADH output: 1.667</a:t>
              </a:r>
            </a:p>
          </p:txBody>
        </p:sp>
      </p:grpSp>
      <p:grpSp>
        <p:nvGrpSpPr>
          <p:cNvPr id="309" name="b3_membrane"/>
          <p:cNvGrpSpPr/>
          <p:nvPr/>
        </p:nvGrpSpPr>
        <p:grpSpPr>
          <a:xfrm>
            <a:off x="3401568" y="5980176"/>
            <a:ext cx="3547872" cy="1499616"/>
            <a:chOff x="3401568" y="6163056"/>
            <a:chExt cx="3547872" cy="1499616"/>
          </a:xfrm>
        </p:grpSpPr>
        <p:sp>
          <p:nvSpPr>
            <p:cNvPr id="310" name="Phospholipid tail"/>
            <p:cNvSpPr/>
            <p:nvPr/>
          </p:nvSpPr>
          <p:spPr>
            <a:xfrm>
              <a:off x="343997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1" name="Phospholipid tail"/>
            <p:cNvSpPr/>
            <p:nvPr/>
          </p:nvSpPr>
          <p:spPr>
            <a:xfrm>
              <a:off x="3472891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2" name="Oval 311"/>
            <p:cNvSpPr/>
            <p:nvPr/>
          </p:nvSpPr>
          <p:spPr>
            <a:xfrm>
              <a:off x="3425342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3" name="Phospholipid tail"/>
            <p:cNvSpPr/>
            <p:nvPr/>
          </p:nvSpPr>
          <p:spPr>
            <a:xfrm>
              <a:off x="343997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4" name="Phospholipid tail"/>
            <p:cNvSpPr/>
            <p:nvPr/>
          </p:nvSpPr>
          <p:spPr>
            <a:xfrm>
              <a:off x="3472891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5" name="Oval 314"/>
            <p:cNvSpPr/>
            <p:nvPr/>
          </p:nvSpPr>
          <p:spPr>
            <a:xfrm>
              <a:off x="3425342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6" name="Phospholipid tail"/>
            <p:cNvSpPr/>
            <p:nvPr/>
          </p:nvSpPr>
          <p:spPr>
            <a:xfrm>
              <a:off x="3549701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7" name="Phospholipid tail"/>
            <p:cNvSpPr/>
            <p:nvPr/>
          </p:nvSpPr>
          <p:spPr>
            <a:xfrm>
              <a:off x="3582619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8" name="Oval 317"/>
            <p:cNvSpPr/>
            <p:nvPr/>
          </p:nvSpPr>
          <p:spPr>
            <a:xfrm>
              <a:off x="3535070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9" name="Phospholipid tail"/>
            <p:cNvSpPr/>
            <p:nvPr/>
          </p:nvSpPr>
          <p:spPr>
            <a:xfrm>
              <a:off x="3549701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0" name="Phospholipid tail"/>
            <p:cNvSpPr/>
            <p:nvPr/>
          </p:nvSpPr>
          <p:spPr>
            <a:xfrm>
              <a:off x="3582619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1" name="Oval 320"/>
            <p:cNvSpPr/>
            <p:nvPr/>
          </p:nvSpPr>
          <p:spPr>
            <a:xfrm>
              <a:off x="3535070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2" name="Phospholipid tail"/>
            <p:cNvSpPr/>
            <p:nvPr/>
          </p:nvSpPr>
          <p:spPr>
            <a:xfrm>
              <a:off x="3659429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3" name="Phospholipid tail"/>
            <p:cNvSpPr/>
            <p:nvPr/>
          </p:nvSpPr>
          <p:spPr>
            <a:xfrm>
              <a:off x="3692347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4" name="Oval 323"/>
            <p:cNvSpPr/>
            <p:nvPr/>
          </p:nvSpPr>
          <p:spPr>
            <a:xfrm>
              <a:off x="3644798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5" name="Phospholipid tail"/>
            <p:cNvSpPr/>
            <p:nvPr/>
          </p:nvSpPr>
          <p:spPr>
            <a:xfrm>
              <a:off x="3659429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6" name="Phospholipid tail"/>
            <p:cNvSpPr/>
            <p:nvPr/>
          </p:nvSpPr>
          <p:spPr>
            <a:xfrm>
              <a:off x="3692347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7" name="Oval 326"/>
            <p:cNvSpPr/>
            <p:nvPr/>
          </p:nvSpPr>
          <p:spPr>
            <a:xfrm>
              <a:off x="3644798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8" name="Phospholipid tail"/>
            <p:cNvSpPr/>
            <p:nvPr/>
          </p:nvSpPr>
          <p:spPr>
            <a:xfrm>
              <a:off x="3769157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9" name="Phospholipid tail"/>
            <p:cNvSpPr/>
            <p:nvPr/>
          </p:nvSpPr>
          <p:spPr>
            <a:xfrm>
              <a:off x="3802075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0" name="Oval 329"/>
            <p:cNvSpPr/>
            <p:nvPr/>
          </p:nvSpPr>
          <p:spPr>
            <a:xfrm>
              <a:off x="3754526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1" name="Phospholipid tail"/>
            <p:cNvSpPr/>
            <p:nvPr/>
          </p:nvSpPr>
          <p:spPr>
            <a:xfrm>
              <a:off x="3769157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2" name="Phospholipid tail"/>
            <p:cNvSpPr/>
            <p:nvPr/>
          </p:nvSpPr>
          <p:spPr>
            <a:xfrm>
              <a:off x="3802075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3" name="Oval 332"/>
            <p:cNvSpPr/>
            <p:nvPr/>
          </p:nvSpPr>
          <p:spPr>
            <a:xfrm>
              <a:off x="3754526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4" name="Phospholipid tail"/>
            <p:cNvSpPr/>
            <p:nvPr/>
          </p:nvSpPr>
          <p:spPr>
            <a:xfrm>
              <a:off x="3878885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5" name="Phospholipid tail"/>
            <p:cNvSpPr/>
            <p:nvPr/>
          </p:nvSpPr>
          <p:spPr>
            <a:xfrm>
              <a:off x="391180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6" name="Oval 335"/>
            <p:cNvSpPr/>
            <p:nvPr/>
          </p:nvSpPr>
          <p:spPr>
            <a:xfrm>
              <a:off x="3864254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7" name="Phospholipid tail"/>
            <p:cNvSpPr/>
            <p:nvPr/>
          </p:nvSpPr>
          <p:spPr>
            <a:xfrm>
              <a:off x="3878885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8" name="Phospholipid tail"/>
            <p:cNvSpPr/>
            <p:nvPr/>
          </p:nvSpPr>
          <p:spPr>
            <a:xfrm>
              <a:off x="391180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9" name="Oval 338"/>
            <p:cNvSpPr/>
            <p:nvPr/>
          </p:nvSpPr>
          <p:spPr>
            <a:xfrm>
              <a:off x="3864254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0" name="Phospholipid tail"/>
            <p:cNvSpPr/>
            <p:nvPr/>
          </p:nvSpPr>
          <p:spPr>
            <a:xfrm>
              <a:off x="398861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1" name="Phospholipid tail"/>
            <p:cNvSpPr/>
            <p:nvPr/>
          </p:nvSpPr>
          <p:spPr>
            <a:xfrm>
              <a:off x="4021531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2" name="Oval 341"/>
            <p:cNvSpPr/>
            <p:nvPr/>
          </p:nvSpPr>
          <p:spPr>
            <a:xfrm>
              <a:off x="3973982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3" name="Phospholipid tail"/>
            <p:cNvSpPr/>
            <p:nvPr/>
          </p:nvSpPr>
          <p:spPr>
            <a:xfrm>
              <a:off x="398861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4" name="Phospholipid tail"/>
            <p:cNvSpPr/>
            <p:nvPr/>
          </p:nvSpPr>
          <p:spPr>
            <a:xfrm>
              <a:off x="4021531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5" name="Oval 344"/>
            <p:cNvSpPr/>
            <p:nvPr/>
          </p:nvSpPr>
          <p:spPr>
            <a:xfrm>
              <a:off x="3973982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6" name="Phospholipid tail"/>
            <p:cNvSpPr/>
            <p:nvPr/>
          </p:nvSpPr>
          <p:spPr>
            <a:xfrm>
              <a:off x="4098341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7" name="Phospholipid tail"/>
            <p:cNvSpPr/>
            <p:nvPr/>
          </p:nvSpPr>
          <p:spPr>
            <a:xfrm>
              <a:off x="4131259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8" name="Oval 347"/>
            <p:cNvSpPr/>
            <p:nvPr/>
          </p:nvSpPr>
          <p:spPr>
            <a:xfrm>
              <a:off x="4083710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9" name="Phospholipid tail"/>
            <p:cNvSpPr/>
            <p:nvPr/>
          </p:nvSpPr>
          <p:spPr>
            <a:xfrm>
              <a:off x="4098341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0" name="Phospholipid tail"/>
            <p:cNvSpPr/>
            <p:nvPr/>
          </p:nvSpPr>
          <p:spPr>
            <a:xfrm>
              <a:off x="4131259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1" name="Oval 350"/>
            <p:cNvSpPr/>
            <p:nvPr/>
          </p:nvSpPr>
          <p:spPr>
            <a:xfrm>
              <a:off x="4083710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2" name="Phospholipid tail"/>
            <p:cNvSpPr/>
            <p:nvPr/>
          </p:nvSpPr>
          <p:spPr>
            <a:xfrm>
              <a:off x="4208069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3" name="Phospholipid tail"/>
            <p:cNvSpPr/>
            <p:nvPr/>
          </p:nvSpPr>
          <p:spPr>
            <a:xfrm>
              <a:off x="4240987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4" name="Oval 353"/>
            <p:cNvSpPr/>
            <p:nvPr/>
          </p:nvSpPr>
          <p:spPr>
            <a:xfrm>
              <a:off x="4193438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5" name="Phospholipid tail"/>
            <p:cNvSpPr/>
            <p:nvPr/>
          </p:nvSpPr>
          <p:spPr>
            <a:xfrm>
              <a:off x="4208069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6" name="Phospholipid tail"/>
            <p:cNvSpPr/>
            <p:nvPr/>
          </p:nvSpPr>
          <p:spPr>
            <a:xfrm>
              <a:off x="4240987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7" name="Oval 356"/>
            <p:cNvSpPr/>
            <p:nvPr/>
          </p:nvSpPr>
          <p:spPr>
            <a:xfrm>
              <a:off x="4193438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8" name="Phospholipid tail"/>
            <p:cNvSpPr/>
            <p:nvPr/>
          </p:nvSpPr>
          <p:spPr>
            <a:xfrm>
              <a:off x="4317797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9" name="Phospholipid tail"/>
            <p:cNvSpPr/>
            <p:nvPr/>
          </p:nvSpPr>
          <p:spPr>
            <a:xfrm>
              <a:off x="4350715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0" name="Oval 359"/>
            <p:cNvSpPr/>
            <p:nvPr/>
          </p:nvSpPr>
          <p:spPr>
            <a:xfrm>
              <a:off x="4303166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1" name="Phospholipid tail"/>
            <p:cNvSpPr/>
            <p:nvPr/>
          </p:nvSpPr>
          <p:spPr>
            <a:xfrm>
              <a:off x="4317797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2" name="Phospholipid tail"/>
            <p:cNvSpPr/>
            <p:nvPr/>
          </p:nvSpPr>
          <p:spPr>
            <a:xfrm>
              <a:off x="4350715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3" name="Oval 362"/>
            <p:cNvSpPr/>
            <p:nvPr/>
          </p:nvSpPr>
          <p:spPr>
            <a:xfrm>
              <a:off x="4303166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4" name="Phospholipid tail"/>
            <p:cNvSpPr/>
            <p:nvPr/>
          </p:nvSpPr>
          <p:spPr>
            <a:xfrm>
              <a:off x="4427525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5" name="Phospholipid tail"/>
            <p:cNvSpPr/>
            <p:nvPr/>
          </p:nvSpPr>
          <p:spPr>
            <a:xfrm>
              <a:off x="446044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6" name="Oval 365"/>
            <p:cNvSpPr/>
            <p:nvPr/>
          </p:nvSpPr>
          <p:spPr>
            <a:xfrm>
              <a:off x="4412894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7" name="Phospholipid tail"/>
            <p:cNvSpPr/>
            <p:nvPr/>
          </p:nvSpPr>
          <p:spPr>
            <a:xfrm>
              <a:off x="4427525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8" name="Phospholipid tail"/>
            <p:cNvSpPr/>
            <p:nvPr/>
          </p:nvSpPr>
          <p:spPr>
            <a:xfrm>
              <a:off x="446044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9" name="Oval 368"/>
            <p:cNvSpPr/>
            <p:nvPr/>
          </p:nvSpPr>
          <p:spPr>
            <a:xfrm>
              <a:off x="4412894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0" name="Phospholipid tail"/>
            <p:cNvSpPr/>
            <p:nvPr/>
          </p:nvSpPr>
          <p:spPr>
            <a:xfrm>
              <a:off x="453725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1" name="Phospholipid tail"/>
            <p:cNvSpPr/>
            <p:nvPr/>
          </p:nvSpPr>
          <p:spPr>
            <a:xfrm>
              <a:off x="4570171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2" name="Oval 371"/>
            <p:cNvSpPr/>
            <p:nvPr/>
          </p:nvSpPr>
          <p:spPr>
            <a:xfrm>
              <a:off x="4522622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3" name="Phospholipid tail"/>
            <p:cNvSpPr/>
            <p:nvPr/>
          </p:nvSpPr>
          <p:spPr>
            <a:xfrm>
              <a:off x="453725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4" name="Phospholipid tail"/>
            <p:cNvSpPr/>
            <p:nvPr/>
          </p:nvSpPr>
          <p:spPr>
            <a:xfrm>
              <a:off x="4570171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5" name="Oval 374"/>
            <p:cNvSpPr/>
            <p:nvPr/>
          </p:nvSpPr>
          <p:spPr>
            <a:xfrm>
              <a:off x="4522622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6" name="Phospholipid tail"/>
            <p:cNvSpPr/>
            <p:nvPr/>
          </p:nvSpPr>
          <p:spPr>
            <a:xfrm>
              <a:off x="4646981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7" name="Phospholipid tail"/>
            <p:cNvSpPr/>
            <p:nvPr/>
          </p:nvSpPr>
          <p:spPr>
            <a:xfrm>
              <a:off x="4679899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8" name="Oval 377"/>
            <p:cNvSpPr/>
            <p:nvPr/>
          </p:nvSpPr>
          <p:spPr>
            <a:xfrm>
              <a:off x="4632350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9" name="Phospholipid tail"/>
            <p:cNvSpPr/>
            <p:nvPr/>
          </p:nvSpPr>
          <p:spPr>
            <a:xfrm>
              <a:off x="4646981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0" name="Phospholipid tail"/>
            <p:cNvSpPr/>
            <p:nvPr/>
          </p:nvSpPr>
          <p:spPr>
            <a:xfrm>
              <a:off x="4679899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1" name="Oval 380"/>
            <p:cNvSpPr/>
            <p:nvPr/>
          </p:nvSpPr>
          <p:spPr>
            <a:xfrm>
              <a:off x="4632350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2" name="Phospholipid tail"/>
            <p:cNvSpPr/>
            <p:nvPr/>
          </p:nvSpPr>
          <p:spPr>
            <a:xfrm>
              <a:off x="4756709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3" name="Phospholipid tail"/>
            <p:cNvSpPr/>
            <p:nvPr/>
          </p:nvSpPr>
          <p:spPr>
            <a:xfrm>
              <a:off x="4789627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4" name="Oval 383"/>
            <p:cNvSpPr/>
            <p:nvPr/>
          </p:nvSpPr>
          <p:spPr>
            <a:xfrm>
              <a:off x="4742078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5" name="Phospholipid tail"/>
            <p:cNvSpPr/>
            <p:nvPr/>
          </p:nvSpPr>
          <p:spPr>
            <a:xfrm>
              <a:off x="4756709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6" name="Phospholipid tail"/>
            <p:cNvSpPr/>
            <p:nvPr/>
          </p:nvSpPr>
          <p:spPr>
            <a:xfrm>
              <a:off x="4789627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7" name="Oval 386"/>
            <p:cNvSpPr/>
            <p:nvPr/>
          </p:nvSpPr>
          <p:spPr>
            <a:xfrm>
              <a:off x="4742078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8" name="Phospholipid tail"/>
            <p:cNvSpPr/>
            <p:nvPr/>
          </p:nvSpPr>
          <p:spPr>
            <a:xfrm>
              <a:off x="4866437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9" name="Phospholipid tail"/>
            <p:cNvSpPr/>
            <p:nvPr/>
          </p:nvSpPr>
          <p:spPr>
            <a:xfrm>
              <a:off x="4899355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0" name="Oval 389"/>
            <p:cNvSpPr/>
            <p:nvPr/>
          </p:nvSpPr>
          <p:spPr>
            <a:xfrm>
              <a:off x="4851806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1" name="Phospholipid tail"/>
            <p:cNvSpPr/>
            <p:nvPr/>
          </p:nvSpPr>
          <p:spPr>
            <a:xfrm>
              <a:off x="4866437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2" name="Phospholipid tail"/>
            <p:cNvSpPr/>
            <p:nvPr/>
          </p:nvSpPr>
          <p:spPr>
            <a:xfrm>
              <a:off x="4899355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3" name="Oval 392"/>
            <p:cNvSpPr/>
            <p:nvPr/>
          </p:nvSpPr>
          <p:spPr>
            <a:xfrm>
              <a:off x="4851806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4" name="Phospholipid tail"/>
            <p:cNvSpPr/>
            <p:nvPr/>
          </p:nvSpPr>
          <p:spPr>
            <a:xfrm>
              <a:off x="4976165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5" name="Phospholipid tail"/>
            <p:cNvSpPr/>
            <p:nvPr/>
          </p:nvSpPr>
          <p:spPr>
            <a:xfrm>
              <a:off x="500908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6" name="Oval 395"/>
            <p:cNvSpPr/>
            <p:nvPr/>
          </p:nvSpPr>
          <p:spPr>
            <a:xfrm>
              <a:off x="4961534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7" name="Phospholipid tail"/>
            <p:cNvSpPr/>
            <p:nvPr/>
          </p:nvSpPr>
          <p:spPr>
            <a:xfrm>
              <a:off x="4976165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8" name="Phospholipid tail"/>
            <p:cNvSpPr/>
            <p:nvPr/>
          </p:nvSpPr>
          <p:spPr>
            <a:xfrm>
              <a:off x="500908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9" name="Oval 398"/>
            <p:cNvSpPr/>
            <p:nvPr/>
          </p:nvSpPr>
          <p:spPr>
            <a:xfrm>
              <a:off x="4961534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0" name="Phospholipid tail"/>
            <p:cNvSpPr/>
            <p:nvPr/>
          </p:nvSpPr>
          <p:spPr>
            <a:xfrm>
              <a:off x="508589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1" name="Phospholipid tail"/>
            <p:cNvSpPr/>
            <p:nvPr/>
          </p:nvSpPr>
          <p:spPr>
            <a:xfrm>
              <a:off x="5118811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2" name="Oval 401"/>
            <p:cNvSpPr/>
            <p:nvPr/>
          </p:nvSpPr>
          <p:spPr>
            <a:xfrm>
              <a:off x="5071262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3" name="Phospholipid tail"/>
            <p:cNvSpPr/>
            <p:nvPr/>
          </p:nvSpPr>
          <p:spPr>
            <a:xfrm>
              <a:off x="508589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4" name="Phospholipid tail"/>
            <p:cNvSpPr/>
            <p:nvPr/>
          </p:nvSpPr>
          <p:spPr>
            <a:xfrm>
              <a:off x="5118811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5" name="Oval 404"/>
            <p:cNvSpPr/>
            <p:nvPr/>
          </p:nvSpPr>
          <p:spPr>
            <a:xfrm>
              <a:off x="5071262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6" name="Phospholipid tail"/>
            <p:cNvSpPr/>
            <p:nvPr/>
          </p:nvSpPr>
          <p:spPr>
            <a:xfrm>
              <a:off x="5524805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7" name="Phospholipid tail"/>
            <p:cNvSpPr/>
            <p:nvPr/>
          </p:nvSpPr>
          <p:spPr>
            <a:xfrm>
              <a:off x="555772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8" name="Oval 407"/>
            <p:cNvSpPr/>
            <p:nvPr/>
          </p:nvSpPr>
          <p:spPr>
            <a:xfrm>
              <a:off x="5510174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9" name="Phospholipid tail"/>
            <p:cNvSpPr/>
            <p:nvPr/>
          </p:nvSpPr>
          <p:spPr>
            <a:xfrm>
              <a:off x="5524805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0" name="Phospholipid tail"/>
            <p:cNvSpPr/>
            <p:nvPr/>
          </p:nvSpPr>
          <p:spPr>
            <a:xfrm>
              <a:off x="555772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1" name="Oval 410"/>
            <p:cNvSpPr/>
            <p:nvPr/>
          </p:nvSpPr>
          <p:spPr>
            <a:xfrm>
              <a:off x="5510174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2" name="Phospholipid tail"/>
            <p:cNvSpPr/>
            <p:nvPr/>
          </p:nvSpPr>
          <p:spPr>
            <a:xfrm>
              <a:off x="563453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3" name="Phospholipid tail"/>
            <p:cNvSpPr/>
            <p:nvPr/>
          </p:nvSpPr>
          <p:spPr>
            <a:xfrm>
              <a:off x="5667451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4" name="Oval 413"/>
            <p:cNvSpPr/>
            <p:nvPr/>
          </p:nvSpPr>
          <p:spPr>
            <a:xfrm>
              <a:off x="5619902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5" name="Phospholipid tail"/>
            <p:cNvSpPr/>
            <p:nvPr/>
          </p:nvSpPr>
          <p:spPr>
            <a:xfrm>
              <a:off x="563453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6" name="Phospholipid tail"/>
            <p:cNvSpPr/>
            <p:nvPr/>
          </p:nvSpPr>
          <p:spPr>
            <a:xfrm>
              <a:off x="5667451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7" name="Oval 416"/>
            <p:cNvSpPr/>
            <p:nvPr/>
          </p:nvSpPr>
          <p:spPr>
            <a:xfrm>
              <a:off x="5619902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8" name="Phospholipid tail"/>
            <p:cNvSpPr/>
            <p:nvPr/>
          </p:nvSpPr>
          <p:spPr>
            <a:xfrm>
              <a:off x="5744261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9" name="Phospholipid tail"/>
            <p:cNvSpPr/>
            <p:nvPr/>
          </p:nvSpPr>
          <p:spPr>
            <a:xfrm>
              <a:off x="5777179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0" name="Oval 419"/>
            <p:cNvSpPr/>
            <p:nvPr/>
          </p:nvSpPr>
          <p:spPr>
            <a:xfrm>
              <a:off x="5729630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1" name="Phospholipid tail"/>
            <p:cNvSpPr/>
            <p:nvPr/>
          </p:nvSpPr>
          <p:spPr>
            <a:xfrm>
              <a:off x="5744261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2" name="Phospholipid tail"/>
            <p:cNvSpPr/>
            <p:nvPr/>
          </p:nvSpPr>
          <p:spPr>
            <a:xfrm>
              <a:off x="5777179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3" name="Oval 422"/>
            <p:cNvSpPr/>
            <p:nvPr/>
          </p:nvSpPr>
          <p:spPr>
            <a:xfrm>
              <a:off x="5729630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4" name="Phospholipid tail"/>
            <p:cNvSpPr/>
            <p:nvPr/>
          </p:nvSpPr>
          <p:spPr>
            <a:xfrm>
              <a:off x="5853989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5" name="Phospholipid tail"/>
            <p:cNvSpPr/>
            <p:nvPr/>
          </p:nvSpPr>
          <p:spPr>
            <a:xfrm>
              <a:off x="5886907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6" name="Oval 425"/>
            <p:cNvSpPr/>
            <p:nvPr/>
          </p:nvSpPr>
          <p:spPr>
            <a:xfrm>
              <a:off x="5839358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7" name="Phospholipid tail"/>
            <p:cNvSpPr/>
            <p:nvPr/>
          </p:nvSpPr>
          <p:spPr>
            <a:xfrm>
              <a:off x="5853989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8" name="Phospholipid tail"/>
            <p:cNvSpPr/>
            <p:nvPr/>
          </p:nvSpPr>
          <p:spPr>
            <a:xfrm>
              <a:off x="5886907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9" name="Oval 428"/>
            <p:cNvSpPr/>
            <p:nvPr/>
          </p:nvSpPr>
          <p:spPr>
            <a:xfrm>
              <a:off x="5839358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0" name="Phospholipid tail"/>
            <p:cNvSpPr/>
            <p:nvPr/>
          </p:nvSpPr>
          <p:spPr>
            <a:xfrm>
              <a:off x="5963717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1" name="Phospholipid tail"/>
            <p:cNvSpPr/>
            <p:nvPr/>
          </p:nvSpPr>
          <p:spPr>
            <a:xfrm>
              <a:off x="5996635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2" name="Oval 431"/>
            <p:cNvSpPr/>
            <p:nvPr/>
          </p:nvSpPr>
          <p:spPr>
            <a:xfrm>
              <a:off x="5949086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3" name="Phospholipid tail"/>
            <p:cNvSpPr/>
            <p:nvPr/>
          </p:nvSpPr>
          <p:spPr>
            <a:xfrm>
              <a:off x="5963717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4" name="Phospholipid tail"/>
            <p:cNvSpPr/>
            <p:nvPr/>
          </p:nvSpPr>
          <p:spPr>
            <a:xfrm>
              <a:off x="5996635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5" name="Oval 434"/>
            <p:cNvSpPr/>
            <p:nvPr/>
          </p:nvSpPr>
          <p:spPr>
            <a:xfrm>
              <a:off x="5949086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6" name="Phospholipid tail"/>
            <p:cNvSpPr/>
            <p:nvPr/>
          </p:nvSpPr>
          <p:spPr>
            <a:xfrm>
              <a:off x="6073445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7" name="Phospholipid tail"/>
            <p:cNvSpPr/>
            <p:nvPr/>
          </p:nvSpPr>
          <p:spPr>
            <a:xfrm>
              <a:off x="610636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8" name="Oval 437"/>
            <p:cNvSpPr/>
            <p:nvPr/>
          </p:nvSpPr>
          <p:spPr>
            <a:xfrm>
              <a:off x="6058814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9" name="Phospholipid tail"/>
            <p:cNvSpPr/>
            <p:nvPr/>
          </p:nvSpPr>
          <p:spPr>
            <a:xfrm>
              <a:off x="6073445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0" name="Phospholipid tail"/>
            <p:cNvSpPr/>
            <p:nvPr/>
          </p:nvSpPr>
          <p:spPr>
            <a:xfrm>
              <a:off x="610636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1" name="Oval 440"/>
            <p:cNvSpPr/>
            <p:nvPr/>
          </p:nvSpPr>
          <p:spPr>
            <a:xfrm>
              <a:off x="6058814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2" name="Phospholipid tail"/>
            <p:cNvSpPr/>
            <p:nvPr/>
          </p:nvSpPr>
          <p:spPr>
            <a:xfrm>
              <a:off x="618317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3" name="Phospholipid tail"/>
            <p:cNvSpPr/>
            <p:nvPr/>
          </p:nvSpPr>
          <p:spPr>
            <a:xfrm>
              <a:off x="6216091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4" name="Oval 443"/>
            <p:cNvSpPr/>
            <p:nvPr/>
          </p:nvSpPr>
          <p:spPr>
            <a:xfrm>
              <a:off x="6168542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5" name="Phospholipid tail"/>
            <p:cNvSpPr/>
            <p:nvPr/>
          </p:nvSpPr>
          <p:spPr>
            <a:xfrm>
              <a:off x="618317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6" name="Phospholipid tail"/>
            <p:cNvSpPr/>
            <p:nvPr/>
          </p:nvSpPr>
          <p:spPr>
            <a:xfrm>
              <a:off x="6216091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7" name="Oval 446"/>
            <p:cNvSpPr/>
            <p:nvPr/>
          </p:nvSpPr>
          <p:spPr>
            <a:xfrm>
              <a:off x="6168542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8" name="Phospholipid tail"/>
            <p:cNvSpPr/>
            <p:nvPr/>
          </p:nvSpPr>
          <p:spPr>
            <a:xfrm>
              <a:off x="6292901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9" name="Phospholipid tail"/>
            <p:cNvSpPr/>
            <p:nvPr/>
          </p:nvSpPr>
          <p:spPr>
            <a:xfrm>
              <a:off x="6325819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0" name="Oval 449"/>
            <p:cNvSpPr/>
            <p:nvPr/>
          </p:nvSpPr>
          <p:spPr>
            <a:xfrm>
              <a:off x="6278270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1" name="Phospholipid tail"/>
            <p:cNvSpPr/>
            <p:nvPr/>
          </p:nvSpPr>
          <p:spPr>
            <a:xfrm>
              <a:off x="6292901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2" name="Phospholipid tail"/>
            <p:cNvSpPr/>
            <p:nvPr/>
          </p:nvSpPr>
          <p:spPr>
            <a:xfrm>
              <a:off x="6325819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3" name="Oval 452"/>
            <p:cNvSpPr/>
            <p:nvPr/>
          </p:nvSpPr>
          <p:spPr>
            <a:xfrm>
              <a:off x="6278270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4" name="Phospholipid tail"/>
            <p:cNvSpPr/>
            <p:nvPr/>
          </p:nvSpPr>
          <p:spPr>
            <a:xfrm>
              <a:off x="6402629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5" name="Phospholipid tail"/>
            <p:cNvSpPr/>
            <p:nvPr/>
          </p:nvSpPr>
          <p:spPr>
            <a:xfrm>
              <a:off x="6435547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6" name="Oval 455"/>
            <p:cNvSpPr/>
            <p:nvPr/>
          </p:nvSpPr>
          <p:spPr>
            <a:xfrm>
              <a:off x="6387998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7" name="Phospholipid tail"/>
            <p:cNvSpPr/>
            <p:nvPr/>
          </p:nvSpPr>
          <p:spPr>
            <a:xfrm>
              <a:off x="6402629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8" name="Phospholipid tail"/>
            <p:cNvSpPr/>
            <p:nvPr/>
          </p:nvSpPr>
          <p:spPr>
            <a:xfrm>
              <a:off x="6435547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9" name="Oval 458"/>
            <p:cNvSpPr/>
            <p:nvPr/>
          </p:nvSpPr>
          <p:spPr>
            <a:xfrm>
              <a:off x="6387998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0" name="Phospholipid tail"/>
            <p:cNvSpPr/>
            <p:nvPr/>
          </p:nvSpPr>
          <p:spPr>
            <a:xfrm>
              <a:off x="6512357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1" name="Phospholipid tail"/>
            <p:cNvSpPr/>
            <p:nvPr/>
          </p:nvSpPr>
          <p:spPr>
            <a:xfrm>
              <a:off x="6545275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2" name="Oval 461"/>
            <p:cNvSpPr/>
            <p:nvPr/>
          </p:nvSpPr>
          <p:spPr>
            <a:xfrm>
              <a:off x="6497726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3" name="Phospholipid tail"/>
            <p:cNvSpPr/>
            <p:nvPr/>
          </p:nvSpPr>
          <p:spPr>
            <a:xfrm>
              <a:off x="6512357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4" name="Phospholipid tail"/>
            <p:cNvSpPr/>
            <p:nvPr/>
          </p:nvSpPr>
          <p:spPr>
            <a:xfrm>
              <a:off x="6545275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5" name="Oval 464"/>
            <p:cNvSpPr/>
            <p:nvPr/>
          </p:nvSpPr>
          <p:spPr>
            <a:xfrm>
              <a:off x="6497726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6" name="Phospholipid tail"/>
            <p:cNvSpPr/>
            <p:nvPr/>
          </p:nvSpPr>
          <p:spPr>
            <a:xfrm>
              <a:off x="6622085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7" name="Phospholipid tail"/>
            <p:cNvSpPr/>
            <p:nvPr/>
          </p:nvSpPr>
          <p:spPr>
            <a:xfrm>
              <a:off x="665500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8" name="Oval 467"/>
            <p:cNvSpPr/>
            <p:nvPr/>
          </p:nvSpPr>
          <p:spPr>
            <a:xfrm>
              <a:off x="6607454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Phospholipid tail"/>
            <p:cNvSpPr/>
            <p:nvPr/>
          </p:nvSpPr>
          <p:spPr>
            <a:xfrm>
              <a:off x="6622085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Phospholipid tail"/>
            <p:cNvSpPr/>
            <p:nvPr/>
          </p:nvSpPr>
          <p:spPr>
            <a:xfrm>
              <a:off x="665500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1" name="Oval 470"/>
            <p:cNvSpPr/>
            <p:nvPr/>
          </p:nvSpPr>
          <p:spPr>
            <a:xfrm>
              <a:off x="6607454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2" name="Phospholipid tail"/>
            <p:cNvSpPr/>
            <p:nvPr/>
          </p:nvSpPr>
          <p:spPr>
            <a:xfrm>
              <a:off x="6731813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Phospholipid tail"/>
            <p:cNvSpPr/>
            <p:nvPr/>
          </p:nvSpPr>
          <p:spPr>
            <a:xfrm>
              <a:off x="6764731" y="652333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0"/>
                  </a:moveTo>
                  <a:lnTo>
                    <a:pt x="0" y="70409"/>
                  </a:lnTo>
                  <a:lnTo>
                    <a:pt x="11887" y="121158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Oval 473"/>
            <p:cNvSpPr/>
            <p:nvPr/>
          </p:nvSpPr>
          <p:spPr>
            <a:xfrm>
              <a:off x="6717182" y="6461150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5" name="Phospholipid tail"/>
            <p:cNvSpPr/>
            <p:nvPr/>
          </p:nvSpPr>
          <p:spPr>
            <a:xfrm>
              <a:off x="6731813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6" name="Phospholipid tail"/>
            <p:cNvSpPr/>
            <p:nvPr/>
          </p:nvSpPr>
          <p:spPr>
            <a:xfrm>
              <a:off x="6764731" y="6678320"/>
              <a:ext cx="11887" cy="121158"/>
            </a:xfrm>
            <a:custGeom>
              <a:avLst/>
              <a:gdLst/>
              <a:ahLst/>
              <a:cxnLst/>
              <a:rect l="0" t="0" r="r" b="b"/>
              <a:pathLst>
                <a:path w="11887" h="121158" fill="none">
                  <a:moveTo>
                    <a:pt x="0" y="121158"/>
                  </a:moveTo>
                  <a:lnTo>
                    <a:pt x="0" y="50749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Oval 476"/>
            <p:cNvSpPr/>
            <p:nvPr/>
          </p:nvSpPr>
          <p:spPr>
            <a:xfrm>
              <a:off x="6717182" y="6799478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Rounded Rectangle 477"/>
            <p:cNvSpPr/>
            <p:nvPr/>
          </p:nvSpPr>
          <p:spPr>
            <a:xfrm>
              <a:off x="5129784" y="6364224"/>
              <a:ext cx="384048" cy="621792"/>
            </a:xfrm>
            <a:prstGeom prst="roundRect">
              <a:avLst/>
            </a:prstGeom>
            <a:solidFill>
              <a:srgbClr val="EDF4FA"/>
            </a:solidFill>
            <a:ln w="1524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Rounded Rectangle 478"/>
            <p:cNvSpPr/>
            <p:nvPr/>
          </p:nvSpPr>
          <p:spPr>
            <a:xfrm>
              <a:off x="5239512" y="6958584"/>
              <a:ext cx="173736" cy="256032"/>
            </a:xfrm>
            <a:prstGeom prst="roundRect">
              <a:avLst/>
            </a:prstGeom>
            <a:solidFill>
              <a:srgbClr val="EDF4FA"/>
            </a:solidFill>
            <a:ln w="1270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0" name="Oval 479"/>
            <p:cNvSpPr/>
            <p:nvPr/>
          </p:nvSpPr>
          <p:spPr>
            <a:xfrm>
              <a:off x="4846320" y="7150608"/>
              <a:ext cx="960120" cy="512064"/>
            </a:xfrm>
            <a:prstGeom prst="ellipse">
              <a:avLst/>
            </a:prstGeom>
            <a:solidFill>
              <a:srgbClr val="EDF4FA"/>
            </a:solidFill>
            <a:ln w="1524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1" name="ATPS4r"/>
            <p:cNvSpPr txBox="1"/>
            <p:nvPr/>
          </p:nvSpPr>
          <p:spPr>
            <a:xfrm>
              <a:off x="4873752" y="7296912"/>
              <a:ext cx="905256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1">
                  <a:solidFill>
                    <a:srgbClr val="4C78A8"/>
                  </a:solidFill>
                  <a:latin typeface="Liberation Sans"/>
                </a:rPr>
                <a:t>ATPS4r</a:t>
              </a:r>
            </a:p>
          </p:txBody>
        </p:sp>
        <p:sp>
          <p:nvSpPr>
            <p:cNvPr id="482" name="extracellular"/>
            <p:cNvSpPr txBox="1"/>
            <p:nvPr/>
          </p:nvSpPr>
          <p:spPr>
            <a:xfrm>
              <a:off x="5687568" y="6163056"/>
              <a:ext cx="1261872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68727D"/>
                  </a:solidFill>
                  <a:latin typeface="Liberation Sans"/>
                </a:rPr>
                <a:t>extracellular</a:t>
              </a:r>
            </a:p>
          </p:txBody>
        </p:sp>
        <p:sp>
          <p:nvSpPr>
            <p:cNvPr id="483" name="cytoplasm"/>
            <p:cNvSpPr txBox="1"/>
            <p:nvPr/>
          </p:nvSpPr>
          <p:spPr>
            <a:xfrm>
              <a:off x="3401568" y="6903720"/>
              <a:ext cx="124358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68727D"/>
                  </a:solidFill>
                  <a:latin typeface="Liberation Sans"/>
                </a:rPr>
                <a:t>cytoplasm</a:t>
              </a:r>
            </a:p>
          </p:txBody>
        </p:sp>
      </p:grpSp>
      <p:grpSp>
        <p:nvGrpSpPr>
          <p:cNvPr id="484" name="b3_coupling"/>
          <p:cNvGrpSpPr/>
          <p:nvPr/>
        </p:nvGrpSpPr>
        <p:grpSpPr>
          <a:xfrm>
            <a:off x="3090672" y="5458968"/>
            <a:ext cx="3950208" cy="3191256"/>
            <a:chOff x="3090672" y="5641848"/>
            <a:chExt cx="3950208" cy="3191256"/>
          </a:xfrm>
        </p:grpSpPr>
        <p:sp>
          <p:nvSpPr>
            <p:cNvPr id="485" name="EX_h_e"/>
            <p:cNvSpPr txBox="1"/>
            <p:nvPr/>
          </p:nvSpPr>
          <p:spPr>
            <a:xfrm>
              <a:off x="3328416" y="5824728"/>
              <a:ext cx="950976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1">
                  <a:solidFill>
                    <a:srgbClr val="D55E00"/>
                  </a:solidFill>
                  <a:latin typeface="Liberation Sans"/>
                </a:rPr>
                <a:t>EX_h_e</a:t>
              </a:r>
            </a:p>
          </p:txBody>
        </p:sp>
        <p:sp>
          <p:nvSpPr>
            <p:cNvPr id="486" name="EX_h_e proton uptake (blocked)"/>
            <p:cNvSpPr/>
            <p:nvPr/>
          </p:nvSpPr>
          <p:spPr>
            <a:xfrm>
              <a:off x="3767328" y="6089904"/>
              <a:ext cx="1453896" cy="1"/>
            </a:xfrm>
            <a:custGeom>
              <a:avLst/>
              <a:gdLst/>
              <a:ahLst/>
              <a:cxnLst/>
              <a:rect l="0" t="0" r="r" b="b"/>
              <a:pathLst>
                <a:path w="1453896" h="1" fill="none">
                  <a:moveTo>
                    <a:pt x="0" y="0"/>
                  </a:moveTo>
                  <a:lnTo>
                    <a:pt x="1453896" y="0"/>
                  </a:lnTo>
                </a:path>
              </a:pathLst>
            </a:custGeom>
            <a:noFill/>
            <a:ln w="29209" cap="rnd">
              <a:solidFill>
                <a:srgbClr val="D55E00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7" name="MQC stop"/>
            <p:cNvSpPr/>
            <p:nvPr/>
          </p:nvSpPr>
          <p:spPr>
            <a:xfrm>
              <a:off x="4245559" y="6019495"/>
              <a:ext cx="140818" cy="140818"/>
            </a:xfrm>
            <a:custGeom>
              <a:avLst/>
              <a:gdLst/>
              <a:ahLst/>
              <a:cxnLst/>
              <a:rect l="0" t="0" r="r" b="b"/>
              <a:pathLst>
                <a:path w="140818" h="140818" fill="none">
                  <a:moveTo>
                    <a:pt x="0" y="0"/>
                  </a:moveTo>
                  <a:lnTo>
                    <a:pt x="140818" y="140818"/>
                  </a:lnTo>
                </a:path>
              </a:pathLst>
            </a:custGeom>
            <a:noFill/>
            <a:ln w="33020" cap="rnd">
              <a:solidFill>
                <a:srgbClr val="C43C3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8" name="MQC stop"/>
            <p:cNvSpPr/>
            <p:nvPr/>
          </p:nvSpPr>
          <p:spPr>
            <a:xfrm>
              <a:off x="4245559" y="6019495"/>
              <a:ext cx="140818" cy="140818"/>
            </a:xfrm>
            <a:custGeom>
              <a:avLst/>
              <a:gdLst/>
              <a:ahLst/>
              <a:cxnLst/>
              <a:rect l="0" t="0" r="r" b="b"/>
              <a:pathLst>
                <a:path w="140818" h="140818" fill="none">
                  <a:moveTo>
                    <a:pt x="0" y="140818"/>
                  </a:moveTo>
                  <a:lnTo>
                    <a:pt x="140818" y="0"/>
                  </a:lnTo>
                </a:path>
              </a:pathLst>
            </a:custGeom>
            <a:noFill/>
            <a:ln w="33020" cap="rnd">
              <a:solidFill>
                <a:srgbClr val="C43C3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9" name="uptake blocked"/>
            <p:cNvSpPr txBox="1"/>
            <p:nvPr/>
          </p:nvSpPr>
          <p:spPr>
            <a:xfrm>
              <a:off x="3694176" y="5641848"/>
              <a:ext cx="142646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C43C39"/>
                  </a:solidFill>
                  <a:latin typeface="Liberation Sans"/>
                </a:rPr>
                <a:t>uptake blocked</a:t>
              </a:r>
            </a:p>
          </p:txBody>
        </p:sp>
        <p:grpSp>
          <p:nvGrpSpPr>
            <p:cNvPr id="490" name="4 H⁺(e)"/>
            <p:cNvGrpSpPr/>
            <p:nvPr/>
          </p:nvGrpSpPr>
          <p:grpSpPr>
            <a:xfrm>
              <a:off x="5007002" y="5779643"/>
              <a:ext cx="647901" cy="251968"/>
              <a:chOff x="5007002" y="5779643"/>
              <a:chExt cx="647901" cy="251968"/>
            </a:xfrm>
          </p:grpSpPr>
          <p:sp>
            <p:nvSpPr>
              <p:cNvPr id="491" name="Chemical text: 4 H"/>
              <p:cNvSpPr txBox="1"/>
              <p:nvPr/>
            </p:nvSpPr>
            <p:spPr>
              <a:xfrm>
                <a:off x="5007002" y="5819013"/>
                <a:ext cx="324616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50" b="1" i="0">
                    <a:solidFill>
                      <a:srgbClr val="4C78A8"/>
                    </a:solidFill>
                    <a:latin typeface="Liberation Sans"/>
                  </a:rPr>
                  <a:t>4 H</a:t>
                </a:r>
              </a:p>
            </p:txBody>
          </p:sp>
          <p:sp>
            <p:nvSpPr>
              <p:cNvPr id="492" name="Chemical text: +"/>
              <p:cNvSpPr txBox="1"/>
              <p:nvPr/>
            </p:nvSpPr>
            <p:spPr>
              <a:xfrm>
                <a:off x="5313330" y="5779643"/>
                <a:ext cx="100987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16" b="1" i="0">
                    <a:solidFill>
                      <a:srgbClr val="4C78A8"/>
                    </a:solidFill>
                    <a:latin typeface="Liberation Sans"/>
                  </a:rPr>
                  <a:t>+</a:t>
                </a:r>
              </a:p>
            </p:txBody>
          </p:sp>
          <p:sp>
            <p:nvSpPr>
              <p:cNvPr id="493" name="Chemical text: (e)"/>
              <p:cNvSpPr txBox="1"/>
              <p:nvPr/>
            </p:nvSpPr>
            <p:spPr>
              <a:xfrm>
                <a:off x="5396029" y="5819013"/>
                <a:ext cx="258874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50" b="1" i="0">
                    <a:solidFill>
                      <a:srgbClr val="4C78A8"/>
                    </a:solidFill>
                    <a:latin typeface="Liberation Sans"/>
                  </a:rPr>
                  <a:t>(e)</a:t>
                </a:r>
              </a:p>
            </p:txBody>
          </p:sp>
        </p:grpSp>
        <p:sp>
          <p:nvSpPr>
            <p:cNvPr id="494" name="Proton flow through ATP synthase"/>
            <p:cNvSpPr/>
            <p:nvPr/>
          </p:nvSpPr>
          <p:spPr>
            <a:xfrm>
              <a:off x="5321808" y="6099048"/>
              <a:ext cx="786384" cy="923544"/>
            </a:xfrm>
            <a:custGeom>
              <a:avLst/>
              <a:gdLst/>
              <a:ahLst/>
              <a:cxnLst/>
              <a:rect l="0" t="0" r="r" b="b"/>
              <a:pathLst>
                <a:path w="786384" h="923544" fill="none">
                  <a:moveTo>
                    <a:pt x="0" y="0"/>
                  </a:moveTo>
                  <a:lnTo>
                    <a:pt x="0" y="640080"/>
                  </a:lnTo>
                  <a:cubicBezTo>
                    <a:pt x="0" y="914400"/>
                    <a:pt x="374904" y="923544"/>
                    <a:pt x="786384" y="923544"/>
                  </a:cubicBezTo>
                </a:path>
              </a:pathLst>
            </a:custGeom>
            <a:noFill/>
            <a:ln w="27305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495" name="3 H⁺(c)"/>
            <p:cNvGrpSpPr/>
            <p:nvPr/>
          </p:nvGrpSpPr>
          <p:grpSpPr>
            <a:xfrm>
              <a:off x="6205820" y="6849491"/>
              <a:ext cx="636848" cy="251968"/>
              <a:chOff x="6205820" y="6849491"/>
              <a:chExt cx="636848" cy="251968"/>
            </a:xfrm>
          </p:grpSpPr>
          <p:sp>
            <p:nvSpPr>
              <p:cNvPr id="496" name="Chemical text: 3 H"/>
              <p:cNvSpPr txBox="1"/>
              <p:nvPr/>
            </p:nvSpPr>
            <p:spPr>
              <a:xfrm>
                <a:off x="6205820" y="6888861"/>
                <a:ext cx="324616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50" b="0" i="0">
                    <a:solidFill>
                      <a:srgbClr val="4C78A8"/>
                    </a:solidFill>
                    <a:latin typeface="Liberation Sans"/>
                  </a:rPr>
                  <a:t>3 H</a:t>
                </a:r>
              </a:p>
            </p:txBody>
          </p:sp>
          <p:sp>
            <p:nvSpPr>
              <p:cNvPr id="497" name="Chemical text: +"/>
              <p:cNvSpPr txBox="1"/>
              <p:nvPr/>
            </p:nvSpPr>
            <p:spPr>
              <a:xfrm>
                <a:off x="6512148" y="6849491"/>
                <a:ext cx="100987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16" b="0" i="0">
                    <a:solidFill>
                      <a:srgbClr val="4C78A8"/>
                    </a:solidFill>
                    <a:latin typeface="Liberation Sans"/>
                  </a:rPr>
                  <a:t>+</a:t>
                </a:r>
              </a:p>
            </p:txBody>
          </p:sp>
          <p:sp>
            <p:nvSpPr>
              <p:cNvPr id="498" name="Chemical text: (c)"/>
              <p:cNvSpPr txBox="1"/>
              <p:nvPr/>
            </p:nvSpPr>
            <p:spPr>
              <a:xfrm>
                <a:off x="6594847" y="6888861"/>
                <a:ext cx="247821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50" b="0" i="0">
                    <a:solidFill>
                      <a:srgbClr val="4C78A8"/>
                    </a:solidFill>
                    <a:latin typeface="Liberation Sans"/>
                  </a:rPr>
                  <a:t>(c)</a:t>
                </a:r>
              </a:p>
            </p:txBody>
          </p:sp>
        </p:grpSp>
        <p:sp>
          <p:nvSpPr>
            <p:cNvPr id="499" name="Metabolic route"/>
            <p:cNvSpPr/>
            <p:nvPr/>
          </p:nvSpPr>
          <p:spPr>
            <a:xfrm>
              <a:off x="4251960" y="7324344"/>
              <a:ext cx="603504" cy="54864"/>
            </a:xfrm>
            <a:custGeom>
              <a:avLst/>
              <a:gdLst/>
              <a:ahLst/>
              <a:cxnLst/>
              <a:rect l="0" t="0" r="r" b="b"/>
              <a:pathLst>
                <a:path w="603504" h="54864" fill="none">
                  <a:moveTo>
                    <a:pt x="0" y="18288"/>
                  </a:moveTo>
                  <a:cubicBezTo>
                    <a:pt x="182880" y="18288"/>
                    <a:pt x="347472" y="0"/>
                    <a:pt x="603504" y="54864"/>
                  </a:cubicBezTo>
                </a:path>
              </a:pathLst>
            </a:custGeom>
            <a:noFill/>
            <a:ln w="15875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0" name="Metabolic route"/>
            <p:cNvSpPr/>
            <p:nvPr/>
          </p:nvSpPr>
          <p:spPr>
            <a:xfrm>
              <a:off x="4251960" y="7479792"/>
              <a:ext cx="603504" cy="420624"/>
            </a:xfrm>
            <a:custGeom>
              <a:avLst/>
              <a:gdLst/>
              <a:ahLst/>
              <a:cxnLst/>
              <a:rect l="0" t="0" r="r" b="b"/>
              <a:pathLst>
                <a:path w="603504" h="420624" fill="none">
                  <a:moveTo>
                    <a:pt x="0" y="420624"/>
                  </a:moveTo>
                  <a:cubicBezTo>
                    <a:pt x="228600" y="420624"/>
                    <a:pt x="320040" y="91440"/>
                    <a:pt x="603504" y="0"/>
                  </a:cubicBezTo>
                </a:path>
              </a:pathLst>
            </a:custGeom>
            <a:noFill/>
            <a:ln w="15875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1" name="Metabolic route"/>
            <p:cNvSpPr/>
            <p:nvPr/>
          </p:nvSpPr>
          <p:spPr>
            <a:xfrm>
              <a:off x="5797296" y="7315200"/>
              <a:ext cx="576072" cy="64008"/>
            </a:xfrm>
            <a:custGeom>
              <a:avLst/>
              <a:gdLst/>
              <a:ahLst/>
              <a:cxnLst/>
              <a:rect l="0" t="0" r="r" b="b"/>
              <a:pathLst>
                <a:path w="576072" h="64008" fill="none">
                  <a:moveTo>
                    <a:pt x="0" y="64008"/>
                  </a:moveTo>
                  <a:cubicBezTo>
                    <a:pt x="274320" y="0"/>
                    <a:pt x="374904" y="27432"/>
                    <a:pt x="576072" y="27432"/>
                  </a:cubicBezTo>
                </a:path>
              </a:pathLst>
            </a:custGeom>
            <a:noFill/>
            <a:ln w="15875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2" name="Metabolic route"/>
            <p:cNvSpPr/>
            <p:nvPr/>
          </p:nvSpPr>
          <p:spPr>
            <a:xfrm>
              <a:off x="5797296" y="7479792"/>
              <a:ext cx="576072" cy="420624"/>
            </a:xfrm>
            <a:custGeom>
              <a:avLst/>
              <a:gdLst/>
              <a:ahLst/>
              <a:cxnLst/>
              <a:rect l="0" t="0" r="r" b="b"/>
              <a:pathLst>
                <a:path w="576072" h="420624" fill="none">
                  <a:moveTo>
                    <a:pt x="0" y="0"/>
                  </a:moveTo>
                  <a:cubicBezTo>
                    <a:pt x="219456" y="54864"/>
                    <a:pt x="320040" y="420624"/>
                    <a:pt x="576072" y="420624"/>
                  </a:cubicBezTo>
                </a:path>
              </a:pathLst>
            </a:custGeom>
            <a:noFill/>
            <a:ln w="15875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3" name="Oval 502"/>
            <p:cNvSpPr/>
            <p:nvPr/>
          </p:nvSpPr>
          <p:spPr>
            <a:xfrm>
              <a:off x="4158691" y="7295083"/>
              <a:ext cx="95098" cy="95098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4" name="Oval 503"/>
            <p:cNvSpPr/>
            <p:nvPr/>
          </p:nvSpPr>
          <p:spPr>
            <a:xfrm>
              <a:off x="4158691" y="7852867"/>
              <a:ext cx="95098" cy="95098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5" name="Oval 504"/>
            <p:cNvSpPr/>
            <p:nvPr/>
          </p:nvSpPr>
          <p:spPr>
            <a:xfrm>
              <a:off x="6371539" y="7295083"/>
              <a:ext cx="95098" cy="95098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E69F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6" name="Oval 505"/>
            <p:cNvSpPr/>
            <p:nvPr/>
          </p:nvSpPr>
          <p:spPr>
            <a:xfrm>
              <a:off x="6371539" y="7852867"/>
              <a:ext cx="95098" cy="95098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7" name="ADP"/>
            <p:cNvSpPr txBox="1"/>
            <p:nvPr/>
          </p:nvSpPr>
          <p:spPr>
            <a:xfrm>
              <a:off x="3511296" y="7214616"/>
              <a:ext cx="576072" cy="23774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0" i="0">
                  <a:solidFill>
                    <a:srgbClr val="20262E"/>
                  </a:solidFill>
                  <a:latin typeface="Liberation Sans"/>
                </a:rPr>
                <a:t>ADP</a:t>
              </a:r>
            </a:p>
          </p:txBody>
        </p:sp>
        <p:sp>
          <p:nvSpPr>
            <p:cNvPr id="508" name="Pi"/>
            <p:cNvSpPr txBox="1"/>
            <p:nvPr/>
          </p:nvSpPr>
          <p:spPr>
            <a:xfrm>
              <a:off x="3639312" y="7772400"/>
              <a:ext cx="448056" cy="23774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0" i="0">
                  <a:solidFill>
                    <a:srgbClr val="20262E"/>
                  </a:solidFill>
                  <a:latin typeface="Liberation Sans"/>
                </a:rPr>
                <a:t>Pi</a:t>
              </a:r>
            </a:p>
          </p:txBody>
        </p:sp>
        <p:sp>
          <p:nvSpPr>
            <p:cNvPr id="509" name="ATP"/>
            <p:cNvSpPr txBox="1"/>
            <p:nvPr/>
          </p:nvSpPr>
          <p:spPr>
            <a:xfrm>
              <a:off x="6519672" y="7214616"/>
              <a:ext cx="521208" cy="23774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ATP</a:t>
              </a:r>
            </a:p>
          </p:txBody>
        </p:sp>
        <p:grpSp>
          <p:nvGrpSpPr>
            <p:cNvPr id="510" name="H₂O"/>
            <p:cNvGrpSpPr/>
            <p:nvPr/>
          </p:nvGrpSpPr>
          <p:grpSpPr>
            <a:xfrm>
              <a:off x="6519672" y="7784973"/>
              <a:ext cx="392313" cy="267716"/>
              <a:chOff x="6519672" y="7784973"/>
              <a:chExt cx="392313" cy="267716"/>
            </a:xfrm>
          </p:grpSpPr>
          <p:sp>
            <p:nvSpPr>
              <p:cNvPr id="511" name="Chemical text: H"/>
              <p:cNvSpPr txBox="1"/>
              <p:nvPr/>
            </p:nvSpPr>
            <p:spPr>
              <a:xfrm>
                <a:off x="6519672" y="7784973"/>
                <a:ext cx="160449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50" b="0" i="0">
                    <a:solidFill>
                      <a:srgbClr val="20262E"/>
                    </a:solidFill>
                    <a:latin typeface="Liberation Sans"/>
                  </a:rPr>
                  <a:t>H</a:t>
                </a:r>
              </a:p>
            </p:txBody>
          </p:sp>
          <p:sp>
            <p:nvSpPr>
              <p:cNvPr id="512" name="Chemical text: 2"/>
              <p:cNvSpPr txBox="1"/>
              <p:nvPr/>
            </p:nvSpPr>
            <p:spPr>
              <a:xfrm>
                <a:off x="6661833" y="7840091"/>
                <a:ext cx="97038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16" b="0" i="0">
                    <a:solidFill>
                      <a:srgbClr val="20262E"/>
                    </a:solidFill>
                    <a:latin typeface="Liberation Sans"/>
                  </a:rPr>
                  <a:t>2</a:t>
                </a:r>
              </a:p>
            </p:txBody>
          </p:sp>
          <p:sp>
            <p:nvSpPr>
              <p:cNvPr id="513" name="Chemical text: O"/>
              <p:cNvSpPr txBox="1"/>
              <p:nvPr/>
            </p:nvSpPr>
            <p:spPr>
              <a:xfrm>
                <a:off x="6740583" y="7784973"/>
                <a:ext cx="171402" cy="212598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50" b="0" i="0">
                    <a:solidFill>
                      <a:srgbClr val="20262E"/>
                    </a:solidFill>
                    <a:latin typeface="Liberation Sans"/>
                  </a:rPr>
                  <a:t>O</a:t>
                </a:r>
              </a:p>
            </p:txBody>
          </p:sp>
        </p:grpSp>
        <p:sp>
          <p:nvSpPr>
            <p:cNvPr id="514" name="Proton uptake supports NTP production"/>
            <p:cNvSpPr txBox="1"/>
            <p:nvPr/>
          </p:nvSpPr>
          <p:spPr>
            <a:xfrm>
              <a:off x="3090672" y="8302752"/>
              <a:ext cx="3867912" cy="2651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i="0">
                  <a:solidFill>
                    <a:srgbClr val="20262E"/>
                  </a:solidFill>
                  <a:latin typeface="Liberation Sans"/>
                </a:rPr>
                <a:t>Proton uptake supports NTP production</a:t>
              </a:r>
            </a:p>
          </p:txBody>
        </p:sp>
        <p:sp>
          <p:nvSpPr>
            <p:cNvPr id="515" name="ATPS4r flux: 2.500"/>
            <p:cNvSpPr txBox="1"/>
            <p:nvPr/>
          </p:nvSpPr>
          <p:spPr>
            <a:xfrm>
              <a:off x="3090672" y="8586216"/>
              <a:ext cx="3867912" cy="246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i="0">
                  <a:solidFill>
                    <a:srgbClr val="20262E"/>
                  </a:solidFill>
                  <a:latin typeface="Liberation Sans"/>
                </a:rPr>
                <a:t>ATPS4r flux: 2.500</a:t>
              </a:r>
            </a:p>
          </p:txBody>
        </p:sp>
      </p:grpSp>
      <p:grpSp>
        <p:nvGrpSpPr>
          <p:cNvPr id="516" name="b4_madh"/>
          <p:cNvGrpSpPr/>
          <p:nvPr/>
        </p:nvGrpSpPr>
        <p:grpSpPr>
          <a:xfrm>
            <a:off x="7260336" y="5422392"/>
            <a:ext cx="4078224" cy="1947672"/>
            <a:chOff x="7260336" y="5605272"/>
            <a:chExt cx="4078224" cy="1947672"/>
          </a:xfrm>
        </p:grpSpPr>
        <p:sp>
          <p:nvSpPr>
            <p:cNvPr id="517" name="Methylmalonate semialdehyde"/>
            <p:cNvSpPr txBox="1"/>
            <p:nvPr/>
          </p:nvSpPr>
          <p:spPr>
            <a:xfrm>
              <a:off x="7260336" y="5605272"/>
              <a:ext cx="1901952" cy="4480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Methylmalonate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semialdehyde</a:t>
              </a:r>
            </a:p>
          </p:txBody>
        </p:sp>
        <p:sp>
          <p:nvSpPr>
            <p:cNvPr id="518" name="methylmalonate"/>
            <p:cNvSpPr txBox="1"/>
            <p:nvPr/>
          </p:nvSpPr>
          <p:spPr>
            <a:xfrm>
              <a:off x="9409176" y="5952744"/>
              <a:ext cx="1901952" cy="28346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methylmalonate</a:t>
              </a:r>
            </a:p>
          </p:txBody>
        </p:sp>
        <p:sp>
          <p:nvSpPr>
            <p:cNvPr id="519" name="MADH faulty reaction (closed)"/>
            <p:cNvSpPr/>
            <p:nvPr/>
          </p:nvSpPr>
          <p:spPr>
            <a:xfrm>
              <a:off x="7909560" y="6336792"/>
              <a:ext cx="2606040" cy="1"/>
            </a:xfrm>
            <a:custGeom>
              <a:avLst/>
              <a:gdLst/>
              <a:ahLst/>
              <a:cxnLst/>
              <a:rect l="0" t="0" r="r" b="b"/>
              <a:pathLst>
                <a:path w="2606040" h="1" fill="none">
                  <a:moveTo>
                    <a:pt x="0" y="0"/>
                  </a:moveTo>
                  <a:lnTo>
                    <a:pt x="2606040" y="0"/>
                  </a:lnTo>
                </a:path>
              </a:pathLst>
            </a:custGeom>
            <a:noFill/>
            <a:ln w="29845" cap="rnd">
              <a:solidFill>
                <a:srgbClr val="D55E00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0" name="Oval 519"/>
            <p:cNvSpPr/>
            <p:nvPr/>
          </p:nvSpPr>
          <p:spPr>
            <a:xfrm>
              <a:off x="7807147" y="6280099"/>
              <a:ext cx="113386" cy="113386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1" name="Oval 520"/>
            <p:cNvSpPr/>
            <p:nvPr/>
          </p:nvSpPr>
          <p:spPr>
            <a:xfrm>
              <a:off x="10522915" y="6280099"/>
              <a:ext cx="113386" cy="113386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2" name="MADH"/>
            <p:cNvSpPr txBox="1"/>
            <p:nvPr/>
          </p:nvSpPr>
          <p:spPr>
            <a:xfrm>
              <a:off x="8631936" y="6062472"/>
              <a:ext cx="941832" cy="246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1">
                  <a:solidFill>
                    <a:srgbClr val="D55E00"/>
                  </a:solidFill>
                  <a:latin typeface="Liberation Sans"/>
                </a:rPr>
                <a:t>MADH</a:t>
              </a:r>
            </a:p>
          </p:txBody>
        </p:sp>
        <p:sp>
          <p:nvSpPr>
            <p:cNvPr id="523" name="v = +5.000"/>
            <p:cNvSpPr txBox="1"/>
            <p:nvPr/>
          </p:nvSpPr>
          <p:spPr>
            <a:xfrm>
              <a:off x="8558784" y="6437376"/>
              <a:ext cx="1078992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i="0">
                  <a:solidFill>
                    <a:srgbClr val="D55E00"/>
                  </a:solidFill>
                  <a:latin typeface="Liberation Sans"/>
                </a:rPr>
                <a:t>v = +5.000</a:t>
              </a:r>
            </a:p>
          </p:txBody>
        </p:sp>
        <p:sp>
          <p:nvSpPr>
            <p:cNvPr id="524" name="MQC stop"/>
            <p:cNvSpPr/>
            <p:nvPr/>
          </p:nvSpPr>
          <p:spPr>
            <a:xfrm>
              <a:off x="9765792" y="6263640"/>
              <a:ext cx="146304" cy="146304"/>
            </a:xfrm>
            <a:custGeom>
              <a:avLst/>
              <a:gdLst/>
              <a:ahLst/>
              <a:cxnLst/>
              <a:rect l="0" t="0" r="r" b="b"/>
              <a:pathLst>
                <a:path w="146304" h="146304" fill="none">
                  <a:moveTo>
                    <a:pt x="0" y="0"/>
                  </a:moveTo>
                  <a:lnTo>
                    <a:pt x="146304" y="146304"/>
                  </a:lnTo>
                </a:path>
              </a:pathLst>
            </a:custGeom>
            <a:noFill/>
            <a:ln w="33020" cap="rnd">
              <a:solidFill>
                <a:srgbClr val="C43C3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5" name="MQC stop"/>
            <p:cNvSpPr/>
            <p:nvPr/>
          </p:nvSpPr>
          <p:spPr>
            <a:xfrm>
              <a:off x="9765792" y="6263640"/>
              <a:ext cx="146304" cy="146304"/>
            </a:xfrm>
            <a:custGeom>
              <a:avLst/>
              <a:gdLst/>
              <a:ahLst/>
              <a:cxnLst/>
              <a:rect l="0" t="0" r="r" b="b"/>
              <a:pathLst>
                <a:path w="146304" h="146304" fill="none">
                  <a:moveTo>
                    <a:pt x="0" y="146304"/>
                  </a:moveTo>
                  <a:lnTo>
                    <a:pt x="146304" y="0"/>
                  </a:lnTo>
                </a:path>
              </a:pathLst>
            </a:custGeom>
            <a:noFill/>
            <a:ln w="33020" cap="rnd">
              <a:solidFill>
                <a:srgbClr val="C43C3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6" name="closed"/>
            <p:cNvSpPr txBox="1"/>
            <p:nvPr/>
          </p:nvSpPr>
          <p:spPr>
            <a:xfrm>
              <a:off x="10634472" y="6409944"/>
              <a:ext cx="704088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C43C39"/>
                  </a:solidFill>
                  <a:latin typeface="Liberation Sans"/>
                </a:rPr>
                <a:t>closed</a:t>
              </a:r>
            </a:p>
          </p:txBody>
        </p:sp>
        <p:sp>
          <p:nvSpPr>
            <p:cNvPr id="527" name="Metabolic route"/>
            <p:cNvSpPr/>
            <p:nvPr/>
          </p:nvSpPr>
          <p:spPr>
            <a:xfrm>
              <a:off x="8138160" y="6364224"/>
              <a:ext cx="530352" cy="548640"/>
            </a:xfrm>
            <a:custGeom>
              <a:avLst/>
              <a:gdLst/>
              <a:ahLst/>
              <a:cxnLst/>
              <a:rect l="0" t="0" r="r" b="b"/>
              <a:pathLst>
                <a:path w="530352" h="548640" fill="none">
                  <a:moveTo>
                    <a:pt x="0" y="548640"/>
                  </a:moveTo>
                  <a:cubicBezTo>
                    <a:pt x="274320" y="548640"/>
                    <a:pt x="338328" y="219456"/>
                    <a:pt x="530352" y="0"/>
                  </a:cubicBezTo>
                </a:path>
              </a:pathLst>
            </a:custGeom>
            <a:noFill/>
            <a:ln w="15875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8" name="Oval 527"/>
            <p:cNvSpPr/>
            <p:nvPr/>
          </p:nvSpPr>
          <p:spPr>
            <a:xfrm>
              <a:off x="8047634" y="6877202"/>
              <a:ext cx="71323" cy="71323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2C7FB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529" name="NAD⁺"/>
            <p:cNvGrpSpPr/>
            <p:nvPr/>
          </p:nvGrpSpPr>
          <p:grpSpPr>
            <a:xfrm>
              <a:off x="7576211" y="6781419"/>
              <a:ext cx="452221" cy="219456"/>
              <a:chOff x="7576211" y="6781419"/>
              <a:chExt cx="452221" cy="219456"/>
            </a:xfrm>
          </p:grpSpPr>
          <p:sp>
            <p:nvSpPr>
              <p:cNvPr id="530" name="Chemical text: NAD"/>
              <p:cNvSpPr txBox="1"/>
              <p:nvPr/>
            </p:nvSpPr>
            <p:spPr>
              <a:xfrm>
                <a:off x="7576211" y="6815709"/>
                <a:ext cx="380278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NAD</a:t>
                </a:r>
              </a:p>
            </p:txBody>
          </p:sp>
          <p:sp>
            <p:nvSpPr>
              <p:cNvPr id="531" name="Chemical text: +"/>
              <p:cNvSpPr txBox="1"/>
              <p:nvPr/>
            </p:nvSpPr>
            <p:spPr>
              <a:xfrm>
                <a:off x="7938200" y="6781419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+</a:t>
                </a:r>
              </a:p>
            </p:txBody>
          </p:sp>
        </p:grpSp>
        <p:sp>
          <p:nvSpPr>
            <p:cNvPr id="532" name="Metabolic route"/>
            <p:cNvSpPr/>
            <p:nvPr/>
          </p:nvSpPr>
          <p:spPr>
            <a:xfrm>
              <a:off x="9528048" y="6364224"/>
              <a:ext cx="192024" cy="658368"/>
            </a:xfrm>
            <a:custGeom>
              <a:avLst/>
              <a:gdLst/>
              <a:ahLst/>
              <a:cxnLst/>
              <a:rect l="0" t="0" r="r" b="b"/>
              <a:pathLst>
                <a:path w="192024" h="658368" fill="none">
                  <a:moveTo>
                    <a:pt x="128016" y="0"/>
                  </a:moveTo>
                  <a:cubicBezTo>
                    <a:pt x="0" y="320040"/>
                    <a:pt x="0" y="603504"/>
                    <a:pt x="192024" y="658368"/>
                  </a:cubicBezTo>
                </a:path>
              </a:pathLst>
            </a:custGeom>
            <a:noFill/>
            <a:ln w="15875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3" name="Oval 532"/>
            <p:cNvSpPr/>
            <p:nvPr/>
          </p:nvSpPr>
          <p:spPr>
            <a:xfrm>
              <a:off x="9739274" y="6996074"/>
              <a:ext cx="71323" cy="71323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2C7FB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4" name="NADH"/>
            <p:cNvSpPr txBox="1"/>
            <p:nvPr/>
          </p:nvSpPr>
          <p:spPr>
            <a:xfrm>
              <a:off x="9884664" y="6922008"/>
              <a:ext cx="59436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68727D"/>
                  </a:solidFill>
                  <a:latin typeface="Liberation Sans"/>
                </a:rPr>
                <a:t>NADH</a:t>
              </a:r>
            </a:p>
          </p:txBody>
        </p:sp>
        <p:sp>
          <p:nvSpPr>
            <p:cNvPr id="535" name="Metabolic route"/>
            <p:cNvSpPr/>
            <p:nvPr/>
          </p:nvSpPr>
          <p:spPr>
            <a:xfrm>
              <a:off x="9957816" y="6364224"/>
              <a:ext cx="448056" cy="429768"/>
            </a:xfrm>
            <a:custGeom>
              <a:avLst/>
              <a:gdLst/>
              <a:ahLst/>
              <a:cxnLst/>
              <a:rect l="0" t="0" r="r" b="b"/>
              <a:pathLst>
                <a:path w="448056" h="429768" fill="none">
                  <a:moveTo>
                    <a:pt x="0" y="0"/>
                  </a:moveTo>
                  <a:cubicBezTo>
                    <a:pt x="64008" y="256032"/>
                    <a:pt x="356616" y="329184"/>
                    <a:pt x="448056" y="429768"/>
                  </a:cubicBezTo>
                </a:path>
              </a:pathLst>
            </a:custGeom>
            <a:noFill/>
            <a:ln w="13970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6" name="Oval 535"/>
            <p:cNvSpPr/>
            <p:nvPr/>
          </p:nvSpPr>
          <p:spPr>
            <a:xfrm>
              <a:off x="10409530" y="6797650"/>
              <a:ext cx="65837" cy="65837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537" name="CO₂"/>
            <p:cNvGrpSpPr/>
            <p:nvPr/>
          </p:nvGrpSpPr>
          <p:grpSpPr>
            <a:xfrm>
              <a:off x="10561320" y="6733413"/>
              <a:ext cx="343974" cy="233172"/>
              <a:chOff x="10561320" y="6733413"/>
              <a:chExt cx="343974" cy="233172"/>
            </a:xfrm>
          </p:grpSpPr>
          <p:sp>
            <p:nvSpPr>
              <p:cNvPr id="538" name="Chemical text: CO"/>
              <p:cNvSpPr txBox="1"/>
              <p:nvPr/>
            </p:nvSpPr>
            <p:spPr>
              <a:xfrm>
                <a:off x="10561320" y="6733413"/>
                <a:ext cx="275463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CO</a:t>
                </a:r>
              </a:p>
            </p:txBody>
          </p:sp>
          <p:sp>
            <p:nvSpPr>
              <p:cNvPr id="539" name="Chemical text: 2"/>
              <p:cNvSpPr txBox="1"/>
              <p:nvPr/>
            </p:nvSpPr>
            <p:spPr>
              <a:xfrm>
                <a:off x="10818495" y="6781419"/>
                <a:ext cx="86799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2</a:t>
                </a:r>
              </a:p>
            </p:txBody>
          </p:sp>
        </p:grpSp>
        <p:sp>
          <p:nvSpPr>
            <p:cNvPr id="540" name="Rounded Rectangle 539"/>
            <p:cNvSpPr/>
            <p:nvPr/>
          </p:nvSpPr>
          <p:spPr>
            <a:xfrm>
              <a:off x="7461504" y="7269480"/>
              <a:ext cx="2761488" cy="283464"/>
            </a:xfrm>
            <a:prstGeom prst="roundRect">
              <a:avLst/>
            </a:prstGeom>
            <a:solidFill>
              <a:srgbClr val="FCF0E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1" name="Mass / charge imbalance"/>
            <p:cNvSpPr txBox="1"/>
            <p:nvPr/>
          </p:nvSpPr>
          <p:spPr>
            <a:xfrm>
              <a:off x="7479792" y="7269480"/>
              <a:ext cx="2724912" cy="28346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D55E00"/>
                  </a:solidFill>
                  <a:latin typeface="Liberation Sans"/>
                </a:rPr>
                <a:t>Mass / charge imbalance</a:t>
              </a:r>
            </a:p>
          </p:txBody>
        </p:sp>
      </p:grpSp>
      <p:grpSp>
        <p:nvGrpSpPr>
          <p:cNvPr id="542" name="b4_products"/>
          <p:cNvGrpSpPr/>
          <p:nvPr/>
        </p:nvGrpSpPr>
        <p:grpSpPr>
          <a:xfrm>
            <a:off x="7324344" y="6702552"/>
            <a:ext cx="4078224" cy="1947672"/>
            <a:chOff x="7324344" y="6885432"/>
            <a:chExt cx="4078224" cy="1947672"/>
          </a:xfrm>
        </p:grpSpPr>
        <p:sp>
          <p:nvSpPr>
            <p:cNvPr id="543" name="CO2:co2_c&gt;downstream"/>
            <p:cNvSpPr/>
            <p:nvPr/>
          </p:nvSpPr>
          <p:spPr>
            <a:xfrm>
              <a:off x="10442448" y="6885432"/>
              <a:ext cx="1" cy="246888"/>
            </a:xfrm>
            <a:custGeom>
              <a:avLst/>
              <a:gdLst/>
              <a:ahLst/>
              <a:cxnLst/>
              <a:rect l="0" t="0" r="r" b="b"/>
              <a:pathLst>
                <a:path w="1" h="246888" fill="none">
                  <a:moveTo>
                    <a:pt x="0" y="0"/>
                  </a:moveTo>
                  <a:lnTo>
                    <a:pt x="0" y="246888"/>
                  </a:lnTo>
                </a:path>
              </a:pathLst>
            </a:custGeom>
            <a:noFill/>
            <a:ln w="20320" cap="rnd">
              <a:solidFill>
                <a:srgbClr val="4C78A8"/>
              </a:solidFill>
              <a:prstDash val="dash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4" name="Metabolic route"/>
            <p:cNvSpPr/>
            <p:nvPr/>
          </p:nvSpPr>
          <p:spPr>
            <a:xfrm>
              <a:off x="9710928" y="7543800"/>
              <a:ext cx="603504" cy="109728"/>
            </a:xfrm>
            <a:custGeom>
              <a:avLst/>
              <a:gdLst/>
              <a:ahLst/>
              <a:cxnLst/>
              <a:rect l="0" t="0" r="r" b="b"/>
              <a:pathLst>
                <a:path w="603504" h="109728" fill="none">
                  <a:moveTo>
                    <a:pt x="603504" y="0"/>
                  </a:moveTo>
                  <a:cubicBezTo>
                    <a:pt x="374904" y="18288"/>
                    <a:pt x="173736" y="73152"/>
                    <a:pt x="0" y="109728"/>
                  </a:cubicBezTo>
                </a:path>
              </a:pathLst>
            </a:custGeom>
            <a:noFill/>
            <a:ln w="17780" cap="rnd">
              <a:solidFill>
                <a:srgbClr val="4C78A8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545" name="CO₂ pool + NH₄⁺"/>
            <p:cNvGrpSpPr/>
            <p:nvPr/>
          </p:nvGrpSpPr>
          <p:grpSpPr>
            <a:xfrm>
              <a:off x="10349751" y="7175754"/>
              <a:ext cx="715746" cy="418338"/>
              <a:chOff x="10349751" y="7175754"/>
              <a:chExt cx="715746" cy="418338"/>
            </a:xfrm>
          </p:grpSpPr>
          <p:sp>
            <p:nvSpPr>
              <p:cNvPr id="546" name="Chemical text: CO"/>
              <p:cNvSpPr txBox="1"/>
              <p:nvPr/>
            </p:nvSpPr>
            <p:spPr>
              <a:xfrm>
                <a:off x="10349751" y="7175754"/>
                <a:ext cx="275463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CO</a:t>
                </a:r>
              </a:p>
            </p:txBody>
          </p:sp>
          <p:sp>
            <p:nvSpPr>
              <p:cNvPr id="547" name="Chemical text: 2"/>
              <p:cNvSpPr txBox="1"/>
              <p:nvPr/>
            </p:nvSpPr>
            <p:spPr>
              <a:xfrm>
                <a:off x="10606926" y="7223760"/>
                <a:ext cx="86799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2</a:t>
                </a:r>
              </a:p>
            </p:txBody>
          </p:sp>
          <p:sp>
            <p:nvSpPr>
              <p:cNvPr id="548" name="Chemical text:  pool"/>
              <p:cNvSpPr txBox="1"/>
              <p:nvPr/>
            </p:nvSpPr>
            <p:spPr>
              <a:xfrm>
                <a:off x="10675436" y="7175754"/>
                <a:ext cx="390061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 pool</a:t>
                </a:r>
              </a:p>
            </p:txBody>
          </p:sp>
          <p:sp>
            <p:nvSpPr>
              <p:cNvPr id="549" name="Chemical text: + NH"/>
              <p:cNvSpPr txBox="1"/>
              <p:nvPr/>
            </p:nvSpPr>
            <p:spPr>
              <a:xfrm>
                <a:off x="10430560" y="7360920"/>
                <a:ext cx="413675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+ NH</a:t>
                </a:r>
              </a:p>
            </p:txBody>
          </p:sp>
          <p:sp>
            <p:nvSpPr>
              <p:cNvPr id="550" name="Chemical text: 4"/>
              <p:cNvSpPr txBox="1"/>
              <p:nvPr/>
            </p:nvSpPr>
            <p:spPr>
              <a:xfrm>
                <a:off x="10825946" y="7408926"/>
                <a:ext cx="86799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4</a:t>
                </a:r>
              </a:p>
            </p:txBody>
          </p:sp>
          <p:sp>
            <p:nvSpPr>
              <p:cNvPr id="551" name="Chemical text: +"/>
              <p:cNvSpPr txBox="1"/>
              <p:nvPr/>
            </p:nvSpPr>
            <p:spPr>
              <a:xfrm>
                <a:off x="10894457" y="7326630"/>
                <a:ext cx="9023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+</a:t>
                </a:r>
              </a:p>
            </p:txBody>
          </p:sp>
        </p:grpSp>
        <p:sp>
          <p:nvSpPr>
            <p:cNvPr id="552" name="Oval 551"/>
            <p:cNvSpPr/>
            <p:nvPr/>
          </p:nvSpPr>
          <p:spPr>
            <a:xfrm>
              <a:off x="9688068" y="7630668"/>
              <a:ext cx="45720" cy="45720"/>
            </a:xfrm>
            <a:prstGeom prst="ellipse">
              <a:avLst/>
            </a:prstGeom>
            <a:solidFill>
              <a:srgbClr val="4C78A8"/>
            </a:solidFill>
            <a:ln w="762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Metabolic route"/>
            <p:cNvSpPr/>
            <p:nvPr/>
          </p:nvSpPr>
          <p:spPr>
            <a:xfrm>
              <a:off x="8330184" y="7653528"/>
              <a:ext cx="1380744" cy="521208"/>
            </a:xfrm>
            <a:custGeom>
              <a:avLst/>
              <a:gdLst/>
              <a:ahLst/>
              <a:cxnLst/>
              <a:rect l="0" t="0" r="r" b="b"/>
              <a:pathLst>
                <a:path w="1380744" h="521208" fill="none">
                  <a:moveTo>
                    <a:pt x="1380744" y="0"/>
                  </a:moveTo>
                  <a:cubicBezTo>
                    <a:pt x="868680" y="73152"/>
                    <a:pt x="356616" y="210312"/>
                    <a:pt x="0" y="521208"/>
                  </a:cubicBezTo>
                </a:path>
              </a:pathLst>
            </a:custGeom>
            <a:noFill/>
            <a:ln w="25400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ALPHNH:model-derived separate-objective branch"/>
            <p:cNvSpPr/>
            <p:nvPr/>
          </p:nvSpPr>
          <p:spPr>
            <a:xfrm>
              <a:off x="9710928" y="7653528"/>
              <a:ext cx="996696" cy="521208"/>
            </a:xfrm>
            <a:custGeom>
              <a:avLst/>
              <a:gdLst/>
              <a:ahLst/>
              <a:cxnLst/>
              <a:rect l="0" t="0" r="r" b="b"/>
              <a:pathLst>
                <a:path w="996696" h="521208" fill="none">
                  <a:moveTo>
                    <a:pt x="0" y="0"/>
                  </a:moveTo>
                  <a:cubicBezTo>
                    <a:pt x="484632" y="45720"/>
                    <a:pt x="868680" y="228600"/>
                    <a:pt x="996696" y="521208"/>
                  </a:cubicBezTo>
                </a:path>
              </a:pathLst>
            </a:custGeom>
            <a:noFill/>
            <a:ln w="25400" cap="rnd">
              <a:solidFill>
                <a:srgbClr val="4C78A8"/>
              </a:solidFill>
              <a:prstDash val="dash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UREA (reverse)"/>
            <p:cNvSpPr txBox="1"/>
            <p:nvPr/>
          </p:nvSpPr>
          <p:spPr>
            <a:xfrm>
              <a:off x="7324344" y="7626096"/>
              <a:ext cx="1307592" cy="4297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i="1">
                  <a:solidFill>
                    <a:srgbClr val="4C78A8"/>
                  </a:solidFill>
                  <a:latin typeface="Liberation Sans"/>
                </a:rPr>
                <a:t>UREA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i="1">
                  <a:solidFill>
                    <a:srgbClr val="4C78A8"/>
                  </a:solidFill>
                  <a:latin typeface="Liberation Sans"/>
                </a:rPr>
                <a:t>(reverse)</a:t>
              </a:r>
            </a:p>
          </p:txBody>
        </p:sp>
        <p:sp>
          <p:nvSpPr>
            <p:cNvPr id="556" name="ALPHNH (reverse)"/>
            <p:cNvSpPr txBox="1"/>
            <p:nvPr/>
          </p:nvSpPr>
          <p:spPr>
            <a:xfrm>
              <a:off x="10497312" y="7534656"/>
              <a:ext cx="841248" cy="4297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i="1">
                  <a:solidFill>
                    <a:srgbClr val="4C78A8"/>
                  </a:solidFill>
                  <a:latin typeface="Liberation Sans"/>
                </a:rPr>
                <a:t>ALPHNH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i="1">
                  <a:solidFill>
                    <a:srgbClr val="4C78A8"/>
                  </a:solidFill>
                  <a:latin typeface="Liberation Sans"/>
                </a:rPr>
                <a:t>(reverse)</a:t>
              </a:r>
            </a:p>
          </p:txBody>
        </p:sp>
        <p:sp>
          <p:nvSpPr>
            <p:cNvPr id="557" name="Oval 556"/>
            <p:cNvSpPr/>
            <p:nvPr/>
          </p:nvSpPr>
          <p:spPr>
            <a:xfrm>
              <a:off x="8229600" y="8174736"/>
              <a:ext cx="109728" cy="109728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009E73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8" name="Oval 557"/>
            <p:cNvSpPr/>
            <p:nvPr/>
          </p:nvSpPr>
          <p:spPr>
            <a:xfrm>
              <a:off x="10671048" y="8174736"/>
              <a:ext cx="109728" cy="109728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7B6FD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9" name="Urea"/>
            <p:cNvSpPr txBox="1"/>
            <p:nvPr/>
          </p:nvSpPr>
          <p:spPr>
            <a:xfrm>
              <a:off x="7827264" y="8321040"/>
              <a:ext cx="914400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Urea</a:t>
              </a:r>
            </a:p>
          </p:txBody>
        </p:sp>
        <p:sp>
          <p:nvSpPr>
            <p:cNvPr id="560" name="Allophanate"/>
            <p:cNvSpPr txBox="1"/>
            <p:nvPr/>
          </p:nvSpPr>
          <p:spPr>
            <a:xfrm>
              <a:off x="10049256" y="8321040"/>
              <a:ext cx="1353312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Allophanate</a:t>
              </a:r>
            </a:p>
          </p:txBody>
        </p:sp>
        <p:sp>
          <p:nvSpPr>
            <p:cNvPr id="561" name="5.000"/>
            <p:cNvSpPr txBox="1"/>
            <p:nvPr/>
          </p:nvSpPr>
          <p:spPr>
            <a:xfrm>
              <a:off x="7854696" y="8586216"/>
              <a:ext cx="859536" cy="246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5.000</a:t>
              </a:r>
            </a:p>
          </p:txBody>
        </p:sp>
        <p:sp>
          <p:nvSpPr>
            <p:cNvPr id="562" name="5.000"/>
            <p:cNvSpPr txBox="1"/>
            <p:nvPr/>
          </p:nvSpPr>
          <p:spPr>
            <a:xfrm>
              <a:off x="10296144" y="8586216"/>
              <a:ext cx="859536" cy="246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i="0">
                  <a:solidFill>
                    <a:srgbClr val="20262E"/>
                  </a:solidFill>
                  <a:latin typeface="Liberation Sans"/>
                </a:rPr>
                <a:t>5.000</a:t>
              </a:r>
            </a:p>
          </p:txBody>
        </p:sp>
      </p:grpSp>
      <p:grpSp>
        <p:nvGrpSpPr>
          <p:cNvPr id="563" name="c_data_driven_validation"/>
          <p:cNvGrpSpPr/>
          <p:nvPr/>
        </p:nvGrpSpPr>
        <p:grpSpPr>
          <a:xfrm>
            <a:off x="11567160" y="228600"/>
            <a:ext cx="2926080" cy="8540496"/>
            <a:chOff x="11567160" y="228600"/>
            <a:chExt cx="2926080" cy="8540496"/>
          </a:xfrm>
        </p:grpSpPr>
        <p:pic>
          <p:nvPicPr>
            <p:cNvPr id="564" name="Post-MQC validation — regenerated from archived CSV data" descr="Fig4_panel_c_post_QC_validation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67160" y="374904"/>
              <a:ext cx="2926080" cy="8394192"/>
            </a:xfrm>
            <a:prstGeom prst="rect">
              <a:avLst/>
            </a:prstGeom>
          </p:spPr>
        </p:pic>
        <p:sp>
          <p:nvSpPr>
            <p:cNvPr id="565" name="c"/>
            <p:cNvSpPr txBox="1"/>
            <p:nvPr/>
          </p:nvSpPr>
          <p:spPr>
            <a:xfrm>
              <a:off x="11594592" y="228600"/>
              <a:ext cx="246888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 i="0">
                  <a:solidFill>
                    <a:srgbClr val="20262E"/>
                  </a:solidFill>
                  <a:latin typeface="Liberation Sans"/>
                </a:rPr>
                <a:t>c</a:t>
              </a:r>
            </a:p>
          </p:txBody>
        </p:sp>
      </p:grpSp>
      <p:grpSp>
        <p:nvGrpSpPr>
          <p:cNvPr id="566" name="legend"/>
          <p:cNvGrpSpPr/>
          <p:nvPr/>
        </p:nvGrpSpPr>
        <p:grpSpPr>
          <a:xfrm>
            <a:off x="320040" y="8970264"/>
            <a:ext cx="14173200" cy="514350"/>
            <a:chOff x="320040" y="8970264"/>
            <a:chExt cx="14173200" cy="514350"/>
          </a:xfrm>
        </p:grpSpPr>
        <p:sp>
          <p:nvSpPr>
            <p:cNvPr id="567" name="Metabolic route"/>
            <p:cNvSpPr/>
            <p:nvPr/>
          </p:nvSpPr>
          <p:spPr>
            <a:xfrm>
              <a:off x="320040" y="8970264"/>
              <a:ext cx="14173200" cy="1"/>
            </a:xfrm>
            <a:custGeom>
              <a:avLst/>
              <a:gdLst/>
              <a:ahLst/>
              <a:cxnLst/>
              <a:rect l="0" t="0" r="r" b="b"/>
              <a:pathLst>
                <a:path w="14173200" h="1" fill="none">
                  <a:moveTo>
                    <a:pt x="0" y="0"/>
                  </a:moveTo>
                  <a:lnTo>
                    <a:pt x="14173200" y="0"/>
                  </a:lnTo>
                </a:path>
              </a:pathLst>
            </a:custGeom>
            <a:noFill/>
            <a:ln w="9525" cap="rnd">
              <a:solidFill>
                <a:srgbClr val="D7DCE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8" name="Metabolic route"/>
            <p:cNvSpPr/>
            <p:nvPr/>
          </p:nvSpPr>
          <p:spPr>
            <a:xfrm>
              <a:off x="411480" y="9244584"/>
              <a:ext cx="320040" cy="1"/>
            </a:xfrm>
            <a:custGeom>
              <a:avLst/>
              <a:gdLst/>
              <a:ahLst/>
              <a:cxnLst/>
              <a:rect l="0" t="0" r="r" b="b"/>
              <a:pathLst>
                <a:path w="320040" h="1" fill="none">
                  <a:moveTo>
                    <a:pt x="0" y="0"/>
                  </a:moveTo>
                  <a:lnTo>
                    <a:pt x="320040" y="0"/>
                  </a:lnTo>
                </a:path>
              </a:pathLst>
            </a:custGeom>
            <a:noFill/>
            <a:ln w="22860" cap="rnd">
              <a:solidFill>
                <a:srgbClr val="4C78A8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9" name="Active pFBA route"/>
            <p:cNvSpPr txBox="1"/>
            <p:nvPr/>
          </p:nvSpPr>
          <p:spPr>
            <a:xfrm>
              <a:off x="813816" y="9107424"/>
              <a:ext cx="1609344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20262E"/>
                  </a:solidFill>
                  <a:latin typeface="Liberation Sans"/>
                </a:rPr>
                <a:t>Active pFBA route</a:t>
              </a:r>
            </a:p>
          </p:txBody>
        </p:sp>
        <p:sp>
          <p:nvSpPr>
            <p:cNvPr id="570" name="Metabolic route"/>
            <p:cNvSpPr/>
            <p:nvPr/>
          </p:nvSpPr>
          <p:spPr>
            <a:xfrm>
              <a:off x="2569464" y="9244584"/>
              <a:ext cx="301752" cy="1"/>
            </a:xfrm>
            <a:custGeom>
              <a:avLst/>
              <a:gdLst/>
              <a:ahLst/>
              <a:cxnLst/>
              <a:rect l="0" t="0" r="r" b="b"/>
              <a:pathLst>
                <a:path w="301752" h="1" fill="none">
                  <a:moveTo>
                    <a:pt x="0" y="0"/>
                  </a:moveTo>
                  <a:lnTo>
                    <a:pt x="301752" y="0"/>
                  </a:lnTo>
                </a:path>
              </a:pathLst>
            </a:custGeom>
            <a:noFill/>
            <a:ln w="27940" cap="rnd">
              <a:solidFill>
                <a:srgbClr val="D55E00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1" name="Problematic reaction"/>
            <p:cNvSpPr txBox="1"/>
            <p:nvPr/>
          </p:nvSpPr>
          <p:spPr>
            <a:xfrm>
              <a:off x="2953512" y="9107424"/>
              <a:ext cx="1764792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20262E"/>
                  </a:solidFill>
                  <a:latin typeface="Liberation Sans"/>
                </a:rPr>
                <a:t>Problematic reaction</a:t>
              </a:r>
            </a:p>
          </p:txBody>
        </p:sp>
        <p:sp>
          <p:nvSpPr>
            <p:cNvPr id="572" name="MQC stop"/>
            <p:cNvSpPr/>
            <p:nvPr/>
          </p:nvSpPr>
          <p:spPr>
            <a:xfrm>
              <a:off x="4906670" y="9186062"/>
              <a:ext cx="117043" cy="117043"/>
            </a:xfrm>
            <a:custGeom>
              <a:avLst/>
              <a:gdLst/>
              <a:ahLst/>
              <a:cxnLst/>
              <a:rect l="0" t="0" r="r" b="b"/>
              <a:pathLst>
                <a:path w="117043" h="117043" fill="none">
                  <a:moveTo>
                    <a:pt x="0" y="0"/>
                  </a:moveTo>
                  <a:lnTo>
                    <a:pt x="117043" y="117043"/>
                  </a:lnTo>
                </a:path>
              </a:pathLst>
            </a:custGeom>
            <a:noFill/>
            <a:ln w="33020" cap="rnd">
              <a:solidFill>
                <a:srgbClr val="C43C3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3" name="MQC stop"/>
            <p:cNvSpPr/>
            <p:nvPr/>
          </p:nvSpPr>
          <p:spPr>
            <a:xfrm>
              <a:off x="4906670" y="9186062"/>
              <a:ext cx="117043" cy="117043"/>
            </a:xfrm>
            <a:custGeom>
              <a:avLst/>
              <a:gdLst/>
              <a:ahLst/>
              <a:cxnLst/>
              <a:rect l="0" t="0" r="r" b="b"/>
              <a:pathLst>
                <a:path w="117043" h="117043" fill="none">
                  <a:moveTo>
                    <a:pt x="0" y="117043"/>
                  </a:moveTo>
                  <a:lnTo>
                    <a:pt x="117043" y="0"/>
                  </a:lnTo>
                </a:path>
              </a:pathLst>
            </a:custGeom>
            <a:noFill/>
            <a:ln w="33020" cap="rnd">
              <a:solidFill>
                <a:srgbClr val="C43C3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4" name="MQC stop"/>
            <p:cNvSpPr txBox="1"/>
            <p:nvPr/>
          </p:nvSpPr>
          <p:spPr>
            <a:xfrm>
              <a:off x="5102352" y="9107424"/>
              <a:ext cx="1060704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20262E"/>
                  </a:solidFill>
                  <a:latin typeface="Liberation Sans"/>
                </a:rPr>
                <a:t>MQC stop</a:t>
              </a:r>
            </a:p>
          </p:txBody>
        </p:sp>
        <p:sp>
          <p:nvSpPr>
            <p:cNvPr id="575" name="Oval 574"/>
            <p:cNvSpPr/>
            <p:nvPr/>
          </p:nvSpPr>
          <p:spPr>
            <a:xfrm>
              <a:off x="6362395" y="9197035"/>
              <a:ext cx="95098" cy="95098"/>
            </a:xfrm>
            <a:prstGeom prst="ellipse">
              <a:avLst/>
            </a:prstGeom>
            <a:solidFill>
              <a:srgbClr val="FFFFFF"/>
            </a:solidFill>
            <a:ln w="14604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6" name="Metabolite"/>
            <p:cNvSpPr txBox="1"/>
            <p:nvPr/>
          </p:nvSpPr>
          <p:spPr>
            <a:xfrm>
              <a:off x="6547104" y="9107424"/>
              <a:ext cx="1042416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20262E"/>
                  </a:solidFill>
                  <a:latin typeface="Liberation Sans"/>
                </a:rPr>
                <a:t>Metabolite</a:t>
              </a:r>
            </a:p>
          </p:txBody>
        </p:sp>
        <p:sp>
          <p:nvSpPr>
            <p:cNvPr id="577" name="Phospholipid tail"/>
            <p:cNvSpPr/>
            <p:nvPr/>
          </p:nvSpPr>
          <p:spPr>
            <a:xfrm>
              <a:off x="7819949" y="9184234"/>
              <a:ext cx="11887" cy="51206"/>
            </a:xfrm>
            <a:custGeom>
              <a:avLst/>
              <a:gdLst/>
              <a:ahLst/>
              <a:cxnLst/>
              <a:rect l="0" t="0" r="r" b="b"/>
              <a:pathLst>
                <a:path w="11887" h="51206" fill="none">
                  <a:moveTo>
                    <a:pt x="0" y="0"/>
                  </a:moveTo>
                  <a:lnTo>
                    <a:pt x="0" y="23774"/>
                  </a:lnTo>
                  <a:lnTo>
                    <a:pt x="11887" y="5120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8" name="Phospholipid tail"/>
            <p:cNvSpPr/>
            <p:nvPr/>
          </p:nvSpPr>
          <p:spPr>
            <a:xfrm>
              <a:off x="7852867" y="9184234"/>
              <a:ext cx="11887" cy="51206"/>
            </a:xfrm>
            <a:custGeom>
              <a:avLst/>
              <a:gdLst/>
              <a:ahLst/>
              <a:cxnLst/>
              <a:rect l="0" t="0" r="r" b="b"/>
              <a:pathLst>
                <a:path w="11887" h="51206" fill="none">
                  <a:moveTo>
                    <a:pt x="0" y="0"/>
                  </a:moveTo>
                  <a:lnTo>
                    <a:pt x="0" y="23774"/>
                  </a:lnTo>
                  <a:lnTo>
                    <a:pt x="11887" y="5120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9" name="Oval 578"/>
            <p:cNvSpPr/>
            <p:nvPr/>
          </p:nvSpPr>
          <p:spPr>
            <a:xfrm>
              <a:off x="7805318" y="9122054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0" name="Phospholipid tail"/>
            <p:cNvSpPr/>
            <p:nvPr/>
          </p:nvSpPr>
          <p:spPr>
            <a:xfrm>
              <a:off x="7819949" y="9253728"/>
              <a:ext cx="11887" cy="51206"/>
            </a:xfrm>
            <a:custGeom>
              <a:avLst/>
              <a:gdLst/>
              <a:ahLst/>
              <a:cxnLst/>
              <a:rect l="0" t="0" r="r" b="b"/>
              <a:pathLst>
                <a:path w="11887" h="51206" fill="none">
                  <a:moveTo>
                    <a:pt x="0" y="51206"/>
                  </a:moveTo>
                  <a:lnTo>
                    <a:pt x="0" y="27432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1" name="Phospholipid tail"/>
            <p:cNvSpPr/>
            <p:nvPr/>
          </p:nvSpPr>
          <p:spPr>
            <a:xfrm>
              <a:off x="7852867" y="9253728"/>
              <a:ext cx="11887" cy="51206"/>
            </a:xfrm>
            <a:custGeom>
              <a:avLst/>
              <a:gdLst/>
              <a:ahLst/>
              <a:cxnLst/>
              <a:rect l="0" t="0" r="r" b="b"/>
              <a:pathLst>
                <a:path w="11887" h="51206" fill="none">
                  <a:moveTo>
                    <a:pt x="0" y="51206"/>
                  </a:moveTo>
                  <a:lnTo>
                    <a:pt x="0" y="27432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2" name="Oval 581"/>
            <p:cNvSpPr/>
            <p:nvPr/>
          </p:nvSpPr>
          <p:spPr>
            <a:xfrm>
              <a:off x="7805318" y="9304934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3" name="Phospholipid tail"/>
            <p:cNvSpPr/>
            <p:nvPr/>
          </p:nvSpPr>
          <p:spPr>
            <a:xfrm>
              <a:off x="7897673" y="9184234"/>
              <a:ext cx="11887" cy="51206"/>
            </a:xfrm>
            <a:custGeom>
              <a:avLst/>
              <a:gdLst/>
              <a:ahLst/>
              <a:cxnLst/>
              <a:rect l="0" t="0" r="r" b="b"/>
              <a:pathLst>
                <a:path w="11887" h="51206" fill="none">
                  <a:moveTo>
                    <a:pt x="0" y="0"/>
                  </a:moveTo>
                  <a:lnTo>
                    <a:pt x="0" y="23774"/>
                  </a:lnTo>
                  <a:lnTo>
                    <a:pt x="11887" y="5120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4" name="Phospholipid tail"/>
            <p:cNvSpPr/>
            <p:nvPr/>
          </p:nvSpPr>
          <p:spPr>
            <a:xfrm>
              <a:off x="7930591" y="9184234"/>
              <a:ext cx="11887" cy="51206"/>
            </a:xfrm>
            <a:custGeom>
              <a:avLst/>
              <a:gdLst/>
              <a:ahLst/>
              <a:cxnLst/>
              <a:rect l="0" t="0" r="r" b="b"/>
              <a:pathLst>
                <a:path w="11887" h="51206" fill="none">
                  <a:moveTo>
                    <a:pt x="0" y="0"/>
                  </a:moveTo>
                  <a:lnTo>
                    <a:pt x="0" y="23774"/>
                  </a:lnTo>
                  <a:lnTo>
                    <a:pt x="11887" y="5120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5" name="Oval 584"/>
            <p:cNvSpPr/>
            <p:nvPr/>
          </p:nvSpPr>
          <p:spPr>
            <a:xfrm>
              <a:off x="7883042" y="9122054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6" name="Phospholipid tail"/>
            <p:cNvSpPr/>
            <p:nvPr/>
          </p:nvSpPr>
          <p:spPr>
            <a:xfrm>
              <a:off x="7897673" y="9253728"/>
              <a:ext cx="11887" cy="51206"/>
            </a:xfrm>
            <a:custGeom>
              <a:avLst/>
              <a:gdLst/>
              <a:ahLst/>
              <a:cxnLst/>
              <a:rect l="0" t="0" r="r" b="b"/>
              <a:pathLst>
                <a:path w="11887" h="51206" fill="none">
                  <a:moveTo>
                    <a:pt x="0" y="51206"/>
                  </a:moveTo>
                  <a:lnTo>
                    <a:pt x="0" y="27432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7" name="Phospholipid tail"/>
            <p:cNvSpPr/>
            <p:nvPr/>
          </p:nvSpPr>
          <p:spPr>
            <a:xfrm>
              <a:off x="7930591" y="9253728"/>
              <a:ext cx="11887" cy="51206"/>
            </a:xfrm>
            <a:custGeom>
              <a:avLst/>
              <a:gdLst/>
              <a:ahLst/>
              <a:cxnLst/>
              <a:rect l="0" t="0" r="r" b="b"/>
              <a:pathLst>
                <a:path w="11887" h="51206" fill="none">
                  <a:moveTo>
                    <a:pt x="0" y="51206"/>
                  </a:moveTo>
                  <a:lnTo>
                    <a:pt x="0" y="27432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8" name="Oval 587"/>
            <p:cNvSpPr/>
            <p:nvPr/>
          </p:nvSpPr>
          <p:spPr>
            <a:xfrm>
              <a:off x="7883042" y="9304934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9" name="Phospholipid tail"/>
            <p:cNvSpPr/>
            <p:nvPr/>
          </p:nvSpPr>
          <p:spPr>
            <a:xfrm>
              <a:off x="7975397" y="9184234"/>
              <a:ext cx="11887" cy="51206"/>
            </a:xfrm>
            <a:custGeom>
              <a:avLst/>
              <a:gdLst/>
              <a:ahLst/>
              <a:cxnLst/>
              <a:rect l="0" t="0" r="r" b="b"/>
              <a:pathLst>
                <a:path w="11887" h="51206" fill="none">
                  <a:moveTo>
                    <a:pt x="0" y="0"/>
                  </a:moveTo>
                  <a:lnTo>
                    <a:pt x="0" y="23774"/>
                  </a:lnTo>
                  <a:lnTo>
                    <a:pt x="11887" y="5120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0" name="Phospholipid tail"/>
            <p:cNvSpPr/>
            <p:nvPr/>
          </p:nvSpPr>
          <p:spPr>
            <a:xfrm>
              <a:off x="8008315" y="9184234"/>
              <a:ext cx="11887" cy="51206"/>
            </a:xfrm>
            <a:custGeom>
              <a:avLst/>
              <a:gdLst/>
              <a:ahLst/>
              <a:cxnLst/>
              <a:rect l="0" t="0" r="r" b="b"/>
              <a:pathLst>
                <a:path w="11887" h="51206" fill="none">
                  <a:moveTo>
                    <a:pt x="0" y="0"/>
                  </a:moveTo>
                  <a:lnTo>
                    <a:pt x="0" y="23774"/>
                  </a:lnTo>
                  <a:lnTo>
                    <a:pt x="11887" y="5120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1" name="Oval 590"/>
            <p:cNvSpPr/>
            <p:nvPr/>
          </p:nvSpPr>
          <p:spPr>
            <a:xfrm>
              <a:off x="7960766" y="9122054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2" name="Phospholipid tail"/>
            <p:cNvSpPr/>
            <p:nvPr/>
          </p:nvSpPr>
          <p:spPr>
            <a:xfrm>
              <a:off x="7975397" y="9253728"/>
              <a:ext cx="11887" cy="51206"/>
            </a:xfrm>
            <a:custGeom>
              <a:avLst/>
              <a:gdLst/>
              <a:ahLst/>
              <a:cxnLst/>
              <a:rect l="0" t="0" r="r" b="b"/>
              <a:pathLst>
                <a:path w="11887" h="51206" fill="none">
                  <a:moveTo>
                    <a:pt x="0" y="51206"/>
                  </a:moveTo>
                  <a:lnTo>
                    <a:pt x="0" y="27432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3" name="Phospholipid tail"/>
            <p:cNvSpPr/>
            <p:nvPr/>
          </p:nvSpPr>
          <p:spPr>
            <a:xfrm>
              <a:off x="8008315" y="9253728"/>
              <a:ext cx="11887" cy="51206"/>
            </a:xfrm>
            <a:custGeom>
              <a:avLst/>
              <a:gdLst/>
              <a:ahLst/>
              <a:cxnLst/>
              <a:rect l="0" t="0" r="r" b="b"/>
              <a:pathLst>
                <a:path w="11887" h="51206" fill="none">
                  <a:moveTo>
                    <a:pt x="0" y="51206"/>
                  </a:moveTo>
                  <a:lnTo>
                    <a:pt x="0" y="27432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4" name="Oval 593"/>
            <p:cNvSpPr/>
            <p:nvPr/>
          </p:nvSpPr>
          <p:spPr>
            <a:xfrm>
              <a:off x="7960766" y="9304934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5" name="Phospholipid tail"/>
            <p:cNvSpPr/>
            <p:nvPr/>
          </p:nvSpPr>
          <p:spPr>
            <a:xfrm>
              <a:off x="8053121" y="9184234"/>
              <a:ext cx="11887" cy="51206"/>
            </a:xfrm>
            <a:custGeom>
              <a:avLst/>
              <a:gdLst/>
              <a:ahLst/>
              <a:cxnLst/>
              <a:rect l="0" t="0" r="r" b="b"/>
              <a:pathLst>
                <a:path w="11887" h="51206" fill="none">
                  <a:moveTo>
                    <a:pt x="0" y="0"/>
                  </a:moveTo>
                  <a:lnTo>
                    <a:pt x="0" y="23774"/>
                  </a:lnTo>
                  <a:lnTo>
                    <a:pt x="11887" y="5120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6" name="Phospholipid tail"/>
            <p:cNvSpPr/>
            <p:nvPr/>
          </p:nvSpPr>
          <p:spPr>
            <a:xfrm>
              <a:off x="8086039" y="9184234"/>
              <a:ext cx="11887" cy="51206"/>
            </a:xfrm>
            <a:custGeom>
              <a:avLst/>
              <a:gdLst/>
              <a:ahLst/>
              <a:cxnLst/>
              <a:rect l="0" t="0" r="r" b="b"/>
              <a:pathLst>
                <a:path w="11887" h="51206" fill="none">
                  <a:moveTo>
                    <a:pt x="0" y="0"/>
                  </a:moveTo>
                  <a:lnTo>
                    <a:pt x="0" y="23774"/>
                  </a:lnTo>
                  <a:lnTo>
                    <a:pt x="11887" y="5120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7" name="Oval 596"/>
            <p:cNvSpPr/>
            <p:nvPr/>
          </p:nvSpPr>
          <p:spPr>
            <a:xfrm>
              <a:off x="8038490" y="9122054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8" name="Phospholipid tail"/>
            <p:cNvSpPr/>
            <p:nvPr/>
          </p:nvSpPr>
          <p:spPr>
            <a:xfrm>
              <a:off x="8053121" y="9253728"/>
              <a:ext cx="11887" cy="51206"/>
            </a:xfrm>
            <a:custGeom>
              <a:avLst/>
              <a:gdLst/>
              <a:ahLst/>
              <a:cxnLst/>
              <a:rect l="0" t="0" r="r" b="b"/>
              <a:pathLst>
                <a:path w="11887" h="51206" fill="none">
                  <a:moveTo>
                    <a:pt x="0" y="51206"/>
                  </a:moveTo>
                  <a:lnTo>
                    <a:pt x="0" y="27432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9" name="Phospholipid tail"/>
            <p:cNvSpPr/>
            <p:nvPr/>
          </p:nvSpPr>
          <p:spPr>
            <a:xfrm>
              <a:off x="8086039" y="9253728"/>
              <a:ext cx="11887" cy="51206"/>
            </a:xfrm>
            <a:custGeom>
              <a:avLst/>
              <a:gdLst/>
              <a:ahLst/>
              <a:cxnLst/>
              <a:rect l="0" t="0" r="r" b="b"/>
              <a:pathLst>
                <a:path w="11887" h="51206" fill="none">
                  <a:moveTo>
                    <a:pt x="0" y="51206"/>
                  </a:moveTo>
                  <a:lnTo>
                    <a:pt x="0" y="27432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0" name="Oval 599"/>
            <p:cNvSpPr/>
            <p:nvPr/>
          </p:nvSpPr>
          <p:spPr>
            <a:xfrm>
              <a:off x="8038490" y="9304934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1" name="Phospholipid tail"/>
            <p:cNvSpPr/>
            <p:nvPr/>
          </p:nvSpPr>
          <p:spPr>
            <a:xfrm>
              <a:off x="8130845" y="9184234"/>
              <a:ext cx="11887" cy="51206"/>
            </a:xfrm>
            <a:custGeom>
              <a:avLst/>
              <a:gdLst/>
              <a:ahLst/>
              <a:cxnLst/>
              <a:rect l="0" t="0" r="r" b="b"/>
              <a:pathLst>
                <a:path w="11887" h="51206" fill="none">
                  <a:moveTo>
                    <a:pt x="0" y="0"/>
                  </a:moveTo>
                  <a:lnTo>
                    <a:pt x="0" y="23774"/>
                  </a:lnTo>
                  <a:lnTo>
                    <a:pt x="11887" y="5120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2" name="Phospholipid tail"/>
            <p:cNvSpPr/>
            <p:nvPr/>
          </p:nvSpPr>
          <p:spPr>
            <a:xfrm>
              <a:off x="8163763" y="9184234"/>
              <a:ext cx="11887" cy="51206"/>
            </a:xfrm>
            <a:custGeom>
              <a:avLst/>
              <a:gdLst/>
              <a:ahLst/>
              <a:cxnLst/>
              <a:rect l="0" t="0" r="r" b="b"/>
              <a:pathLst>
                <a:path w="11887" h="51206" fill="none">
                  <a:moveTo>
                    <a:pt x="0" y="0"/>
                  </a:moveTo>
                  <a:lnTo>
                    <a:pt x="0" y="23774"/>
                  </a:lnTo>
                  <a:lnTo>
                    <a:pt x="11887" y="51206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3" name="Oval 602"/>
            <p:cNvSpPr/>
            <p:nvPr/>
          </p:nvSpPr>
          <p:spPr>
            <a:xfrm>
              <a:off x="8116214" y="9122054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4" name="Phospholipid tail"/>
            <p:cNvSpPr/>
            <p:nvPr/>
          </p:nvSpPr>
          <p:spPr>
            <a:xfrm>
              <a:off x="8130845" y="9253728"/>
              <a:ext cx="11887" cy="51206"/>
            </a:xfrm>
            <a:custGeom>
              <a:avLst/>
              <a:gdLst/>
              <a:ahLst/>
              <a:cxnLst/>
              <a:rect l="0" t="0" r="r" b="b"/>
              <a:pathLst>
                <a:path w="11887" h="51206" fill="none">
                  <a:moveTo>
                    <a:pt x="0" y="51206"/>
                  </a:moveTo>
                  <a:lnTo>
                    <a:pt x="0" y="27432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5" name="Phospholipid tail"/>
            <p:cNvSpPr/>
            <p:nvPr/>
          </p:nvSpPr>
          <p:spPr>
            <a:xfrm>
              <a:off x="8163763" y="9253728"/>
              <a:ext cx="11887" cy="51206"/>
            </a:xfrm>
            <a:custGeom>
              <a:avLst/>
              <a:gdLst/>
              <a:ahLst/>
              <a:cxnLst/>
              <a:rect l="0" t="0" r="r" b="b"/>
              <a:pathLst>
                <a:path w="11887" h="51206" fill="none">
                  <a:moveTo>
                    <a:pt x="0" y="51206"/>
                  </a:moveTo>
                  <a:lnTo>
                    <a:pt x="0" y="27432"/>
                  </a:lnTo>
                  <a:lnTo>
                    <a:pt x="11887" y="0"/>
                  </a:lnTo>
                </a:path>
              </a:pathLst>
            </a:custGeom>
            <a:noFill/>
            <a:ln w="8890" cap="rnd">
              <a:solidFill>
                <a:srgbClr val="68727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6" name="Oval 605"/>
            <p:cNvSpPr/>
            <p:nvPr/>
          </p:nvSpPr>
          <p:spPr>
            <a:xfrm>
              <a:off x="8116214" y="9304934"/>
              <a:ext cx="62179" cy="62179"/>
            </a:xfrm>
            <a:prstGeom prst="ellipse">
              <a:avLst/>
            </a:prstGeom>
            <a:solidFill>
              <a:srgbClr val="EDF4FA"/>
            </a:solidFill>
            <a:ln w="10160">
              <a:solidFill>
                <a:srgbClr val="4C78A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7" name="Membrane"/>
            <p:cNvSpPr txBox="1"/>
            <p:nvPr/>
          </p:nvSpPr>
          <p:spPr>
            <a:xfrm>
              <a:off x="8257032" y="9107424"/>
              <a:ext cx="1106424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20262E"/>
                  </a:solidFill>
                  <a:latin typeface="Liberation Sans"/>
                </a:rPr>
                <a:t>Membrane</a:t>
              </a:r>
            </a:p>
          </p:txBody>
        </p:sp>
        <p:sp>
          <p:nvSpPr>
            <p:cNvPr id="608" name="Metabolic route"/>
            <p:cNvSpPr/>
            <p:nvPr/>
          </p:nvSpPr>
          <p:spPr>
            <a:xfrm>
              <a:off x="9573768" y="9244584"/>
              <a:ext cx="301752" cy="1"/>
            </a:xfrm>
            <a:custGeom>
              <a:avLst/>
              <a:gdLst/>
              <a:ahLst/>
              <a:cxnLst/>
              <a:rect l="0" t="0" r="r" b="b"/>
              <a:pathLst>
                <a:path w="301752" h="1" fill="none">
                  <a:moveTo>
                    <a:pt x="0" y="0"/>
                  </a:moveTo>
                  <a:lnTo>
                    <a:pt x="301752" y="0"/>
                  </a:lnTo>
                </a:path>
              </a:pathLst>
            </a:custGeom>
            <a:noFill/>
            <a:ln w="19050" cap="rnd">
              <a:solidFill>
                <a:srgbClr val="4C78A8"/>
              </a:solidFill>
              <a:prstDash val="dash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9" name="Model-derived link"/>
            <p:cNvSpPr txBox="1"/>
            <p:nvPr/>
          </p:nvSpPr>
          <p:spPr>
            <a:xfrm>
              <a:off x="9976104" y="9107424"/>
              <a:ext cx="1892808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i="0">
                  <a:solidFill>
                    <a:srgbClr val="20262E"/>
                  </a:solidFill>
                  <a:latin typeface="Liberation Sans"/>
                </a:rPr>
                <a:t>Model-derived link</a:t>
              </a:r>
            </a:p>
          </p:txBody>
        </p:sp>
        <p:grpSp>
          <p:nvGrpSpPr>
            <p:cNvPr id="610" name="Flux: mmol gDCW⁻¹ h⁻¹ c: cytoplasm; e: extracellular"/>
            <p:cNvGrpSpPr/>
            <p:nvPr/>
          </p:nvGrpSpPr>
          <p:grpSpPr>
            <a:xfrm>
              <a:off x="12040175" y="9079992"/>
              <a:ext cx="2181217" cy="404622"/>
              <a:chOff x="12040175" y="9079992"/>
              <a:chExt cx="2181217" cy="404622"/>
            </a:xfrm>
          </p:grpSpPr>
          <p:sp>
            <p:nvSpPr>
              <p:cNvPr id="611" name="Chemical text: Flux: mmol gDCW"/>
              <p:cNvSpPr txBox="1"/>
              <p:nvPr/>
            </p:nvSpPr>
            <p:spPr>
              <a:xfrm>
                <a:off x="12245276" y="9114282"/>
                <a:ext cx="1408958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Flux: mmol gDCW</a:t>
                </a:r>
              </a:p>
            </p:txBody>
          </p:sp>
          <p:sp>
            <p:nvSpPr>
              <p:cNvPr id="612" name="Chemical text: -1"/>
              <p:cNvSpPr txBox="1"/>
              <p:nvPr/>
            </p:nvSpPr>
            <p:spPr>
              <a:xfrm>
                <a:off x="13635945" y="9079992"/>
                <a:ext cx="127826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-1</a:t>
                </a:r>
              </a:p>
            </p:txBody>
          </p:sp>
          <p:sp>
            <p:nvSpPr>
              <p:cNvPr id="613" name="Chemical text:  h"/>
              <p:cNvSpPr txBox="1"/>
              <p:nvPr/>
            </p:nvSpPr>
            <p:spPr>
              <a:xfrm>
                <a:off x="13745483" y="9114282"/>
                <a:ext cx="161272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 h</a:t>
                </a:r>
              </a:p>
            </p:txBody>
          </p:sp>
          <p:sp>
            <p:nvSpPr>
              <p:cNvPr id="614" name="Chemical text: -1"/>
              <p:cNvSpPr txBox="1"/>
              <p:nvPr/>
            </p:nvSpPr>
            <p:spPr>
              <a:xfrm>
                <a:off x="13888467" y="9079992"/>
                <a:ext cx="127826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71" b="0" i="0">
                    <a:solidFill>
                      <a:srgbClr val="68727D"/>
                    </a:solidFill>
                    <a:latin typeface="Liberation Sans"/>
                  </a:rPr>
                  <a:t>-1</a:t>
                </a:r>
              </a:p>
            </p:txBody>
          </p:sp>
          <p:sp>
            <p:nvSpPr>
              <p:cNvPr id="615" name="Chemical text: c: cytoplasm; e: extracellular"/>
              <p:cNvSpPr txBox="1"/>
              <p:nvPr/>
            </p:nvSpPr>
            <p:spPr>
              <a:xfrm>
                <a:off x="12040175" y="9299448"/>
                <a:ext cx="2181217" cy="185166"/>
              </a:xfrm>
              <a:prstGeom prst="rect">
                <a:avLst/>
              </a:prstGeom>
              <a:noFill/>
            </p:spPr>
            <p:txBody>
              <a:bodyPr wrap="none" lIns="0" rIns="0" tIns="0" bIns="0" anchor="ctr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68727D"/>
                    </a:solidFill>
                    <a:latin typeface="Liberation Sans"/>
                  </a:rPr>
                  <a:t>c: cytoplasm; e: extracellular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MQC diagnosis and targeted refinement of iCN718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