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4471416" cy="4123944" type="screen4x3"/>
  <p:notesSz cx="6858000" cy="9144000"/>
  <p:embeddedFontLst>
    <p:embeddedFont>
      <p:font typeface="Liberation Sans"/>
      <p:regular r:id="rIdLiberation1"/>
      <p:bold r:id="rIdLiberation2"/>
      <p:italic r:id="rIdLiberation3"/>
      <p:boldItalic r:id="rIdLiberation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Liberation1" Type="http://schemas.openxmlformats.org/officeDocument/2006/relationships/font" Target="fonts/LiberationSans-Regular.fntdata"/><Relationship Id="rIdLiberation2" Type="http://schemas.openxmlformats.org/officeDocument/2006/relationships/font" Target="fonts/LiberationSans-Bold.fntdata"/><Relationship Id="rIdLiberation3" Type="http://schemas.openxmlformats.org/officeDocument/2006/relationships/font" Target="fonts/LiberationSans-Italic.fntdata"/><Relationship Id="rIdLiberation4" Type="http://schemas.openxmlformats.org/officeDocument/2006/relationships/font" Target="fonts/LiberationSans-BoldItalic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b4_madh"/>
          <p:cNvGrpSpPr/>
          <p:nvPr/>
        </p:nvGrpSpPr>
        <p:grpSpPr>
          <a:xfrm>
            <a:off x="164592" y="731520"/>
            <a:ext cx="4078224" cy="1947672"/>
            <a:chOff x="7260336" y="5605272"/>
            <a:chExt cx="4078224" cy="1947672"/>
          </a:xfrm>
        </p:grpSpPr>
        <p:sp>
          <p:nvSpPr>
            <p:cNvPr id="3" name="Methylmalonate semialdehyde"/>
            <p:cNvSpPr txBox="1"/>
            <p:nvPr/>
          </p:nvSpPr>
          <p:spPr>
            <a:xfrm>
              <a:off x="7260336" y="5605272"/>
              <a:ext cx="1901952" cy="4480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Methylmalonate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semialdehyde</a:t>
              </a:r>
            </a:p>
          </p:txBody>
        </p:sp>
        <p:sp>
          <p:nvSpPr>
            <p:cNvPr id="4" name="methylmalonate"/>
            <p:cNvSpPr txBox="1"/>
            <p:nvPr/>
          </p:nvSpPr>
          <p:spPr>
            <a:xfrm>
              <a:off x="9409176" y="5952744"/>
              <a:ext cx="1901952" cy="28346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methylmalonate</a:t>
              </a:r>
            </a:p>
          </p:txBody>
        </p:sp>
        <p:sp>
          <p:nvSpPr>
            <p:cNvPr id="5" name="MADH faulty reaction (closed)"/>
            <p:cNvSpPr/>
            <p:nvPr/>
          </p:nvSpPr>
          <p:spPr>
            <a:xfrm>
              <a:off x="7909560" y="6336792"/>
              <a:ext cx="2606040" cy="1"/>
            </a:xfrm>
            <a:custGeom>
              <a:avLst/>
              <a:gdLst/>
              <a:ahLst/>
              <a:cxnLst/>
              <a:rect l="0" t="0" r="r" b="b"/>
              <a:pathLst>
                <a:path w="2606040" h="1" fill="none">
                  <a:moveTo>
                    <a:pt x="0" y="0"/>
                  </a:moveTo>
                  <a:lnTo>
                    <a:pt x="2606040" y="0"/>
                  </a:lnTo>
                </a:path>
              </a:pathLst>
            </a:custGeom>
            <a:noFill/>
            <a:ln w="29845" cap="rnd">
              <a:solidFill>
                <a:srgbClr val="D55E00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7807147" y="6280099"/>
              <a:ext cx="113386" cy="113386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0522915" y="6280099"/>
              <a:ext cx="113386" cy="113386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MADH"/>
            <p:cNvSpPr txBox="1"/>
            <p:nvPr/>
          </p:nvSpPr>
          <p:spPr>
            <a:xfrm>
              <a:off x="8631936" y="6062472"/>
              <a:ext cx="941832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1">
                  <a:solidFill>
                    <a:srgbClr val="D55E00"/>
                  </a:solidFill>
                  <a:latin typeface="Liberation Sans"/>
                </a:rPr>
                <a:t>MADH</a:t>
              </a:r>
            </a:p>
          </p:txBody>
        </p:sp>
        <p:sp>
          <p:nvSpPr>
            <p:cNvPr id="9" name="v = +5.000"/>
            <p:cNvSpPr txBox="1"/>
            <p:nvPr/>
          </p:nvSpPr>
          <p:spPr>
            <a:xfrm>
              <a:off x="8558784" y="6437376"/>
              <a:ext cx="1078992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0">
                  <a:solidFill>
                    <a:srgbClr val="D55E00"/>
                  </a:solidFill>
                  <a:latin typeface="Liberation Sans"/>
                </a:rPr>
                <a:t>v = +5.000</a:t>
              </a:r>
            </a:p>
          </p:txBody>
        </p:sp>
        <p:sp>
          <p:nvSpPr>
            <p:cNvPr id="10" name="MQC stop"/>
            <p:cNvSpPr/>
            <p:nvPr/>
          </p:nvSpPr>
          <p:spPr>
            <a:xfrm>
              <a:off x="9765792" y="6263640"/>
              <a:ext cx="146304" cy="146304"/>
            </a:xfrm>
            <a:custGeom>
              <a:avLst/>
              <a:gdLst/>
              <a:ahLst/>
              <a:cxnLst/>
              <a:rect l="0" t="0" r="r" b="b"/>
              <a:pathLst>
                <a:path w="146304" h="146304" fill="none">
                  <a:moveTo>
                    <a:pt x="0" y="0"/>
                  </a:moveTo>
                  <a:lnTo>
                    <a:pt x="146304" y="146304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MQC stop"/>
            <p:cNvSpPr/>
            <p:nvPr/>
          </p:nvSpPr>
          <p:spPr>
            <a:xfrm>
              <a:off x="9765792" y="6263640"/>
              <a:ext cx="146304" cy="146304"/>
            </a:xfrm>
            <a:custGeom>
              <a:avLst/>
              <a:gdLst/>
              <a:ahLst/>
              <a:cxnLst/>
              <a:rect l="0" t="0" r="r" b="b"/>
              <a:pathLst>
                <a:path w="146304" h="146304" fill="none">
                  <a:moveTo>
                    <a:pt x="0" y="146304"/>
                  </a:moveTo>
                  <a:lnTo>
                    <a:pt x="146304" y="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closed"/>
            <p:cNvSpPr txBox="1"/>
            <p:nvPr/>
          </p:nvSpPr>
          <p:spPr>
            <a:xfrm>
              <a:off x="10634472" y="6409944"/>
              <a:ext cx="704088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C43C39"/>
                  </a:solidFill>
                  <a:latin typeface="Liberation Sans"/>
                </a:rPr>
                <a:t>closed</a:t>
              </a:r>
            </a:p>
          </p:txBody>
        </p:sp>
        <p:sp>
          <p:nvSpPr>
            <p:cNvPr id="13" name="Metabolic route"/>
            <p:cNvSpPr/>
            <p:nvPr/>
          </p:nvSpPr>
          <p:spPr>
            <a:xfrm>
              <a:off x="8138160" y="6364224"/>
              <a:ext cx="530352" cy="548640"/>
            </a:xfrm>
            <a:custGeom>
              <a:avLst/>
              <a:gdLst/>
              <a:ahLst/>
              <a:cxnLst/>
              <a:rect l="0" t="0" r="r" b="b"/>
              <a:pathLst>
                <a:path w="530352" h="548640" fill="none">
                  <a:moveTo>
                    <a:pt x="0" y="548640"/>
                  </a:moveTo>
                  <a:cubicBezTo>
                    <a:pt x="274320" y="548640"/>
                    <a:pt x="338328" y="219456"/>
                    <a:pt x="530352" y="0"/>
                  </a:cubicBez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8047634" y="6877202"/>
              <a:ext cx="71323" cy="71323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2C7FB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5" name="NAD⁺"/>
            <p:cNvGrpSpPr/>
            <p:nvPr/>
          </p:nvGrpSpPr>
          <p:grpSpPr>
            <a:xfrm>
              <a:off x="7576211" y="6781419"/>
              <a:ext cx="452221" cy="219456"/>
              <a:chOff x="7576211" y="6781419"/>
              <a:chExt cx="452221" cy="219456"/>
            </a:xfrm>
          </p:grpSpPr>
          <p:sp>
            <p:nvSpPr>
              <p:cNvPr id="16" name="Chemical text: NAD"/>
              <p:cNvSpPr txBox="1"/>
              <p:nvPr/>
            </p:nvSpPr>
            <p:spPr>
              <a:xfrm>
                <a:off x="7576211" y="6815709"/>
                <a:ext cx="38027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NAD</a:t>
                </a:r>
              </a:p>
            </p:txBody>
          </p:sp>
          <p:sp>
            <p:nvSpPr>
              <p:cNvPr id="17" name="Chemical text: +"/>
              <p:cNvSpPr txBox="1"/>
              <p:nvPr/>
            </p:nvSpPr>
            <p:spPr>
              <a:xfrm>
                <a:off x="7938200" y="6781419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</p:grpSp>
        <p:sp>
          <p:nvSpPr>
            <p:cNvPr id="18" name="Metabolic route"/>
            <p:cNvSpPr/>
            <p:nvPr/>
          </p:nvSpPr>
          <p:spPr>
            <a:xfrm>
              <a:off x="9528048" y="6364224"/>
              <a:ext cx="192024" cy="658368"/>
            </a:xfrm>
            <a:custGeom>
              <a:avLst/>
              <a:gdLst/>
              <a:ahLst/>
              <a:cxnLst/>
              <a:rect l="0" t="0" r="r" b="b"/>
              <a:pathLst>
                <a:path w="192024" h="658368" fill="none">
                  <a:moveTo>
                    <a:pt x="128016" y="0"/>
                  </a:moveTo>
                  <a:cubicBezTo>
                    <a:pt x="0" y="320040"/>
                    <a:pt x="0" y="603504"/>
                    <a:pt x="192024" y="658368"/>
                  </a:cubicBez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9739274" y="6996074"/>
              <a:ext cx="71323" cy="71323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2C7FB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NADH"/>
            <p:cNvSpPr txBox="1"/>
            <p:nvPr/>
          </p:nvSpPr>
          <p:spPr>
            <a:xfrm>
              <a:off x="9884664" y="6922008"/>
              <a:ext cx="59436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NADH</a:t>
              </a:r>
            </a:p>
          </p:txBody>
        </p:sp>
        <p:sp>
          <p:nvSpPr>
            <p:cNvPr id="21" name="Metabolic route"/>
            <p:cNvSpPr/>
            <p:nvPr/>
          </p:nvSpPr>
          <p:spPr>
            <a:xfrm>
              <a:off x="9957816" y="6364224"/>
              <a:ext cx="448056" cy="429768"/>
            </a:xfrm>
            <a:custGeom>
              <a:avLst/>
              <a:gdLst/>
              <a:ahLst/>
              <a:cxnLst/>
              <a:rect l="0" t="0" r="r" b="b"/>
              <a:pathLst>
                <a:path w="448056" h="429768" fill="none">
                  <a:moveTo>
                    <a:pt x="0" y="0"/>
                  </a:moveTo>
                  <a:cubicBezTo>
                    <a:pt x="64008" y="256032"/>
                    <a:pt x="356616" y="329184"/>
                    <a:pt x="448056" y="429768"/>
                  </a:cubicBezTo>
                </a:path>
              </a:pathLst>
            </a:custGeom>
            <a:noFill/>
            <a:ln w="1397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10409530" y="6797650"/>
              <a:ext cx="65837" cy="65837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3" name="CO₂"/>
            <p:cNvGrpSpPr/>
            <p:nvPr/>
          </p:nvGrpSpPr>
          <p:grpSpPr>
            <a:xfrm>
              <a:off x="10561320" y="6733413"/>
              <a:ext cx="343974" cy="233172"/>
              <a:chOff x="10561320" y="6733413"/>
              <a:chExt cx="343974" cy="233172"/>
            </a:xfrm>
          </p:grpSpPr>
          <p:sp>
            <p:nvSpPr>
              <p:cNvPr id="24" name="Chemical text: CO"/>
              <p:cNvSpPr txBox="1"/>
              <p:nvPr/>
            </p:nvSpPr>
            <p:spPr>
              <a:xfrm>
                <a:off x="10561320" y="6733413"/>
                <a:ext cx="275463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CO</a:t>
                </a:r>
              </a:p>
            </p:txBody>
          </p:sp>
          <p:sp>
            <p:nvSpPr>
              <p:cNvPr id="25" name="Chemical text: 2"/>
              <p:cNvSpPr txBox="1"/>
              <p:nvPr/>
            </p:nvSpPr>
            <p:spPr>
              <a:xfrm>
                <a:off x="10818495" y="6781419"/>
                <a:ext cx="8679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2</a:t>
                </a:r>
              </a:p>
            </p:txBody>
          </p:sp>
        </p:grpSp>
        <p:sp>
          <p:nvSpPr>
            <p:cNvPr id="26" name="Rounded Rectangle 25"/>
            <p:cNvSpPr/>
            <p:nvPr/>
          </p:nvSpPr>
          <p:spPr>
            <a:xfrm>
              <a:off x="7461504" y="7269480"/>
              <a:ext cx="2761488" cy="283464"/>
            </a:xfrm>
            <a:prstGeom prst="roundRect">
              <a:avLst/>
            </a:prstGeom>
            <a:solidFill>
              <a:srgbClr val="FCF0E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Mass / charge imbalance"/>
            <p:cNvSpPr txBox="1"/>
            <p:nvPr/>
          </p:nvSpPr>
          <p:spPr>
            <a:xfrm>
              <a:off x="7479792" y="7269480"/>
              <a:ext cx="2724912" cy="28346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D55E00"/>
                  </a:solidFill>
                  <a:latin typeface="Liberation Sans"/>
                </a:rPr>
                <a:t>Mass / charge imbalance</a:t>
              </a:r>
            </a:p>
          </p:txBody>
        </p:sp>
      </p:grpSp>
      <p:grpSp>
        <p:nvGrpSpPr>
          <p:cNvPr id="28" name="b4_products"/>
          <p:cNvGrpSpPr/>
          <p:nvPr/>
        </p:nvGrpSpPr>
        <p:grpSpPr>
          <a:xfrm>
            <a:off x="228600" y="2011680"/>
            <a:ext cx="4078224" cy="1947672"/>
            <a:chOff x="7324344" y="6885432"/>
            <a:chExt cx="4078224" cy="1947672"/>
          </a:xfrm>
        </p:grpSpPr>
        <p:sp>
          <p:nvSpPr>
            <p:cNvPr id="29" name="CO2:co2_c&gt;downstream"/>
            <p:cNvSpPr/>
            <p:nvPr/>
          </p:nvSpPr>
          <p:spPr>
            <a:xfrm>
              <a:off x="10442448" y="6885432"/>
              <a:ext cx="1" cy="246888"/>
            </a:xfrm>
            <a:custGeom>
              <a:avLst/>
              <a:gdLst/>
              <a:ahLst/>
              <a:cxnLst/>
              <a:rect l="0" t="0" r="r" b="b"/>
              <a:pathLst>
                <a:path w="1" h="246888" fill="none">
                  <a:moveTo>
                    <a:pt x="0" y="0"/>
                  </a:moveTo>
                  <a:lnTo>
                    <a:pt x="0" y="246888"/>
                  </a:lnTo>
                </a:path>
              </a:pathLst>
            </a:custGeom>
            <a:noFill/>
            <a:ln w="20320" cap="rnd">
              <a:solidFill>
                <a:srgbClr val="4C78A8"/>
              </a:solidFill>
              <a:prstDash val="dash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Metabolic route"/>
            <p:cNvSpPr/>
            <p:nvPr/>
          </p:nvSpPr>
          <p:spPr>
            <a:xfrm>
              <a:off x="9710928" y="7543800"/>
              <a:ext cx="603504" cy="109728"/>
            </a:xfrm>
            <a:custGeom>
              <a:avLst/>
              <a:gdLst/>
              <a:ahLst/>
              <a:cxnLst/>
              <a:rect l="0" t="0" r="r" b="b"/>
              <a:pathLst>
                <a:path w="603504" h="109728" fill="none">
                  <a:moveTo>
                    <a:pt x="603504" y="0"/>
                  </a:moveTo>
                  <a:cubicBezTo>
                    <a:pt x="374904" y="18288"/>
                    <a:pt x="173736" y="73152"/>
                    <a:pt x="0" y="109728"/>
                  </a:cubicBezTo>
                </a:path>
              </a:pathLst>
            </a:custGeom>
            <a:noFill/>
            <a:ln w="17780" cap="rnd">
              <a:solidFill>
                <a:srgbClr val="4C78A8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1" name="CO₂ pool + NH₄⁺"/>
            <p:cNvGrpSpPr/>
            <p:nvPr/>
          </p:nvGrpSpPr>
          <p:grpSpPr>
            <a:xfrm>
              <a:off x="10349751" y="7175754"/>
              <a:ext cx="715746" cy="418338"/>
              <a:chOff x="10349751" y="7175754"/>
              <a:chExt cx="715746" cy="418338"/>
            </a:xfrm>
          </p:grpSpPr>
          <p:sp>
            <p:nvSpPr>
              <p:cNvPr id="32" name="Chemical text: CO"/>
              <p:cNvSpPr txBox="1"/>
              <p:nvPr/>
            </p:nvSpPr>
            <p:spPr>
              <a:xfrm>
                <a:off x="10349751" y="7175754"/>
                <a:ext cx="275463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CO</a:t>
                </a:r>
              </a:p>
            </p:txBody>
          </p:sp>
          <p:sp>
            <p:nvSpPr>
              <p:cNvPr id="33" name="Chemical text: 2"/>
              <p:cNvSpPr txBox="1"/>
              <p:nvPr/>
            </p:nvSpPr>
            <p:spPr>
              <a:xfrm>
                <a:off x="10606926" y="7223760"/>
                <a:ext cx="8679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2</a:t>
                </a:r>
              </a:p>
            </p:txBody>
          </p:sp>
          <p:sp>
            <p:nvSpPr>
              <p:cNvPr id="34" name="Chemical text:  pool"/>
              <p:cNvSpPr txBox="1"/>
              <p:nvPr/>
            </p:nvSpPr>
            <p:spPr>
              <a:xfrm>
                <a:off x="10675436" y="7175754"/>
                <a:ext cx="390061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 pool</a:t>
                </a:r>
              </a:p>
            </p:txBody>
          </p:sp>
          <p:sp>
            <p:nvSpPr>
              <p:cNvPr id="35" name="Chemical text: + NH"/>
              <p:cNvSpPr txBox="1"/>
              <p:nvPr/>
            </p:nvSpPr>
            <p:spPr>
              <a:xfrm>
                <a:off x="10430560" y="7360920"/>
                <a:ext cx="413675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+ NH</a:t>
                </a:r>
              </a:p>
            </p:txBody>
          </p:sp>
          <p:sp>
            <p:nvSpPr>
              <p:cNvPr id="36" name="Chemical text: 4"/>
              <p:cNvSpPr txBox="1"/>
              <p:nvPr/>
            </p:nvSpPr>
            <p:spPr>
              <a:xfrm>
                <a:off x="10825946" y="7408926"/>
                <a:ext cx="8679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4</a:t>
                </a:r>
              </a:p>
            </p:txBody>
          </p:sp>
          <p:sp>
            <p:nvSpPr>
              <p:cNvPr id="37" name="Chemical text: +"/>
              <p:cNvSpPr txBox="1"/>
              <p:nvPr/>
            </p:nvSpPr>
            <p:spPr>
              <a:xfrm>
                <a:off x="10894457" y="7326630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</p:grpSp>
        <p:sp>
          <p:nvSpPr>
            <p:cNvPr id="38" name="Oval 37"/>
            <p:cNvSpPr/>
            <p:nvPr/>
          </p:nvSpPr>
          <p:spPr>
            <a:xfrm>
              <a:off x="9688068" y="7630668"/>
              <a:ext cx="45720" cy="45720"/>
            </a:xfrm>
            <a:prstGeom prst="ellipse">
              <a:avLst/>
            </a:prstGeom>
            <a:solidFill>
              <a:srgbClr val="4C78A8"/>
            </a:solidFill>
            <a:ln w="762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Metabolic route"/>
            <p:cNvSpPr/>
            <p:nvPr/>
          </p:nvSpPr>
          <p:spPr>
            <a:xfrm>
              <a:off x="8330184" y="7653528"/>
              <a:ext cx="1380744" cy="521208"/>
            </a:xfrm>
            <a:custGeom>
              <a:avLst/>
              <a:gdLst/>
              <a:ahLst/>
              <a:cxnLst/>
              <a:rect l="0" t="0" r="r" b="b"/>
              <a:pathLst>
                <a:path w="1380744" h="521208" fill="none">
                  <a:moveTo>
                    <a:pt x="1380744" y="0"/>
                  </a:moveTo>
                  <a:cubicBezTo>
                    <a:pt x="868680" y="73152"/>
                    <a:pt x="356616" y="210312"/>
                    <a:pt x="0" y="521208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ALPHNH:model-derived separate-objective branch"/>
            <p:cNvSpPr/>
            <p:nvPr/>
          </p:nvSpPr>
          <p:spPr>
            <a:xfrm>
              <a:off x="9710928" y="7653528"/>
              <a:ext cx="996696" cy="521208"/>
            </a:xfrm>
            <a:custGeom>
              <a:avLst/>
              <a:gdLst/>
              <a:ahLst/>
              <a:cxnLst/>
              <a:rect l="0" t="0" r="r" b="b"/>
              <a:pathLst>
                <a:path w="996696" h="521208" fill="none">
                  <a:moveTo>
                    <a:pt x="0" y="0"/>
                  </a:moveTo>
                  <a:cubicBezTo>
                    <a:pt x="484632" y="45720"/>
                    <a:pt x="868680" y="228600"/>
                    <a:pt x="996696" y="521208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prstDash val="dash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UREA (reverse)"/>
            <p:cNvSpPr txBox="1"/>
            <p:nvPr/>
          </p:nvSpPr>
          <p:spPr>
            <a:xfrm>
              <a:off x="7324344" y="7626096"/>
              <a:ext cx="1307592" cy="429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4C78A8"/>
                  </a:solidFill>
                  <a:latin typeface="Liberation Sans"/>
                </a:rPr>
                <a:t>UREA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4C78A8"/>
                  </a:solidFill>
                  <a:latin typeface="Liberation Sans"/>
                </a:rPr>
                <a:t>(reverse)</a:t>
              </a:r>
            </a:p>
          </p:txBody>
        </p:sp>
        <p:sp>
          <p:nvSpPr>
            <p:cNvPr id="42" name="ALPHNH (reverse)"/>
            <p:cNvSpPr txBox="1"/>
            <p:nvPr/>
          </p:nvSpPr>
          <p:spPr>
            <a:xfrm>
              <a:off x="10497312" y="7534656"/>
              <a:ext cx="841248" cy="429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1">
                  <a:solidFill>
                    <a:srgbClr val="4C78A8"/>
                  </a:solidFill>
                  <a:latin typeface="Liberation Sans"/>
                </a:rPr>
                <a:t>ALPHNH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1">
                  <a:solidFill>
                    <a:srgbClr val="4C78A8"/>
                  </a:solidFill>
                  <a:latin typeface="Liberation Sans"/>
                </a:rPr>
                <a:t>(reverse)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8229600" y="8174736"/>
              <a:ext cx="109728" cy="10972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009E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10671048" y="8174736"/>
              <a:ext cx="109728" cy="10972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7B6FD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Urea"/>
            <p:cNvSpPr txBox="1"/>
            <p:nvPr/>
          </p:nvSpPr>
          <p:spPr>
            <a:xfrm>
              <a:off x="7827264" y="8321040"/>
              <a:ext cx="91440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Urea</a:t>
              </a:r>
            </a:p>
          </p:txBody>
        </p:sp>
        <p:sp>
          <p:nvSpPr>
            <p:cNvPr id="46" name="Allophanate"/>
            <p:cNvSpPr txBox="1"/>
            <p:nvPr/>
          </p:nvSpPr>
          <p:spPr>
            <a:xfrm>
              <a:off x="10049256" y="8321040"/>
              <a:ext cx="1353312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Allophanate</a:t>
              </a:r>
            </a:p>
          </p:txBody>
        </p:sp>
        <p:sp>
          <p:nvSpPr>
            <p:cNvPr id="47" name="5.000"/>
            <p:cNvSpPr txBox="1"/>
            <p:nvPr/>
          </p:nvSpPr>
          <p:spPr>
            <a:xfrm>
              <a:off x="7854696" y="8586216"/>
              <a:ext cx="859536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5.000</a:t>
              </a:r>
            </a:p>
          </p:txBody>
        </p:sp>
        <p:sp>
          <p:nvSpPr>
            <p:cNvPr id="48" name="5.000"/>
            <p:cNvSpPr txBox="1"/>
            <p:nvPr/>
          </p:nvSpPr>
          <p:spPr>
            <a:xfrm>
              <a:off x="10296144" y="8586216"/>
              <a:ext cx="859536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5.000</a:t>
              </a:r>
            </a:p>
          </p:txBody>
        </p:sp>
      </p:grpSp>
      <p:sp>
        <p:nvSpPr>
          <p:cNvPr id="49" name="Unsupported metabolite production"/>
          <p:cNvSpPr txBox="1"/>
          <p:nvPr/>
        </p:nvSpPr>
        <p:spPr>
          <a:xfrm>
            <a:off x="164592" y="164592"/>
            <a:ext cx="4142232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62E"/>
                </a:solidFill>
                <a:latin typeface="Liberation Sans"/>
              </a:rPr>
              <a:t>Unsupported metabolite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