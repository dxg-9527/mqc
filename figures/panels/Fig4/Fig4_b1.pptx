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4370832" cy="4445127" type="screen4x3"/>
  <p:notesSz cx="6858000" cy="9144000"/>
  <p:embeddedFontLst>
    <p:embeddedFont>
      <p:font typeface="Liberation Sans"/>
      <p:regular r:id="rIdLiberation1"/>
      <p:bold r:id="rIdLiberation2"/>
      <p:italic r:id="rIdLiberation3"/>
      <p:boldItalic r:id="rIdLiberation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Liberation1" Type="http://schemas.openxmlformats.org/officeDocument/2006/relationships/font" Target="fonts/LiberationSans-Regular.fntdata"/><Relationship Id="rIdLiberation2" Type="http://schemas.openxmlformats.org/officeDocument/2006/relationships/font" Target="fonts/LiberationSans-Bold.fntdata"/><Relationship Id="rIdLiberation3" Type="http://schemas.openxmlformats.org/officeDocument/2006/relationships/font" Target="fonts/LiberationSans-Italic.fntdata"/><Relationship Id="rIdLiberation4" Type="http://schemas.openxmlformats.org/officeDocument/2006/relationships/font" Target="fonts/LiberationSans-BoldItalic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b1_folate_cycle"/>
          <p:cNvGrpSpPr/>
          <p:nvPr/>
        </p:nvGrpSpPr>
        <p:grpSpPr>
          <a:xfrm>
            <a:off x="164592" y="731520"/>
            <a:ext cx="4023360" cy="1463040"/>
            <a:chOff x="3017520" y="1975104"/>
            <a:chExt cx="4023360" cy="1463040"/>
          </a:xfrm>
        </p:grpSpPr>
        <p:sp>
          <p:nvSpPr>
            <p:cNvPr id="3" name="MTHFR3 forward"/>
            <p:cNvSpPr/>
            <p:nvPr/>
          </p:nvSpPr>
          <p:spPr>
            <a:xfrm>
              <a:off x="5097780" y="2322576"/>
              <a:ext cx="1147572" cy="786384"/>
            </a:xfrm>
            <a:custGeom>
              <a:avLst/>
              <a:gdLst/>
              <a:ahLst/>
              <a:cxnLst/>
              <a:rect l="0" t="0" r="r" b="b"/>
              <a:pathLst>
                <a:path w="1147572" h="786384" fill="none">
                  <a:moveTo>
                    <a:pt x="0" y="0"/>
                  </a:moveTo>
                  <a:cubicBezTo>
                    <a:pt x="1147572" y="36576"/>
                    <a:pt x="1147572" y="731520"/>
                    <a:pt x="22860" y="786384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MTHFR2 reverse"/>
            <p:cNvSpPr/>
            <p:nvPr/>
          </p:nvSpPr>
          <p:spPr>
            <a:xfrm>
              <a:off x="3831336" y="2322576"/>
              <a:ext cx="1147572" cy="786384"/>
            </a:xfrm>
            <a:custGeom>
              <a:avLst/>
              <a:gdLst/>
              <a:ahLst/>
              <a:cxnLst/>
              <a:rect l="0" t="0" r="r" b="b"/>
              <a:pathLst>
                <a:path w="1147572" h="786384" fill="none">
                  <a:moveTo>
                    <a:pt x="1147572" y="786384"/>
                  </a:moveTo>
                  <a:cubicBezTo>
                    <a:pt x="0" y="749808"/>
                    <a:pt x="0" y="54864"/>
                    <a:pt x="1124712" y="0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4985309" y="2269541"/>
              <a:ext cx="106070" cy="106070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4985309" y="3055925"/>
              <a:ext cx="106070" cy="106070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5,10-methylene-THF"/>
            <p:cNvSpPr txBox="1"/>
            <p:nvPr/>
          </p:nvSpPr>
          <p:spPr>
            <a:xfrm>
              <a:off x="3803904" y="1975104"/>
              <a:ext cx="246888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5,10-methylene-THF</a:t>
              </a:r>
            </a:p>
          </p:txBody>
        </p:sp>
        <p:sp>
          <p:nvSpPr>
            <p:cNvPr id="8" name="5-methyl-THF"/>
            <p:cNvSpPr txBox="1"/>
            <p:nvPr/>
          </p:nvSpPr>
          <p:spPr>
            <a:xfrm>
              <a:off x="4078224" y="3163824"/>
              <a:ext cx="192024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5-methyl-THF</a:t>
              </a:r>
            </a:p>
          </p:txBody>
        </p:sp>
        <p:sp>
          <p:nvSpPr>
            <p:cNvPr id="9" name="MTHFR3"/>
            <p:cNvSpPr txBox="1"/>
            <p:nvPr/>
          </p:nvSpPr>
          <p:spPr>
            <a:xfrm>
              <a:off x="5961888" y="2459736"/>
              <a:ext cx="1078992" cy="28346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1">
                  <a:solidFill>
                    <a:srgbClr val="4C78A8"/>
                  </a:solidFill>
                  <a:latin typeface="Liberation Sans"/>
                </a:rPr>
                <a:t>MTHFR3</a:t>
              </a:r>
            </a:p>
          </p:txBody>
        </p:sp>
        <p:grpSp>
          <p:nvGrpSpPr>
            <p:cNvPr id="10" name="NADPH → NADP⁺"/>
            <p:cNvGrpSpPr/>
            <p:nvPr/>
          </p:nvGrpSpPr>
          <p:grpSpPr>
            <a:xfrm>
              <a:off x="6135983" y="2791206"/>
              <a:ext cx="785666" cy="370332"/>
              <a:chOff x="6135983" y="2791206"/>
              <a:chExt cx="785666" cy="370332"/>
            </a:xfrm>
          </p:grpSpPr>
          <p:sp>
            <p:nvSpPr>
              <p:cNvPr id="11" name="Chemical text: NADPH"/>
              <p:cNvSpPr txBox="1"/>
              <p:nvPr/>
            </p:nvSpPr>
            <p:spPr>
              <a:xfrm>
                <a:off x="6219590" y="2791206"/>
                <a:ext cx="61845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NADPH</a:t>
                </a:r>
              </a:p>
            </p:txBody>
          </p:sp>
          <p:sp>
            <p:nvSpPr>
              <p:cNvPr id="12" name="Chemical text: → NADP"/>
              <p:cNvSpPr txBox="1"/>
              <p:nvPr/>
            </p:nvSpPr>
            <p:spPr>
              <a:xfrm>
                <a:off x="6135983" y="2976372"/>
                <a:ext cx="71372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→ NADP</a:t>
                </a:r>
              </a:p>
            </p:txBody>
          </p:sp>
          <p:sp>
            <p:nvSpPr>
              <p:cNvPr id="13" name="Chemical text: +"/>
              <p:cNvSpPr txBox="1"/>
              <p:nvPr/>
            </p:nvSpPr>
            <p:spPr>
              <a:xfrm>
                <a:off x="6831417" y="2942082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</p:grpSp>
        <p:sp>
          <p:nvSpPr>
            <p:cNvPr id="14" name="MTHFR2 (reverse)"/>
            <p:cNvSpPr txBox="1"/>
            <p:nvPr/>
          </p:nvSpPr>
          <p:spPr>
            <a:xfrm>
              <a:off x="3017520" y="2359152"/>
              <a:ext cx="1078992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1">
                  <a:solidFill>
                    <a:srgbClr val="4C78A8"/>
                  </a:solidFill>
                  <a:latin typeface="Liberation Sans"/>
                </a:rPr>
                <a:t>MTHFR2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1">
                  <a:solidFill>
                    <a:srgbClr val="4C78A8"/>
                  </a:solidFill>
                  <a:latin typeface="Liberation Sans"/>
                </a:rPr>
                <a:t>(reverse)</a:t>
              </a:r>
            </a:p>
          </p:txBody>
        </p:sp>
        <p:grpSp>
          <p:nvGrpSpPr>
            <p:cNvPr id="15" name="NAD⁺ → NADH"/>
            <p:cNvGrpSpPr/>
            <p:nvPr/>
          </p:nvGrpSpPr>
          <p:grpSpPr>
            <a:xfrm>
              <a:off x="3241147" y="2766060"/>
              <a:ext cx="723178" cy="404622"/>
              <a:chOff x="3241147" y="2766060"/>
              <a:chExt cx="723178" cy="404622"/>
            </a:xfrm>
          </p:grpSpPr>
          <p:sp>
            <p:nvSpPr>
              <p:cNvPr id="16" name="Chemical text: NAD"/>
              <p:cNvSpPr txBox="1"/>
              <p:nvPr/>
            </p:nvSpPr>
            <p:spPr>
              <a:xfrm>
                <a:off x="3376625" y="2800350"/>
                <a:ext cx="38027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NAD</a:t>
                </a:r>
              </a:p>
            </p:txBody>
          </p:sp>
          <p:sp>
            <p:nvSpPr>
              <p:cNvPr id="17" name="Chemical text: +"/>
              <p:cNvSpPr txBox="1"/>
              <p:nvPr/>
            </p:nvSpPr>
            <p:spPr>
              <a:xfrm>
                <a:off x="3738615" y="2766060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18" name="Chemical text: → NADH"/>
              <p:cNvSpPr txBox="1"/>
              <p:nvPr/>
            </p:nvSpPr>
            <p:spPr>
              <a:xfrm>
                <a:off x="3241147" y="2985516"/>
                <a:ext cx="72317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→ NADH</a:t>
                </a:r>
              </a:p>
            </p:txBody>
          </p:sp>
        </p:grpSp>
      </p:grpSp>
      <p:grpSp>
        <p:nvGrpSpPr>
          <p:cNvPr id="19" name="b1_rubredoxin_cycle"/>
          <p:cNvGrpSpPr/>
          <p:nvPr/>
        </p:nvGrpSpPr>
        <p:grpSpPr>
          <a:xfrm>
            <a:off x="173736" y="2660904"/>
            <a:ext cx="4032504" cy="1619631"/>
            <a:chOff x="3026664" y="3401568"/>
            <a:chExt cx="4032504" cy="1619631"/>
          </a:xfrm>
        </p:grpSpPr>
        <p:sp>
          <p:nvSpPr>
            <p:cNvPr id="20" name="FDR reverse (closed)"/>
            <p:cNvSpPr/>
            <p:nvPr/>
          </p:nvSpPr>
          <p:spPr>
            <a:xfrm>
              <a:off x="5097780" y="3685032"/>
              <a:ext cx="1120140" cy="804672"/>
            </a:xfrm>
            <a:custGeom>
              <a:avLst/>
              <a:gdLst/>
              <a:ahLst/>
              <a:cxnLst/>
              <a:rect l="0" t="0" r="r" b="b"/>
              <a:pathLst>
                <a:path w="1120140" h="804672" fill="none">
                  <a:moveTo>
                    <a:pt x="0" y="0"/>
                  </a:moveTo>
                  <a:cubicBezTo>
                    <a:pt x="1120140" y="36576"/>
                    <a:pt x="1120140" y="768096"/>
                    <a:pt x="22860" y="804672"/>
                  </a:cubicBezTo>
                </a:path>
              </a:pathLst>
            </a:custGeom>
            <a:noFill/>
            <a:ln w="29209" cap="rnd">
              <a:solidFill>
                <a:srgbClr val="D55E00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DXR return route"/>
            <p:cNvSpPr/>
            <p:nvPr/>
          </p:nvSpPr>
          <p:spPr>
            <a:xfrm>
              <a:off x="3858768" y="3685032"/>
              <a:ext cx="1120140" cy="804672"/>
            </a:xfrm>
            <a:custGeom>
              <a:avLst/>
              <a:gdLst/>
              <a:ahLst/>
              <a:cxnLst/>
              <a:rect l="0" t="0" r="r" b="b"/>
              <a:pathLst>
                <a:path w="1120140" h="804672" fill="none">
                  <a:moveTo>
                    <a:pt x="1120140" y="804672"/>
                  </a:moveTo>
                  <a:cubicBezTo>
                    <a:pt x="0" y="768096"/>
                    <a:pt x="0" y="36576"/>
                    <a:pt x="1097280" y="0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4985309" y="3631997"/>
              <a:ext cx="106070" cy="106070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4985309" y="4436669"/>
              <a:ext cx="106070" cy="106070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duced rubredoxin"/>
            <p:cNvSpPr txBox="1"/>
            <p:nvPr/>
          </p:nvSpPr>
          <p:spPr>
            <a:xfrm>
              <a:off x="3849624" y="3401568"/>
              <a:ext cx="237744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0">
                  <a:solidFill>
                    <a:srgbClr val="20262E"/>
                  </a:solidFill>
                  <a:latin typeface="Liberation Sans"/>
                </a:rPr>
                <a:t>Reduced rubredoxin</a:t>
              </a:r>
            </a:p>
          </p:txBody>
        </p:sp>
        <p:sp>
          <p:nvSpPr>
            <p:cNvPr id="25" name="Oxidized rubredoxin"/>
            <p:cNvSpPr txBox="1"/>
            <p:nvPr/>
          </p:nvSpPr>
          <p:spPr>
            <a:xfrm>
              <a:off x="3803904" y="4562856"/>
              <a:ext cx="246888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Oxidized rubredoxin</a:t>
              </a:r>
            </a:p>
          </p:txBody>
        </p:sp>
        <p:sp>
          <p:nvSpPr>
            <p:cNvPr id="26" name="FDR (reverse)"/>
            <p:cNvSpPr txBox="1"/>
            <p:nvPr/>
          </p:nvSpPr>
          <p:spPr>
            <a:xfrm>
              <a:off x="5998464" y="3657600"/>
              <a:ext cx="1060704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1">
                  <a:solidFill>
                    <a:srgbClr val="D55E00"/>
                  </a:solidFill>
                  <a:latin typeface="Liberation Sans"/>
                </a:rPr>
                <a:t>FDR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1">
                  <a:solidFill>
                    <a:srgbClr val="D55E00"/>
                  </a:solidFill>
                  <a:latin typeface="Liberation Sans"/>
                </a:rPr>
                <a:t>(reverse)</a:t>
              </a:r>
            </a:p>
          </p:txBody>
        </p:sp>
        <p:grpSp>
          <p:nvGrpSpPr>
            <p:cNvPr id="27" name="NADP⁺ + H⁺ → NADPH"/>
            <p:cNvGrpSpPr/>
            <p:nvPr/>
          </p:nvGrpSpPr>
          <p:grpSpPr>
            <a:xfrm>
              <a:off x="6031663" y="4329684"/>
              <a:ext cx="957731" cy="404622"/>
              <a:chOff x="6031663" y="4329684"/>
              <a:chExt cx="957731" cy="404622"/>
            </a:xfrm>
          </p:grpSpPr>
          <p:sp>
            <p:nvSpPr>
              <p:cNvPr id="28" name="Chemical text: NADP"/>
              <p:cNvSpPr txBox="1"/>
              <p:nvPr/>
            </p:nvSpPr>
            <p:spPr>
              <a:xfrm>
                <a:off x="6031663" y="4363974"/>
                <a:ext cx="494637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NADP</a:t>
                </a:r>
              </a:p>
            </p:txBody>
          </p:sp>
          <p:sp>
            <p:nvSpPr>
              <p:cNvPr id="29" name="Chemical text: +"/>
              <p:cNvSpPr txBox="1"/>
              <p:nvPr/>
            </p:nvSpPr>
            <p:spPr>
              <a:xfrm>
                <a:off x="6508012" y="4329684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30" name="Chemical text:  + H"/>
              <p:cNvSpPr txBox="1"/>
              <p:nvPr/>
            </p:nvSpPr>
            <p:spPr>
              <a:xfrm>
                <a:off x="6579955" y="4363974"/>
                <a:ext cx="337495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 + H</a:t>
                </a:r>
              </a:p>
            </p:txBody>
          </p:sp>
          <p:sp>
            <p:nvSpPr>
              <p:cNvPr id="31" name="Chemical text: +"/>
              <p:cNvSpPr txBox="1"/>
              <p:nvPr/>
            </p:nvSpPr>
            <p:spPr>
              <a:xfrm>
                <a:off x="6899162" y="4329684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32" name="Chemical text: → NADPH"/>
              <p:cNvSpPr txBox="1"/>
              <p:nvPr/>
            </p:nvSpPr>
            <p:spPr>
              <a:xfrm>
                <a:off x="6091759" y="4549140"/>
                <a:ext cx="837537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→ NADPH</a:t>
                </a:r>
              </a:p>
            </p:txBody>
          </p:sp>
        </p:grpSp>
        <p:sp>
          <p:nvSpPr>
            <p:cNvPr id="33" name="RDXR"/>
            <p:cNvSpPr txBox="1"/>
            <p:nvPr/>
          </p:nvSpPr>
          <p:spPr>
            <a:xfrm>
              <a:off x="3026664" y="3721608"/>
              <a:ext cx="1042416" cy="28346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1">
                  <a:solidFill>
                    <a:srgbClr val="4C78A8"/>
                  </a:solidFill>
                  <a:latin typeface="Liberation Sans"/>
                </a:rPr>
                <a:t>RDXR</a:t>
              </a:r>
            </a:p>
          </p:txBody>
        </p:sp>
        <p:grpSp>
          <p:nvGrpSpPr>
            <p:cNvPr id="34" name="NADH → NAD⁺ + H⁺"/>
            <p:cNvGrpSpPr/>
            <p:nvPr/>
          </p:nvGrpSpPr>
          <p:grpSpPr>
            <a:xfrm>
              <a:off x="3185622" y="4034790"/>
              <a:ext cx="843372" cy="370332"/>
              <a:chOff x="3185622" y="4034790"/>
              <a:chExt cx="843372" cy="370332"/>
            </a:xfrm>
          </p:grpSpPr>
          <p:sp>
            <p:nvSpPr>
              <p:cNvPr id="35" name="Chemical text: NADH →"/>
              <p:cNvSpPr txBox="1"/>
              <p:nvPr/>
            </p:nvSpPr>
            <p:spPr>
              <a:xfrm>
                <a:off x="3245719" y="4034790"/>
                <a:ext cx="72317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NADH →</a:t>
                </a:r>
              </a:p>
            </p:txBody>
          </p:sp>
          <p:sp>
            <p:nvSpPr>
              <p:cNvPr id="36" name="Chemical text: NAD"/>
              <p:cNvSpPr txBox="1"/>
              <p:nvPr/>
            </p:nvSpPr>
            <p:spPr>
              <a:xfrm>
                <a:off x="3185622" y="4219956"/>
                <a:ext cx="38027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NAD</a:t>
                </a:r>
              </a:p>
            </p:txBody>
          </p:sp>
          <p:sp>
            <p:nvSpPr>
              <p:cNvPr id="37" name="Chemical text: +"/>
              <p:cNvSpPr txBox="1"/>
              <p:nvPr/>
            </p:nvSpPr>
            <p:spPr>
              <a:xfrm>
                <a:off x="3547612" y="4185666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38" name="Chemical text:  + H"/>
              <p:cNvSpPr txBox="1"/>
              <p:nvPr/>
            </p:nvSpPr>
            <p:spPr>
              <a:xfrm>
                <a:off x="3619556" y="4219956"/>
                <a:ext cx="337495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 + H</a:t>
                </a:r>
              </a:p>
            </p:txBody>
          </p:sp>
          <p:sp>
            <p:nvSpPr>
              <p:cNvPr id="39" name="Chemical text: +"/>
              <p:cNvSpPr txBox="1"/>
              <p:nvPr/>
            </p:nvSpPr>
            <p:spPr>
              <a:xfrm>
                <a:off x="3938762" y="4185666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</p:grpSp>
        <p:sp>
          <p:nvSpPr>
            <p:cNvPr id="40" name="MQC stop"/>
            <p:cNvSpPr/>
            <p:nvPr/>
          </p:nvSpPr>
          <p:spPr>
            <a:xfrm>
              <a:off x="5850331" y="4026103"/>
              <a:ext cx="140818" cy="140818"/>
            </a:xfrm>
            <a:custGeom>
              <a:avLst/>
              <a:gdLst/>
              <a:ahLst/>
              <a:cxnLst/>
              <a:rect l="0" t="0" r="r" b="b"/>
              <a:pathLst>
                <a:path w="140818" h="140818" fill="none">
                  <a:moveTo>
                    <a:pt x="0" y="0"/>
                  </a:moveTo>
                  <a:lnTo>
                    <a:pt x="140818" y="140818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MQC stop"/>
            <p:cNvSpPr/>
            <p:nvPr/>
          </p:nvSpPr>
          <p:spPr>
            <a:xfrm>
              <a:off x="5850331" y="4026103"/>
              <a:ext cx="140818" cy="140818"/>
            </a:xfrm>
            <a:custGeom>
              <a:avLst/>
              <a:gdLst/>
              <a:ahLst/>
              <a:cxnLst/>
              <a:rect l="0" t="0" r="r" b="b"/>
              <a:pathLst>
                <a:path w="140818" h="140818" fill="none">
                  <a:moveTo>
                    <a:pt x="0" y="140818"/>
                  </a:moveTo>
                  <a:lnTo>
                    <a:pt x="140818" y="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closed"/>
            <p:cNvSpPr txBox="1"/>
            <p:nvPr/>
          </p:nvSpPr>
          <p:spPr>
            <a:xfrm>
              <a:off x="6080760" y="4096512"/>
              <a:ext cx="914400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C43C39"/>
                  </a:solidFill>
                  <a:latin typeface="Liberation Sans"/>
                </a:rPr>
                <a:t>closed</a:t>
              </a:r>
            </a:p>
          </p:txBody>
        </p:sp>
        <p:grpSp>
          <p:nvGrpSpPr>
            <p:cNvPr id="43" name="Net: H⁺ + NAD⁺ → NADH; output 500"/>
            <p:cNvGrpSpPr/>
            <p:nvPr/>
          </p:nvGrpSpPr>
          <p:grpSpPr>
            <a:xfrm>
              <a:off x="3554705" y="4801743"/>
              <a:ext cx="2967278" cy="219456"/>
              <a:chOff x="3554705" y="4801743"/>
              <a:chExt cx="2967278" cy="219456"/>
            </a:xfrm>
          </p:grpSpPr>
          <p:sp>
            <p:nvSpPr>
              <p:cNvPr id="44" name="Chemical text: Net: H"/>
              <p:cNvSpPr txBox="1"/>
              <p:nvPr/>
            </p:nvSpPr>
            <p:spPr>
              <a:xfrm>
                <a:off x="3554705" y="4836033"/>
                <a:ext cx="523083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0">
                    <a:solidFill>
                      <a:srgbClr val="20262E"/>
                    </a:solidFill>
                    <a:latin typeface="Liberation Sans"/>
                  </a:rPr>
                  <a:t>Net: H</a:t>
                </a:r>
              </a:p>
            </p:txBody>
          </p:sp>
          <p:sp>
            <p:nvSpPr>
              <p:cNvPr id="45" name="Chemical text: +"/>
              <p:cNvSpPr txBox="1"/>
              <p:nvPr/>
            </p:nvSpPr>
            <p:spPr>
              <a:xfrm>
                <a:off x="4059500" y="4801743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1" i="0">
                    <a:solidFill>
                      <a:srgbClr val="20262E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46" name="Chemical text:  + NAD"/>
              <p:cNvSpPr txBox="1"/>
              <p:nvPr/>
            </p:nvSpPr>
            <p:spPr>
              <a:xfrm>
                <a:off x="4131444" y="4836033"/>
                <a:ext cx="585125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0">
                    <a:solidFill>
                      <a:srgbClr val="20262E"/>
                    </a:solidFill>
                    <a:latin typeface="Liberation Sans"/>
                  </a:rPr>
                  <a:t> + NAD</a:t>
                </a:r>
              </a:p>
            </p:txBody>
          </p:sp>
          <p:sp>
            <p:nvSpPr>
              <p:cNvPr id="47" name="Chemical text: +"/>
              <p:cNvSpPr txBox="1"/>
              <p:nvPr/>
            </p:nvSpPr>
            <p:spPr>
              <a:xfrm>
                <a:off x="4698281" y="4801743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1" i="0">
                    <a:solidFill>
                      <a:srgbClr val="20262E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48" name="Chemical text:  → NADH; output 500"/>
              <p:cNvSpPr txBox="1"/>
              <p:nvPr/>
            </p:nvSpPr>
            <p:spPr>
              <a:xfrm>
                <a:off x="4770224" y="4836033"/>
                <a:ext cx="175175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0">
                    <a:solidFill>
                      <a:srgbClr val="20262E"/>
                    </a:solidFill>
                    <a:latin typeface="Liberation Sans"/>
                  </a:rPr>
                  <a:t> → NADH; output 500</a:t>
                </a:r>
              </a:p>
            </p:txBody>
          </p:sp>
        </p:grpSp>
      </p:grpSp>
      <p:sp>
        <p:nvSpPr>
          <p:cNvPr id="49" name="FDR-dependent redox cycle"/>
          <p:cNvSpPr txBox="1"/>
          <p:nvPr/>
        </p:nvSpPr>
        <p:spPr>
          <a:xfrm>
            <a:off x="164592" y="164592"/>
            <a:ext cx="4041648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62E"/>
                </a:solidFill>
                <a:latin typeface="Liberation Sans"/>
              </a:rPr>
              <a:t>FDR-dependent redox 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