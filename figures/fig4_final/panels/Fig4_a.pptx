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2944368" cy="8605647" type="screen4x3"/>
  <p:notesSz cx="6858000" cy="9144000"/>
  <p:embeddedFontLst>
    <p:embeddedFont>
      <p:font typeface="Liberation Sans"/>
      <p:regular r:id="rIdLiberation1"/>
      <p:bold r:id="rIdLiberation2"/>
      <p:italic r:id="rIdLiberation3"/>
      <p:boldItalic r:id="rIdLiberation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Liberation1" Type="http://schemas.openxmlformats.org/officeDocument/2006/relationships/font" Target="fonts/LiberationSans-Regular.fntdata"/><Relationship Id="rIdLiberation2" Type="http://schemas.openxmlformats.org/officeDocument/2006/relationships/font" Target="fonts/LiberationSans-Bold.fntdata"/><Relationship Id="rIdLiberation3" Type="http://schemas.openxmlformats.org/officeDocument/2006/relationships/font" Target="fonts/LiberationSans-Italic.fntdata"/><Relationship Id="rIdLiberation4" Type="http://schemas.openxmlformats.org/officeDocument/2006/relationships/font" Target="fonts/LiberationSans-BoldItalic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a_condition_model"/>
          <p:cNvGrpSpPr/>
          <p:nvPr/>
        </p:nvGrpSpPr>
        <p:grpSpPr>
          <a:xfrm>
            <a:off x="164592" y="731520"/>
            <a:ext cx="2340864" cy="2372868"/>
            <a:chOff x="347472" y="1906524"/>
            <a:chExt cx="2340864" cy="2372868"/>
          </a:xfrm>
        </p:grpSpPr>
        <p:sp>
          <p:nvSpPr>
            <p:cNvPr id="3" name="Hexagon 2"/>
            <p:cNvSpPr/>
            <p:nvPr/>
          </p:nvSpPr>
          <p:spPr>
            <a:xfrm>
              <a:off x="484632" y="2203704"/>
              <a:ext cx="402336" cy="384048"/>
            </a:xfrm>
            <a:prstGeom prst="hexagon">
              <a:avLst/>
            </a:prstGeom>
            <a:solidFill>
              <a:srgbClr val="EDF4FA"/>
            </a:solidFill>
            <a:ln w="1397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carbon source"/>
            <p:cNvSpPr txBox="1"/>
            <p:nvPr/>
          </p:nvSpPr>
          <p:spPr>
            <a:xfrm>
              <a:off x="347472" y="2642616"/>
              <a:ext cx="694944" cy="429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20262E"/>
                  </a:solidFill>
                  <a:latin typeface="Liberation Sans"/>
                </a:rPr>
                <a:t>carbon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20262E"/>
                  </a:solidFill>
                  <a:latin typeface="Liberation Sans"/>
                </a:rPr>
                <a:t>source</a:t>
              </a:r>
            </a:p>
          </p:txBody>
        </p:sp>
        <p:sp>
          <p:nvSpPr>
            <p:cNvPr id="5" name="Metabolic route"/>
            <p:cNvSpPr/>
            <p:nvPr/>
          </p:nvSpPr>
          <p:spPr>
            <a:xfrm>
              <a:off x="932688" y="2395728"/>
              <a:ext cx="448056" cy="1"/>
            </a:xfrm>
            <a:custGeom>
              <a:avLst/>
              <a:gdLst/>
              <a:ahLst/>
              <a:cxnLst/>
              <a:rect l="0" t="0" r="r" b="b"/>
              <a:pathLst>
                <a:path w="448056" h="1" fill="none">
                  <a:moveTo>
                    <a:pt x="0" y="0"/>
                  </a:moveTo>
                  <a:lnTo>
                    <a:pt x="448056" y="0"/>
                  </a:lnTo>
                </a:path>
              </a:pathLst>
            </a:custGeom>
            <a:noFill/>
            <a:ln w="2286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MQC stop"/>
            <p:cNvSpPr/>
            <p:nvPr/>
          </p:nvSpPr>
          <p:spPr>
            <a:xfrm>
              <a:off x="1063447" y="2316175"/>
              <a:ext cx="159106" cy="159106"/>
            </a:xfrm>
            <a:custGeom>
              <a:avLst/>
              <a:gdLst/>
              <a:ahLst/>
              <a:cxnLst/>
              <a:rect l="0" t="0" r="r" b="b"/>
              <a:pathLst>
                <a:path w="159106" h="159106" fill="none">
                  <a:moveTo>
                    <a:pt x="0" y="0"/>
                  </a:moveTo>
                  <a:lnTo>
                    <a:pt x="159106" y="159106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MQC stop"/>
            <p:cNvSpPr/>
            <p:nvPr/>
          </p:nvSpPr>
          <p:spPr>
            <a:xfrm>
              <a:off x="1063447" y="2316175"/>
              <a:ext cx="159106" cy="159106"/>
            </a:xfrm>
            <a:custGeom>
              <a:avLst/>
              <a:gdLst/>
              <a:ahLst/>
              <a:cxnLst/>
              <a:rect l="0" t="0" r="r" b="b"/>
              <a:pathLst>
                <a:path w="159106" h="159106" fill="none">
                  <a:moveTo>
                    <a:pt x="0" y="159106"/>
                  </a:moveTo>
                  <a:lnTo>
                    <a:pt x="159106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Metabolic route"/>
            <p:cNvSpPr/>
            <p:nvPr/>
          </p:nvSpPr>
          <p:spPr>
            <a:xfrm>
              <a:off x="1655064" y="1947672"/>
              <a:ext cx="292608" cy="192024"/>
            </a:xfrm>
            <a:custGeom>
              <a:avLst/>
              <a:gdLst/>
              <a:ahLst/>
              <a:cxnLst/>
              <a:rect l="0" t="0" r="r" b="b"/>
              <a:pathLst>
                <a:path w="292608" h="192024" fill="none">
                  <a:moveTo>
                    <a:pt x="0" y="192024"/>
                  </a:moveTo>
                  <a:lnTo>
                    <a:pt x="292608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Metabolic route"/>
            <p:cNvSpPr/>
            <p:nvPr/>
          </p:nvSpPr>
          <p:spPr>
            <a:xfrm>
              <a:off x="1947672" y="1947672"/>
              <a:ext cx="320040" cy="173736"/>
            </a:xfrm>
            <a:custGeom>
              <a:avLst/>
              <a:gdLst/>
              <a:ahLst/>
              <a:cxnLst/>
              <a:rect l="0" t="0" r="r" b="b"/>
              <a:pathLst>
                <a:path w="320040" h="173736" fill="none">
                  <a:moveTo>
                    <a:pt x="0" y="0"/>
                  </a:moveTo>
                  <a:lnTo>
                    <a:pt x="320040" y="173736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Metabolic route"/>
            <p:cNvSpPr/>
            <p:nvPr/>
          </p:nvSpPr>
          <p:spPr>
            <a:xfrm>
              <a:off x="2267712" y="2121408"/>
              <a:ext cx="192024" cy="384048"/>
            </a:xfrm>
            <a:custGeom>
              <a:avLst/>
              <a:gdLst/>
              <a:ahLst/>
              <a:cxnLst/>
              <a:rect l="0" t="0" r="r" b="b"/>
              <a:pathLst>
                <a:path w="192024" h="384048" fill="none">
                  <a:moveTo>
                    <a:pt x="0" y="0"/>
                  </a:moveTo>
                  <a:lnTo>
                    <a:pt x="192024" y="384048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Metabolic route"/>
            <p:cNvSpPr/>
            <p:nvPr/>
          </p:nvSpPr>
          <p:spPr>
            <a:xfrm>
              <a:off x="2194560" y="2505456"/>
              <a:ext cx="265176" cy="274320"/>
            </a:xfrm>
            <a:custGeom>
              <a:avLst/>
              <a:gdLst/>
              <a:ahLst/>
              <a:cxnLst/>
              <a:rect l="0" t="0" r="r" b="b"/>
              <a:pathLst>
                <a:path w="265176" h="274320" fill="none">
                  <a:moveTo>
                    <a:pt x="265176" y="0"/>
                  </a:moveTo>
                  <a:lnTo>
                    <a:pt x="0" y="27432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Metabolic route"/>
            <p:cNvSpPr/>
            <p:nvPr/>
          </p:nvSpPr>
          <p:spPr>
            <a:xfrm>
              <a:off x="1847088" y="2779776"/>
              <a:ext cx="347472" cy="73152"/>
            </a:xfrm>
            <a:custGeom>
              <a:avLst/>
              <a:gdLst/>
              <a:ahLst/>
              <a:cxnLst/>
              <a:rect l="0" t="0" r="r" b="b"/>
              <a:pathLst>
                <a:path w="347472" h="73152" fill="none">
                  <a:moveTo>
                    <a:pt x="347472" y="0"/>
                  </a:moveTo>
                  <a:lnTo>
                    <a:pt x="0" y="73152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Metabolic route"/>
            <p:cNvSpPr/>
            <p:nvPr/>
          </p:nvSpPr>
          <p:spPr>
            <a:xfrm>
              <a:off x="1545336" y="2587752"/>
              <a:ext cx="301752" cy="265176"/>
            </a:xfrm>
            <a:custGeom>
              <a:avLst/>
              <a:gdLst/>
              <a:ahLst/>
              <a:cxnLst/>
              <a:rect l="0" t="0" r="r" b="b"/>
              <a:pathLst>
                <a:path w="301752" h="265176" fill="none">
                  <a:moveTo>
                    <a:pt x="301752" y="265176"/>
                  </a:moveTo>
                  <a:lnTo>
                    <a:pt x="0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Metabolic route"/>
            <p:cNvSpPr/>
            <p:nvPr/>
          </p:nvSpPr>
          <p:spPr>
            <a:xfrm>
              <a:off x="1545336" y="2139696"/>
              <a:ext cx="109728" cy="448056"/>
            </a:xfrm>
            <a:custGeom>
              <a:avLst/>
              <a:gdLst/>
              <a:ahLst/>
              <a:cxnLst/>
              <a:rect l="0" t="0" r="r" b="b"/>
              <a:pathLst>
                <a:path w="109728" h="448056" fill="none">
                  <a:moveTo>
                    <a:pt x="0" y="448056"/>
                  </a:moveTo>
                  <a:lnTo>
                    <a:pt x="109728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Metabolic route"/>
            <p:cNvSpPr/>
            <p:nvPr/>
          </p:nvSpPr>
          <p:spPr>
            <a:xfrm>
              <a:off x="1655064" y="2139696"/>
              <a:ext cx="329184" cy="292608"/>
            </a:xfrm>
            <a:custGeom>
              <a:avLst/>
              <a:gdLst/>
              <a:ahLst/>
              <a:cxnLst/>
              <a:rect l="0" t="0" r="r" b="b"/>
              <a:pathLst>
                <a:path w="329184" h="292608" fill="none">
                  <a:moveTo>
                    <a:pt x="0" y="0"/>
                  </a:moveTo>
                  <a:lnTo>
                    <a:pt x="329184" y="292608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Metabolic route"/>
            <p:cNvSpPr/>
            <p:nvPr/>
          </p:nvSpPr>
          <p:spPr>
            <a:xfrm>
              <a:off x="1947672" y="1947672"/>
              <a:ext cx="36576" cy="484632"/>
            </a:xfrm>
            <a:custGeom>
              <a:avLst/>
              <a:gdLst/>
              <a:ahLst/>
              <a:cxnLst/>
              <a:rect l="0" t="0" r="r" b="b"/>
              <a:pathLst>
                <a:path w="36576" h="484632" fill="none">
                  <a:moveTo>
                    <a:pt x="0" y="0"/>
                  </a:moveTo>
                  <a:lnTo>
                    <a:pt x="36576" y="484632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Metabolic route"/>
            <p:cNvSpPr/>
            <p:nvPr/>
          </p:nvSpPr>
          <p:spPr>
            <a:xfrm>
              <a:off x="1984248" y="2121408"/>
              <a:ext cx="283464" cy="310896"/>
            </a:xfrm>
            <a:custGeom>
              <a:avLst/>
              <a:gdLst/>
              <a:ahLst/>
              <a:cxnLst/>
              <a:rect l="0" t="0" r="r" b="b"/>
              <a:pathLst>
                <a:path w="283464" h="310896" fill="none">
                  <a:moveTo>
                    <a:pt x="283464" y="0"/>
                  </a:moveTo>
                  <a:lnTo>
                    <a:pt x="0" y="310896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Metabolic route"/>
            <p:cNvSpPr/>
            <p:nvPr/>
          </p:nvSpPr>
          <p:spPr>
            <a:xfrm>
              <a:off x="1984248" y="2432304"/>
              <a:ext cx="475488" cy="73152"/>
            </a:xfrm>
            <a:custGeom>
              <a:avLst/>
              <a:gdLst/>
              <a:ahLst/>
              <a:cxnLst/>
              <a:rect l="0" t="0" r="r" b="b"/>
              <a:pathLst>
                <a:path w="475488" h="73152" fill="none">
                  <a:moveTo>
                    <a:pt x="475488" y="73152"/>
                  </a:moveTo>
                  <a:lnTo>
                    <a:pt x="0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Metabolic route"/>
            <p:cNvSpPr/>
            <p:nvPr/>
          </p:nvSpPr>
          <p:spPr>
            <a:xfrm>
              <a:off x="1984248" y="2432304"/>
              <a:ext cx="210312" cy="347472"/>
            </a:xfrm>
            <a:custGeom>
              <a:avLst/>
              <a:gdLst/>
              <a:ahLst/>
              <a:cxnLst/>
              <a:rect l="0" t="0" r="r" b="b"/>
              <a:pathLst>
                <a:path w="210312" h="347472" fill="none">
                  <a:moveTo>
                    <a:pt x="210312" y="347472"/>
                  </a:moveTo>
                  <a:lnTo>
                    <a:pt x="0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Metabolic route"/>
            <p:cNvSpPr/>
            <p:nvPr/>
          </p:nvSpPr>
          <p:spPr>
            <a:xfrm>
              <a:off x="1847088" y="2432304"/>
              <a:ext cx="137160" cy="420624"/>
            </a:xfrm>
            <a:custGeom>
              <a:avLst/>
              <a:gdLst/>
              <a:ahLst/>
              <a:cxnLst/>
              <a:rect l="0" t="0" r="r" b="b"/>
              <a:pathLst>
                <a:path w="137160" h="420624" fill="none">
                  <a:moveTo>
                    <a:pt x="0" y="420624"/>
                  </a:moveTo>
                  <a:lnTo>
                    <a:pt x="137160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Metabolic route"/>
            <p:cNvSpPr/>
            <p:nvPr/>
          </p:nvSpPr>
          <p:spPr>
            <a:xfrm>
              <a:off x="1545336" y="2432304"/>
              <a:ext cx="438912" cy="155448"/>
            </a:xfrm>
            <a:custGeom>
              <a:avLst/>
              <a:gdLst/>
              <a:ahLst/>
              <a:cxnLst/>
              <a:rect l="0" t="0" r="r" b="b"/>
              <a:pathLst>
                <a:path w="438912" h="155448" fill="none">
                  <a:moveTo>
                    <a:pt x="0" y="155448"/>
                  </a:moveTo>
                  <a:lnTo>
                    <a:pt x="438912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Metabolic route"/>
            <p:cNvSpPr/>
            <p:nvPr/>
          </p:nvSpPr>
          <p:spPr>
            <a:xfrm>
              <a:off x="2194560" y="2121408"/>
              <a:ext cx="73152" cy="658368"/>
            </a:xfrm>
            <a:custGeom>
              <a:avLst/>
              <a:gdLst/>
              <a:ahLst/>
              <a:cxnLst/>
              <a:rect l="0" t="0" r="r" b="b"/>
              <a:pathLst>
                <a:path w="73152" h="658368" fill="none">
                  <a:moveTo>
                    <a:pt x="73152" y="0"/>
                  </a:moveTo>
                  <a:lnTo>
                    <a:pt x="0" y="658368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1613916" y="2098548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906524" y="1906524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2226564" y="2080260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2418588" y="2464308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2153412" y="2738628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1805940" y="2811780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1504188" y="2546604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1943100" y="2391156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iCN718"/>
            <p:cNvSpPr txBox="1"/>
            <p:nvPr/>
          </p:nvSpPr>
          <p:spPr>
            <a:xfrm>
              <a:off x="1499616" y="2953512"/>
              <a:ext cx="960120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i="0">
                  <a:solidFill>
                    <a:srgbClr val="20262E"/>
                  </a:solidFill>
                  <a:latin typeface="Liberation Sans"/>
                </a:rPr>
                <a:t>iCN718</a:t>
              </a:r>
            </a:p>
          </p:txBody>
        </p:sp>
        <p:sp>
          <p:nvSpPr>
            <p:cNvPr id="32" name="Carbon-source uptake closed"/>
            <p:cNvSpPr txBox="1"/>
            <p:nvPr/>
          </p:nvSpPr>
          <p:spPr>
            <a:xfrm>
              <a:off x="356616" y="3337560"/>
              <a:ext cx="23317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Carbon-source uptake closed</a:t>
              </a:r>
            </a:p>
          </p:txBody>
        </p:sp>
        <p:sp>
          <p:nvSpPr>
            <p:cNvPr id="33" name="Objective screening"/>
            <p:cNvSpPr txBox="1"/>
            <p:nvPr/>
          </p:nvSpPr>
          <p:spPr>
            <a:xfrm>
              <a:off x="466344" y="3657600"/>
              <a:ext cx="2103120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4C78A8"/>
                  </a:solidFill>
                  <a:latin typeface="Liberation Sans"/>
                </a:rPr>
                <a:t>Objective screening</a:t>
              </a:r>
            </a:p>
          </p:txBody>
        </p:sp>
        <p:sp>
          <p:nvSpPr>
            <p:cNvPr id="34" name="Metabolic route"/>
            <p:cNvSpPr/>
            <p:nvPr/>
          </p:nvSpPr>
          <p:spPr>
            <a:xfrm>
              <a:off x="1517904" y="3977640"/>
              <a:ext cx="1" cy="301752"/>
            </a:xfrm>
            <a:custGeom>
              <a:avLst/>
              <a:gdLst/>
              <a:ahLst/>
              <a:cxnLst/>
              <a:rect l="0" t="0" r="r" b="b"/>
              <a:pathLst>
                <a:path w="1" h="301752" fill="none">
                  <a:moveTo>
                    <a:pt x="0" y="0"/>
                  </a:moveTo>
                  <a:lnTo>
                    <a:pt x="0" y="301752"/>
                  </a:ln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a_objectives"/>
          <p:cNvGrpSpPr/>
          <p:nvPr/>
        </p:nvGrpSpPr>
        <p:grpSpPr>
          <a:xfrm>
            <a:off x="182880" y="3305556"/>
            <a:ext cx="2596896" cy="5135499"/>
            <a:chOff x="365760" y="3401568"/>
            <a:chExt cx="2596896" cy="5135499"/>
          </a:xfrm>
        </p:grpSpPr>
        <p:sp>
          <p:nvSpPr>
            <p:cNvPr id="36" name="Positive objectives"/>
            <p:cNvSpPr txBox="1"/>
            <p:nvPr/>
          </p:nvSpPr>
          <p:spPr>
            <a:xfrm>
              <a:off x="365760" y="3401568"/>
              <a:ext cx="2313432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20262E"/>
                  </a:solidFill>
                  <a:latin typeface="Liberation Sans"/>
                </a:rPr>
                <a:t>Positive objectives</a:t>
              </a:r>
            </a:p>
          </p:txBody>
        </p:sp>
        <p:sp>
          <p:nvSpPr>
            <p:cNvPr id="37" name="Reducing equivalents"/>
            <p:cNvSpPr txBox="1"/>
            <p:nvPr/>
          </p:nvSpPr>
          <p:spPr>
            <a:xfrm>
              <a:off x="365760" y="3931920"/>
              <a:ext cx="2313432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C7FB8"/>
                  </a:solidFill>
                  <a:latin typeface="Liberation Sans"/>
                </a:rPr>
                <a:t>Reducing equivalents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557784" y="4507992"/>
              <a:ext cx="109728" cy="10972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2C7FB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NADH"/>
            <p:cNvSpPr txBox="1"/>
            <p:nvPr/>
          </p:nvSpPr>
          <p:spPr>
            <a:xfrm>
              <a:off x="758952" y="4407408"/>
              <a:ext cx="667512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NADH</a:t>
              </a:r>
            </a:p>
          </p:txBody>
        </p:sp>
        <p:sp>
          <p:nvSpPr>
            <p:cNvPr id="40" name="665.802"/>
            <p:cNvSpPr txBox="1"/>
            <p:nvPr/>
          </p:nvSpPr>
          <p:spPr>
            <a:xfrm>
              <a:off x="1655064" y="4407408"/>
              <a:ext cx="1005840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665.802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557784" y="5394960"/>
              <a:ext cx="109728" cy="10972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E69F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NTPs"/>
            <p:cNvSpPr txBox="1"/>
            <p:nvPr/>
          </p:nvSpPr>
          <p:spPr>
            <a:xfrm>
              <a:off x="758952" y="5294376"/>
              <a:ext cx="667512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NTPs</a:t>
              </a:r>
            </a:p>
          </p:txBody>
        </p:sp>
        <p:sp>
          <p:nvSpPr>
            <p:cNvPr id="43" name="96.250 each"/>
            <p:cNvSpPr txBox="1"/>
            <p:nvPr/>
          </p:nvSpPr>
          <p:spPr>
            <a:xfrm>
              <a:off x="1399032" y="5294376"/>
              <a:ext cx="1289304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96.250 each</a:t>
              </a:r>
            </a:p>
          </p:txBody>
        </p:sp>
        <p:sp>
          <p:nvSpPr>
            <p:cNvPr id="44" name="ATP / CTP / GTP UTP / ITP"/>
            <p:cNvSpPr txBox="1"/>
            <p:nvPr/>
          </p:nvSpPr>
          <p:spPr>
            <a:xfrm>
              <a:off x="457200" y="5641848"/>
              <a:ext cx="2212848" cy="4114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ATP / CTP / GTP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UTP / ITP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635508" y="6396228"/>
              <a:ext cx="100584" cy="100584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009E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Urea"/>
            <p:cNvSpPr txBox="1"/>
            <p:nvPr/>
          </p:nvSpPr>
          <p:spPr>
            <a:xfrm>
              <a:off x="411480" y="6583680"/>
              <a:ext cx="676656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Urea</a:t>
              </a:r>
            </a:p>
          </p:txBody>
        </p:sp>
        <p:sp>
          <p:nvSpPr>
            <p:cNvPr id="47" name="5.000"/>
            <p:cNvSpPr txBox="1"/>
            <p:nvPr/>
          </p:nvSpPr>
          <p:spPr>
            <a:xfrm>
              <a:off x="411480" y="6858000"/>
              <a:ext cx="676656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5.000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1897380" y="6396228"/>
              <a:ext cx="100584" cy="100584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7B6FD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Allophanate"/>
            <p:cNvSpPr txBox="1"/>
            <p:nvPr/>
          </p:nvSpPr>
          <p:spPr>
            <a:xfrm>
              <a:off x="1325880" y="6583680"/>
              <a:ext cx="1261872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Allophanate</a:t>
              </a:r>
            </a:p>
          </p:txBody>
        </p:sp>
        <p:sp>
          <p:nvSpPr>
            <p:cNvPr id="50" name="5.000"/>
            <p:cNvSpPr txBox="1"/>
            <p:nvPr/>
          </p:nvSpPr>
          <p:spPr>
            <a:xfrm>
              <a:off x="1591056" y="6858000"/>
              <a:ext cx="704088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5.000</a:t>
              </a:r>
            </a:p>
          </p:txBody>
        </p:sp>
        <p:sp>
          <p:nvSpPr>
            <p:cNvPr id="51" name="Metabolic route"/>
            <p:cNvSpPr/>
            <p:nvPr/>
          </p:nvSpPr>
          <p:spPr>
            <a:xfrm>
              <a:off x="685800" y="7232904"/>
              <a:ext cx="1261872" cy="118872"/>
            </a:xfrm>
            <a:custGeom>
              <a:avLst/>
              <a:gdLst/>
              <a:ahLst/>
              <a:cxnLst/>
              <a:rect l="0" t="0" r="r" b="b"/>
              <a:pathLst>
                <a:path w="1261872" h="118872" fill="none">
                  <a:moveTo>
                    <a:pt x="0" y="0"/>
                  </a:moveTo>
                  <a:lnTo>
                    <a:pt x="0" y="118872"/>
                  </a:lnTo>
                  <a:lnTo>
                    <a:pt x="1261872" y="118872"/>
                  </a:lnTo>
                  <a:lnTo>
                    <a:pt x="1261872" y="0"/>
                  </a:lnTo>
                </a:path>
              </a:pathLst>
            </a:custGeom>
            <a:noFill/>
            <a:ln w="10160" cap="rnd">
              <a:solidFill>
                <a:srgbClr val="D7DCE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Metabolic route"/>
            <p:cNvSpPr/>
            <p:nvPr/>
          </p:nvSpPr>
          <p:spPr>
            <a:xfrm>
              <a:off x="1316736" y="7351776"/>
              <a:ext cx="1" cy="228600"/>
            </a:xfrm>
            <a:custGeom>
              <a:avLst/>
              <a:gdLst/>
              <a:ahLst/>
              <a:cxnLst/>
              <a:rect l="0" t="0" r="r" b="b"/>
              <a:pathLst>
                <a:path w="1" h="228600" fill="none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0160" cap="rnd">
              <a:solidFill>
                <a:srgbClr val="D7DCE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race active pathways"/>
            <p:cNvSpPr txBox="1"/>
            <p:nvPr/>
          </p:nvSpPr>
          <p:spPr>
            <a:xfrm>
              <a:off x="411480" y="7671816"/>
              <a:ext cx="2221992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4C78A8"/>
                  </a:solidFill>
                  <a:latin typeface="Liberation Sans"/>
                </a:rPr>
                <a:t>Trace active pathways</a:t>
              </a:r>
            </a:p>
          </p:txBody>
        </p:sp>
        <p:sp>
          <p:nvSpPr>
            <p:cNvPr id="54" name="Metabolic route"/>
            <p:cNvSpPr/>
            <p:nvPr/>
          </p:nvSpPr>
          <p:spPr>
            <a:xfrm>
              <a:off x="941832" y="8092440"/>
              <a:ext cx="2020824" cy="1"/>
            </a:xfrm>
            <a:custGeom>
              <a:avLst/>
              <a:gdLst/>
              <a:ahLst/>
              <a:cxnLst/>
              <a:rect l="0" t="0" r="r" b="b"/>
              <a:pathLst>
                <a:path w="2020824" h="1" fill="none">
                  <a:moveTo>
                    <a:pt x="0" y="0"/>
                  </a:moveTo>
                  <a:lnTo>
                    <a:pt x="2020824" y="0"/>
                  </a:lnTo>
                </a:path>
              </a:pathLst>
            </a:custGeom>
            <a:noFill/>
            <a:ln w="2095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5" name="mmol gDCW⁻¹ h⁻¹"/>
            <p:cNvGrpSpPr/>
            <p:nvPr/>
          </p:nvGrpSpPr>
          <p:grpSpPr>
            <a:xfrm>
              <a:off x="855691" y="8317611"/>
              <a:ext cx="1351858" cy="219456"/>
              <a:chOff x="855691" y="8317611"/>
              <a:chExt cx="1351858" cy="219456"/>
            </a:xfrm>
          </p:grpSpPr>
          <p:sp>
            <p:nvSpPr>
              <p:cNvPr id="56" name="Chemical text: mmol gDCW"/>
              <p:cNvSpPr txBox="1"/>
              <p:nvPr/>
            </p:nvSpPr>
            <p:spPr>
              <a:xfrm>
                <a:off x="855691" y="8351901"/>
                <a:ext cx="98979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1">
                    <a:solidFill>
                      <a:srgbClr val="68727D"/>
                    </a:solidFill>
                    <a:latin typeface="Liberation Sans"/>
                  </a:rPr>
                  <a:t>mmol gDCW</a:t>
                </a:r>
              </a:p>
            </p:txBody>
          </p:sp>
          <p:sp>
            <p:nvSpPr>
              <p:cNvPr id="57" name="Chemical text: -1"/>
              <p:cNvSpPr txBox="1"/>
              <p:nvPr/>
            </p:nvSpPr>
            <p:spPr>
              <a:xfrm>
                <a:off x="1827202" y="8317611"/>
                <a:ext cx="127826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1">
                    <a:solidFill>
                      <a:srgbClr val="68727D"/>
                    </a:solidFill>
                    <a:latin typeface="Liberation Sans"/>
                  </a:rPr>
                  <a:t>-1</a:t>
                </a:r>
              </a:p>
            </p:txBody>
          </p:sp>
          <p:sp>
            <p:nvSpPr>
              <p:cNvPr id="58" name="Chemical text:  h"/>
              <p:cNvSpPr txBox="1"/>
              <p:nvPr/>
            </p:nvSpPr>
            <p:spPr>
              <a:xfrm>
                <a:off x="1936739" y="8351901"/>
                <a:ext cx="16127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1">
                    <a:solidFill>
                      <a:srgbClr val="68727D"/>
                    </a:solidFill>
                    <a:latin typeface="Liberation Sans"/>
                  </a:rPr>
                  <a:t> h</a:t>
                </a:r>
              </a:p>
            </p:txBody>
          </p:sp>
          <p:sp>
            <p:nvSpPr>
              <p:cNvPr id="59" name="Chemical text: -1"/>
              <p:cNvSpPr txBox="1"/>
              <p:nvPr/>
            </p:nvSpPr>
            <p:spPr>
              <a:xfrm>
                <a:off x="2079723" y="8317611"/>
                <a:ext cx="127826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1">
                    <a:solidFill>
                      <a:srgbClr val="68727D"/>
                    </a:solidFill>
                    <a:latin typeface="Liberation Sans"/>
                  </a:rPr>
                  <a:t>-1</a:t>
                </a:r>
              </a:p>
            </p:txBody>
          </p:sp>
        </p:grpSp>
      </p:grpSp>
      <p:sp>
        <p:nvSpPr>
          <p:cNvPr id="60" name="No-carbon phenotype screen"/>
          <p:cNvSpPr txBox="1"/>
          <p:nvPr/>
        </p:nvSpPr>
        <p:spPr>
          <a:xfrm>
            <a:off x="164592" y="164592"/>
            <a:ext cx="2615184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62E"/>
                </a:solidFill>
                <a:latin typeface="Liberation Sans"/>
              </a:rPr>
              <a:t>No-carbon phenotype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