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4279392" cy="4087368" type="screen4x3"/>
  <p:notesSz cx="6858000" cy="9144000"/>
  <p:embeddedFontLst>
    <p:embeddedFont>
      <p:font typeface="Liberation Sans"/>
      <p:regular r:id="rIdLiberation1"/>
      <p:bold r:id="rIdLiberation2"/>
      <p:italic r:id="rIdLiberation3"/>
      <p:boldItalic r:id="rIdLiberation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Liberation1" Type="http://schemas.openxmlformats.org/officeDocument/2006/relationships/font" Target="fonts/LiberationSans-Regular.fntdata"/><Relationship Id="rIdLiberation2" Type="http://schemas.openxmlformats.org/officeDocument/2006/relationships/font" Target="fonts/LiberationSans-Bold.fntdata"/><Relationship Id="rIdLiberation3" Type="http://schemas.openxmlformats.org/officeDocument/2006/relationships/font" Target="fonts/LiberationSans-Italic.fntdata"/><Relationship Id="rIdLiberation4" Type="http://schemas.openxmlformats.org/officeDocument/2006/relationships/font" Target="fonts/LiberationSans-BoldItalic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b3_membrane"/>
          <p:cNvGrpSpPr/>
          <p:nvPr/>
        </p:nvGrpSpPr>
        <p:grpSpPr>
          <a:xfrm>
            <a:off x="475488" y="1252728"/>
            <a:ext cx="3547872" cy="1499616"/>
            <a:chOff x="3401568" y="6163056"/>
            <a:chExt cx="3547872" cy="1499616"/>
          </a:xfrm>
        </p:grpSpPr>
        <p:sp>
          <p:nvSpPr>
            <p:cNvPr id="3" name="Phospholipid tail"/>
            <p:cNvSpPr/>
            <p:nvPr/>
          </p:nvSpPr>
          <p:spPr>
            <a:xfrm>
              <a:off x="343997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Phospholipid tail"/>
            <p:cNvSpPr/>
            <p:nvPr/>
          </p:nvSpPr>
          <p:spPr>
            <a:xfrm>
              <a:off x="347289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42534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hospholipid tail"/>
            <p:cNvSpPr/>
            <p:nvPr/>
          </p:nvSpPr>
          <p:spPr>
            <a:xfrm>
              <a:off x="343997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hospholipid tail"/>
            <p:cNvSpPr/>
            <p:nvPr/>
          </p:nvSpPr>
          <p:spPr>
            <a:xfrm>
              <a:off x="347289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42534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hospholipid tail"/>
            <p:cNvSpPr/>
            <p:nvPr/>
          </p:nvSpPr>
          <p:spPr>
            <a:xfrm>
              <a:off x="354970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hospholipid tail"/>
            <p:cNvSpPr/>
            <p:nvPr/>
          </p:nvSpPr>
          <p:spPr>
            <a:xfrm>
              <a:off x="358261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53507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hospholipid tail"/>
            <p:cNvSpPr/>
            <p:nvPr/>
          </p:nvSpPr>
          <p:spPr>
            <a:xfrm>
              <a:off x="354970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Phospholipid tail"/>
            <p:cNvSpPr/>
            <p:nvPr/>
          </p:nvSpPr>
          <p:spPr>
            <a:xfrm>
              <a:off x="358261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53507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Phospholipid tail"/>
            <p:cNvSpPr/>
            <p:nvPr/>
          </p:nvSpPr>
          <p:spPr>
            <a:xfrm>
              <a:off x="365942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hospholipid tail"/>
            <p:cNvSpPr/>
            <p:nvPr/>
          </p:nvSpPr>
          <p:spPr>
            <a:xfrm>
              <a:off x="369234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364479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Phospholipid tail"/>
            <p:cNvSpPr/>
            <p:nvPr/>
          </p:nvSpPr>
          <p:spPr>
            <a:xfrm>
              <a:off x="365942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hospholipid tail"/>
            <p:cNvSpPr/>
            <p:nvPr/>
          </p:nvSpPr>
          <p:spPr>
            <a:xfrm>
              <a:off x="369234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64479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hospholipid tail"/>
            <p:cNvSpPr/>
            <p:nvPr/>
          </p:nvSpPr>
          <p:spPr>
            <a:xfrm>
              <a:off x="376915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hospholipid tail"/>
            <p:cNvSpPr/>
            <p:nvPr/>
          </p:nvSpPr>
          <p:spPr>
            <a:xfrm>
              <a:off x="380207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375452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Phospholipid tail"/>
            <p:cNvSpPr/>
            <p:nvPr/>
          </p:nvSpPr>
          <p:spPr>
            <a:xfrm>
              <a:off x="376915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Phospholipid tail"/>
            <p:cNvSpPr/>
            <p:nvPr/>
          </p:nvSpPr>
          <p:spPr>
            <a:xfrm>
              <a:off x="380207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375452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hospholipid tail"/>
            <p:cNvSpPr/>
            <p:nvPr/>
          </p:nvSpPr>
          <p:spPr>
            <a:xfrm>
              <a:off x="387888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Phospholipid tail"/>
            <p:cNvSpPr/>
            <p:nvPr/>
          </p:nvSpPr>
          <p:spPr>
            <a:xfrm>
              <a:off x="391180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386425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Phospholipid tail"/>
            <p:cNvSpPr/>
            <p:nvPr/>
          </p:nvSpPr>
          <p:spPr>
            <a:xfrm>
              <a:off x="387888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Phospholipid tail"/>
            <p:cNvSpPr/>
            <p:nvPr/>
          </p:nvSpPr>
          <p:spPr>
            <a:xfrm>
              <a:off x="391180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386425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Phospholipid tail"/>
            <p:cNvSpPr/>
            <p:nvPr/>
          </p:nvSpPr>
          <p:spPr>
            <a:xfrm>
              <a:off x="398861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Phospholipid tail"/>
            <p:cNvSpPr/>
            <p:nvPr/>
          </p:nvSpPr>
          <p:spPr>
            <a:xfrm>
              <a:off x="402153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397398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Phospholipid tail"/>
            <p:cNvSpPr/>
            <p:nvPr/>
          </p:nvSpPr>
          <p:spPr>
            <a:xfrm>
              <a:off x="398861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Phospholipid tail"/>
            <p:cNvSpPr/>
            <p:nvPr/>
          </p:nvSpPr>
          <p:spPr>
            <a:xfrm>
              <a:off x="402153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397398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Phospholipid tail"/>
            <p:cNvSpPr/>
            <p:nvPr/>
          </p:nvSpPr>
          <p:spPr>
            <a:xfrm>
              <a:off x="409834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hospholipid tail"/>
            <p:cNvSpPr/>
            <p:nvPr/>
          </p:nvSpPr>
          <p:spPr>
            <a:xfrm>
              <a:off x="413125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08371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Phospholipid tail"/>
            <p:cNvSpPr/>
            <p:nvPr/>
          </p:nvSpPr>
          <p:spPr>
            <a:xfrm>
              <a:off x="409834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Phospholipid tail"/>
            <p:cNvSpPr/>
            <p:nvPr/>
          </p:nvSpPr>
          <p:spPr>
            <a:xfrm>
              <a:off x="413125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08371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Phospholipid tail"/>
            <p:cNvSpPr/>
            <p:nvPr/>
          </p:nvSpPr>
          <p:spPr>
            <a:xfrm>
              <a:off x="420806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hospholipid tail"/>
            <p:cNvSpPr/>
            <p:nvPr/>
          </p:nvSpPr>
          <p:spPr>
            <a:xfrm>
              <a:off x="424098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419343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hospholipid tail"/>
            <p:cNvSpPr/>
            <p:nvPr/>
          </p:nvSpPr>
          <p:spPr>
            <a:xfrm>
              <a:off x="420806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hospholipid tail"/>
            <p:cNvSpPr/>
            <p:nvPr/>
          </p:nvSpPr>
          <p:spPr>
            <a:xfrm>
              <a:off x="424098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419343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Phospholipid tail"/>
            <p:cNvSpPr/>
            <p:nvPr/>
          </p:nvSpPr>
          <p:spPr>
            <a:xfrm>
              <a:off x="431779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Phospholipid tail"/>
            <p:cNvSpPr/>
            <p:nvPr/>
          </p:nvSpPr>
          <p:spPr>
            <a:xfrm>
              <a:off x="435071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430316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hospholipid tail"/>
            <p:cNvSpPr/>
            <p:nvPr/>
          </p:nvSpPr>
          <p:spPr>
            <a:xfrm>
              <a:off x="431779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hospholipid tail"/>
            <p:cNvSpPr/>
            <p:nvPr/>
          </p:nvSpPr>
          <p:spPr>
            <a:xfrm>
              <a:off x="435071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430316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hospholipid tail"/>
            <p:cNvSpPr/>
            <p:nvPr/>
          </p:nvSpPr>
          <p:spPr>
            <a:xfrm>
              <a:off x="442752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hospholipid tail"/>
            <p:cNvSpPr/>
            <p:nvPr/>
          </p:nvSpPr>
          <p:spPr>
            <a:xfrm>
              <a:off x="446044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441289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Phospholipid tail"/>
            <p:cNvSpPr/>
            <p:nvPr/>
          </p:nvSpPr>
          <p:spPr>
            <a:xfrm>
              <a:off x="442752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Phospholipid tail"/>
            <p:cNvSpPr/>
            <p:nvPr/>
          </p:nvSpPr>
          <p:spPr>
            <a:xfrm>
              <a:off x="446044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441289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Phospholipid tail"/>
            <p:cNvSpPr/>
            <p:nvPr/>
          </p:nvSpPr>
          <p:spPr>
            <a:xfrm>
              <a:off x="453725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hospholipid tail"/>
            <p:cNvSpPr/>
            <p:nvPr/>
          </p:nvSpPr>
          <p:spPr>
            <a:xfrm>
              <a:off x="457017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452262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hospholipid tail"/>
            <p:cNvSpPr/>
            <p:nvPr/>
          </p:nvSpPr>
          <p:spPr>
            <a:xfrm>
              <a:off x="453725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Phospholipid tail"/>
            <p:cNvSpPr/>
            <p:nvPr/>
          </p:nvSpPr>
          <p:spPr>
            <a:xfrm>
              <a:off x="457017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452262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Phospholipid tail"/>
            <p:cNvSpPr/>
            <p:nvPr/>
          </p:nvSpPr>
          <p:spPr>
            <a:xfrm>
              <a:off x="464698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Phospholipid tail"/>
            <p:cNvSpPr/>
            <p:nvPr/>
          </p:nvSpPr>
          <p:spPr>
            <a:xfrm>
              <a:off x="467989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Oval 70"/>
            <p:cNvSpPr/>
            <p:nvPr/>
          </p:nvSpPr>
          <p:spPr>
            <a:xfrm>
              <a:off x="463235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hospholipid tail"/>
            <p:cNvSpPr/>
            <p:nvPr/>
          </p:nvSpPr>
          <p:spPr>
            <a:xfrm>
              <a:off x="464698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hospholipid tail"/>
            <p:cNvSpPr/>
            <p:nvPr/>
          </p:nvSpPr>
          <p:spPr>
            <a:xfrm>
              <a:off x="467989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Oval 73"/>
            <p:cNvSpPr/>
            <p:nvPr/>
          </p:nvSpPr>
          <p:spPr>
            <a:xfrm>
              <a:off x="463235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Phospholipid tail"/>
            <p:cNvSpPr/>
            <p:nvPr/>
          </p:nvSpPr>
          <p:spPr>
            <a:xfrm>
              <a:off x="475670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Phospholipid tail"/>
            <p:cNvSpPr/>
            <p:nvPr/>
          </p:nvSpPr>
          <p:spPr>
            <a:xfrm>
              <a:off x="478962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474207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Phospholipid tail"/>
            <p:cNvSpPr/>
            <p:nvPr/>
          </p:nvSpPr>
          <p:spPr>
            <a:xfrm>
              <a:off x="475670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Phospholipid tail"/>
            <p:cNvSpPr/>
            <p:nvPr/>
          </p:nvSpPr>
          <p:spPr>
            <a:xfrm>
              <a:off x="478962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474207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Phospholipid tail"/>
            <p:cNvSpPr/>
            <p:nvPr/>
          </p:nvSpPr>
          <p:spPr>
            <a:xfrm>
              <a:off x="486643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Phospholipid tail"/>
            <p:cNvSpPr/>
            <p:nvPr/>
          </p:nvSpPr>
          <p:spPr>
            <a:xfrm>
              <a:off x="489935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Oval 82"/>
            <p:cNvSpPr/>
            <p:nvPr/>
          </p:nvSpPr>
          <p:spPr>
            <a:xfrm>
              <a:off x="485180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Phospholipid tail"/>
            <p:cNvSpPr/>
            <p:nvPr/>
          </p:nvSpPr>
          <p:spPr>
            <a:xfrm>
              <a:off x="486643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Phospholipid tail"/>
            <p:cNvSpPr/>
            <p:nvPr/>
          </p:nvSpPr>
          <p:spPr>
            <a:xfrm>
              <a:off x="489935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485180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Phospholipid tail"/>
            <p:cNvSpPr/>
            <p:nvPr/>
          </p:nvSpPr>
          <p:spPr>
            <a:xfrm>
              <a:off x="497616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Phospholipid tail"/>
            <p:cNvSpPr/>
            <p:nvPr/>
          </p:nvSpPr>
          <p:spPr>
            <a:xfrm>
              <a:off x="500908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496153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hospholipid tail"/>
            <p:cNvSpPr/>
            <p:nvPr/>
          </p:nvSpPr>
          <p:spPr>
            <a:xfrm>
              <a:off x="497616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hospholipid tail"/>
            <p:cNvSpPr/>
            <p:nvPr/>
          </p:nvSpPr>
          <p:spPr>
            <a:xfrm>
              <a:off x="500908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496153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hospholipid tail"/>
            <p:cNvSpPr/>
            <p:nvPr/>
          </p:nvSpPr>
          <p:spPr>
            <a:xfrm>
              <a:off x="508589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hospholipid tail"/>
            <p:cNvSpPr/>
            <p:nvPr/>
          </p:nvSpPr>
          <p:spPr>
            <a:xfrm>
              <a:off x="511881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Oval 94"/>
            <p:cNvSpPr/>
            <p:nvPr/>
          </p:nvSpPr>
          <p:spPr>
            <a:xfrm>
              <a:off x="507126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Phospholipid tail"/>
            <p:cNvSpPr/>
            <p:nvPr/>
          </p:nvSpPr>
          <p:spPr>
            <a:xfrm>
              <a:off x="508589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Phospholipid tail"/>
            <p:cNvSpPr/>
            <p:nvPr/>
          </p:nvSpPr>
          <p:spPr>
            <a:xfrm>
              <a:off x="511881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Oval 97"/>
            <p:cNvSpPr/>
            <p:nvPr/>
          </p:nvSpPr>
          <p:spPr>
            <a:xfrm>
              <a:off x="507126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hospholipid tail"/>
            <p:cNvSpPr/>
            <p:nvPr/>
          </p:nvSpPr>
          <p:spPr>
            <a:xfrm>
              <a:off x="552480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Phospholipid tail"/>
            <p:cNvSpPr/>
            <p:nvPr/>
          </p:nvSpPr>
          <p:spPr>
            <a:xfrm>
              <a:off x="555772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Oval 100"/>
            <p:cNvSpPr/>
            <p:nvPr/>
          </p:nvSpPr>
          <p:spPr>
            <a:xfrm>
              <a:off x="551017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Phospholipid tail"/>
            <p:cNvSpPr/>
            <p:nvPr/>
          </p:nvSpPr>
          <p:spPr>
            <a:xfrm>
              <a:off x="552480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Phospholipid tail"/>
            <p:cNvSpPr/>
            <p:nvPr/>
          </p:nvSpPr>
          <p:spPr>
            <a:xfrm>
              <a:off x="555772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Oval 103"/>
            <p:cNvSpPr/>
            <p:nvPr/>
          </p:nvSpPr>
          <p:spPr>
            <a:xfrm>
              <a:off x="551017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Phospholipid tail"/>
            <p:cNvSpPr/>
            <p:nvPr/>
          </p:nvSpPr>
          <p:spPr>
            <a:xfrm>
              <a:off x="563453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Phospholipid tail"/>
            <p:cNvSpPr/>
            <p:nvPr/>
          </p:nvSpPr>
          <p:spPr>
            <a:xfrm>
              <a:off x="566745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Oval 106"/>
            <p:cNvSpPr/>
            <p:nvPr/>
          </p:nvSpPr>
          <p:spPr>
            <a:xfrm>
              <a:off x="561990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Phospholipid tail"/>
            <p:cNvSpPr/>
            <p:nvPr/>
          </p:nvSpPr>
          <p:spPr>
            <a:xfrm>
              <a:off x="563453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Phospholipid tail"/>
            <p:cNvSpPr/>
            <p:nvPr/>
          </p:nvSpPr>
          <p:spPr>
            <a:xfrm>
              <a:off x="566745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Oval 109"/>
            <p:cNvSpPr/>
            <p:nvPr/>
          </p:nvSpPr>
          <p:spPr>
            <a:xfrm>
              <a:off x="561990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Phospholipid tail"/>
            <p:cNvSpPr/>
            <p:nvPr/>
          </p:nvSpPr>
          <p:spPr>
            <a:xfrm>
              <a:off x="574426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Phospholipid tail"/>
            <p:cNvSpPr/>
            <p:nvPr/>
          </p:nvSpPr>
          <p:spPr>
            <a:xfrm>
              <a:off x="577717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Oval 112"/>
            <p:cNvSpPr/>
            <p:nvPr/>
          </p:nvSpPr>
          <p:spPr>
            <a:xfrm>
              <a:off x="572963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Phospholipid tail"/>
            <p:cNvSpPr/>
            <p:nvPr/>
          </p:nvSpPr>
          <p:spPr>
            <a:xfrm>
              <a:off x="574426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Phospholipid tail"/>
            <p:cNvSpPr/>
            <p:nvPr/>
          </p:nvSpPr>
          <p:spPr>
            <a:xfrm>
              <a:off x="577717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Oval 115"/>
            <p:cNvSpPr/>
            <p:nvPr/>
          </p:nvSpPr>
          <p:spPr>
            <a:xfrm>
              <a:off x="572963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Phospholipid tail"/>
            <p:cNvSpPr/>
            <p:nvPr/>
          </p:nvSpPr>
          <p:spPr>
            <a:xfrm>
              <a:off x="585398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Phospholipid tail"/>
            <p:cNvSpPr/>
            <p:nvPr/>
          </p:nvSpPr>
          <p:spPr>
            <a:xfrm>
              <a:off x="588690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Oval 118"/>
            <p:cNvSpPr/>
            <p:nvPr/>
          </p:nvSpPr>
          <p:spPr>
            <a:xfrm>
              <a:off x="583935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Phospholipid tail"/>
            <p:cNvSpPr/>
            <p:nvPr/>
          </p:nvSpPr>
          <p:spPr>
            <a:xfrm>
              <a:off x="585398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Phospholipid tail"/>
            <p:cNvSpPr/>
            <p:nvPr/>
          </p:nvSpPr>
          <p:spPr>
            <a:xfrm>
              <a:off x="588690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Oval 121"/>
            <p:cNvSpPr/>
            <p:nvPr/>
          </p:nvSpPr>
          <p:spPr>
            <a:xfrm>
              <a:off x="583935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Phospholipid tail"/>
            <p:cNvSpPr/>
            <p:nvPr/>
          </p:nvSpPr>
          <p:spPr>
            <a:xfrm>
              <a:off x="596371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Phospholipid tail"/>
            <p:cNvSpPr/>
            <p:nvPr/>
          </p:nvSpPr>
          <p:spPr>
            <a:xfrm>
              <a:off x="599663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Oval 124"/>
            <p:cNvSpPr/>
            <p:nvPr/>
          </p:nvSpPr>
          <p:spPr>
            <a:xfrm>
              <a:off x="594908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Phospholipid tail"/>
            <p:cNvSpPr/>
            <p:nvPr/>
          </p:nvSpPr>
          <p:spPr>
            <a:xfrm>
              <a:off x="596371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Phospholipid tail"/>
            <p:cNvSpPr/>
            <p:nvPr/>
          </p:nvSpPr>
          <p:spPr>
            <a:xfrm>
              <a:off x="599663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Oval 127"/>
            <p:cNvSpPr/>
            <p:nvPr/>
          </p:nvSpPr>
          <p:spPr>
            <a:xfrm>
              <a:off x="594908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Phospholipid tail"/>
            <p:cNvSpPr/>
            <p:nvPr/>
          </p:nvSpPr>
          <p:spPr>
            <a:xfrm>
              <a:off x="607344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Phospholipid tail"/>
            <p:cNvSpPr/>
            <p:nvPr/>
          </p:nvSpPr>
          <p:spPr>
            <a:xfrm>
              <a:off x="610636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605881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Phospholipid tail"/>
            <p:cNvSpPr/>
            <p:nvPr/>
          </p:nvSpPr>
          <p:spPr>
            <a:xfrm>
              <a:off x="607344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Phospholipid tail"/>
            <p:cNvSpPr/>
            <p:nvPr/>
          </p:nvSpPr>
          <p:spPr>
            <a:xfrm>
              <a:off x="610636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605881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Phospholipid tail"/>
            <p:cNvSpPr/>
            <p:nvPr/>
          </p:nvSpPr>
          <p:spPr>
            <a:xfrm>
              <a:off x="618317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Phospholipid tail"/>
            <p:cNvSpPr/>
            <p:nvPr/>
          </p:nvSpPr>
          <p:spPr>
            <a:xfrm>
              <a:off x="621609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Oval 136"/>
            <p:cNvSpPr/>
            <p:nvPr/>
          </p:nvSpPr>
          <p:spPr>
            <a:xfrm>
              <a:off x="616854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Phospholipid tail"/>
            <p:cNvSpPr/>
            <p:nvPr/>
          </p:nvSpPr>
          <p:spPr>
            <a:xfrm>
              <a:off x="618317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Phospholipid tail"/>
            <p:cNvSpPr/>
            <p:nvPr/>
          </p:nvSpPr>
          <p:spPr>
            <a:xfrm>
              <a:off x="621609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Oval 139"/>
            <p:cNvSpPr/>
            <p:nvPr/>
          </p:nvSpPr>
          <p:spPr>
            <a:xfrm>
              <a:off x="616854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Phospholipid tail"/>
            <p:cNvSpPr/>
            <p:nvPr/>
          </p:nvSpPr>
          <p:spPr>
            <a:xfrm>
              <a:off x="629290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Phospholipid tail"/>
            <p:cNvSpPr/>
            <p:nvPr/>
          </p:nvSpPr>
          <p:spPr>
            <a:xfrm>
              <a:off x="632581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Oval 142"/>
            <p:cNvSpPr/>
            <p:nvPr/>
          </p:nvSpPr>
          <p:spPr>
            <a:xfrm>
              <a:off x="627827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Phospholipid tail"/>
            <p:cNvSpPr/>
            <p:nvPr/>
          </p:nvSpPr>
          <p:spPr>
            <a:xfrm>
              <a:off x="629290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Phospholipid tail"/>
            <p:cNvSpPr/>
            <p:nvPr/>
          </p:nvSpPr>
          <p:spPr>
            <a:xfrm>
              <a:off x="632581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Oval 145"/>
            <p:cNvSpPr/>
            <p:nvPr/>
          </p:nvSpPr>
          <p:spPr>
            <a:xfrm>
              <a:off x="627827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Phospholipid tail"/>
            <p:cNvSpPr/>
            <p:nvPr/>
          </p:nvSpPr>
          <p:spPr>
            <a:xfrm>
              <a:off x="640262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Phospholipid tail"/>
            <p:cNvSpPr/>
            <p:nvPr/>
          </p:nvSpPr>
          <p:spPr>
            <a:xfrm>
              <a:off x="643554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Oval 148"/>
            <p:cNvSpPr/>
            <p:nvPr/>
          </p:nvSpPr>
          <p:spPr>
            <a:xfrm>
              <a:off x="638799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Phospholipid tail"/>
            <p:cNvSpPr/>
            <p:nvPr/>
          </p:nvSpPr>
          <p:spPr>
            <a:xfrm>
              <a:off x="640262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Phospholipid tail"/>
            <p:cNvSpPr/>
            <p:nvPr/>
          </p:nvSpPr>
          <p:spPr>
            <a:xfrm>
              <a:off x="643554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Oval 151"/>
            <p:cNvSpPr/>
            <p:nvPr/>
          </p:nvSpPr>
          <p:spPr>
            <a:xfrm>
              <a:off x="638799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Phospholipid tail"/>
            <p:cNvSpPr/>
            <p:nvPr/>
          </p:nvSpPr>
          <p:spPr>
            <a:xfrm>
              <a:off x="651235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Phospholipid tail"/>
            <p:cNvSpPr/>
            <p:nvPr/>
          </p:nvSpPr>
          <p:spPr>
            <a:xfrm>
              <a:off x="654527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649772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Phospholipid tail"/>
            <p:cNvSpPr/>
            <p:nvPr/>
          </p:nvSpPr>
          <p:spPr>
            <a:xfrm>
              <a:off x="651235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Phospholipid tail"/>
            <p:cNvSpPr/>
            <p:nvPr/>
          </p:nvSpPr>
          <p:spPr>
            <a:xfrm>
              <a:off x="654527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Oval 157"/>
            <p:cNvSpPr/>
            <p:nvPr/>
          </p:nvSpPr>
          <p:spPr>
            <a:xfrm>
              <a:off x="649772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Phospholipid tail"/>
            <p:cNvSpPr/>
            <p:nvPr/>
          </p:nvSpPr>
          <p:spPr>
            <a:xfrm>
              <a:off x="662208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Phospholipid tail"/>
            <p:cNvSpPr/>
            <p:nvPr/>
          </p:nvSpPr>
          <p:spPr>
            <a:xfrm>
              <a:off x="665500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Oval 160"/>
            <p:cNvSpPr/>
            <p:nvPr/>
          </p:nvSpPr>
          <p:spPr>
            <a:xfrm>
              <a:off x="660745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Phospholipid tail"/>
            <p:cNvSpPr/>
            <p:nvPr/>
          </p:nvSpPr>
          <p:spPr>
            <a:xfrm>
              <a:off x="662208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Phospholipid tail"/>
            <p:cNvSpPr/>
            <p:nvPr/>
          </p:nvSpPr>
          <p:spPr>
            <a:xfrm>
              <a:off x="665500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>
              <a:off x="660745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Phospholipid tail"/>
            <p:cNvSpPr/>
            <p:nvPr/>
          </p:nvSpPr>
          <p:spPr>
            <a:xfrm>
              <a:off x="673181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Phospholipid tail"/>
            <p:cNvSpPr/>
            <p:nvPr/>
          </p:nvSpPr>
          <p:spPr>
            <a:xfrm>
              <a:off x="676473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Oval 166"/>
            <p:cNvSpPr/>
            <p:nvPr/>
          </p:nvSpPr>
          <p:spPr>
            <a:xfrm>
              <a:off x="671718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Phospholipid tail"/>
            <p:cNvSpPr/>
            <p:nvPr/>
          </p:nvSpPr>
          <p:spPr>
            <a:xfrm>
              <a:off x="673181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Phospholipid tail"/>
            <p:cNvSpPr/>
            <p:nvPr/>
          </p:nvSpPr>
          <p:spPr>
            <a:xfrm>
              <a:off x="676473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Oval 169"/>
            <p:cNvSpPr/>
            <p:nvPr/>
          </p:nvSpPr>
          <p:spPr>
            <a:xfrm>
              <a:off x="671718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Rounded Rectangle 170"/>
            <p:cNvSpPr/>
            <p:nvPr/>
          </p:nvSpPr>
          <p:spPr>
            <a:xfrm>
              <a:off x="5129784" y="6364224"/>
              <a:ext cx="384048" cy="621792"/>
            </a:xfrm>
            <a:prstGeom prst="roundRect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5239512" y="6958584"/>
              <a:ext cx="173736" cy="256032"/>
            </a:xfrm>
            <a:prstGeom prst="roundRect">
              <a:avLst/>
            </a:prstGeom>
            <a:solidFill>
              <a:srgbClr val="EDF4FA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Oval 172"/>
            <p:cNvSpPr/>
            <p:nvPr/>
          </p:nvSpPr>
          <p:spPr>
            <a:xfrm>
              <a:off x="4846320" y="7150608"/>
              <a:ext cx="960120" cy="51206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ATPS4r"/>
            <p:cNvSpPr txBox="1"/>
            <p:nvPr/>
          </p:nvSpPr>
          <p:spPr>
            <a:xfrm>
              <a:off x="4873752" y="7296912"/>
              <a:ext cx="905256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1">
                  <a:solidFill>
                    <a:srgbClr val="4C78A8"/>
                  </a:solidFill>
                  <a:latin typeface="Liberation Sans"/>
                </a:rPr>
                <a:t>ATPS4r</a:t>
              </a:r>
            </a:p>
          </p:txBody>
        </p:sp>
        <p:sp>
          <p:nvSpPr>
            <p:cNvPr id="175" name="extracellular"/>
            <p:cNvSpPr txBox="1"/>
            <p:nvPr/>
          </p:nvSpPr>
          <p:spPr>
            <a:xfrm>
              <a:off x="5687568" y="6163056"/>
              <a:ext cx="1261872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extracellular</a:t>
              </a:r>
            </a:p>
          </p:txBody>
        </p:sp>
        <p:sp>
          <p:nvSpPr>
            <p:cNvPr id="176" name="cytoplasm"/>
            <p:cNvSpPr txBox="1"/>
            <p:nvPr/>
          </p:nvSpPr>
          <p:spPr>
            <a:xfrm>
              <a:off x="3401568" y="6903720"/>
              <a:ext cx="124358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cytoplasm</a:t>
              </a:r>
            </a:p>
          </p:txBody>
        </p:sp>
      </p:grpSp>
      <p:grpSp>
        <p:nvGrpSpPr>
          <p:cNvPr id="177" name="b3_coupling"/>
          <p:cNvGrpSpPr/>
          <p:nvPr/>
        </p:nvGrpSpPr>
        <p:grpSpPr>
          <a:xfrm>
            <a:off x="164592" y="731520"/>
            <a:ext cx="3950208" cy="3191256"/>
            <a:chOff x="3090672" y="5641848"/>
            <a:chExt cx="3950208" cy="3191256"/>
          </a:xfrm>
        </p:grpSpPr>
        <p:sp>
          <p:nvSpPr>
            <p:cNvPr id="178" name="EX_h_e"/>
            <p:cNvSpPr txBox="1"/>
            <p:nvPr/>
          </p:nvSpPr>
          <p:spPr>
            <a:xfrm>
              <a:off x="3328416" y="5824728"/>
              <a:ext cx="950976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1">
                  <a:solidFill>
                    <a:srgbClr val="D55E00"/>
                  </a:solidFill>
                  <a:latin typeface="Liberation Sans"/>
                </a:rPr>
                <a:t>EX_h_e</a:t>
              </a:r>
            </a:p>
          </p:txBody>
        </p:sp>
        <p:sp>
          <p:nvSpPr>
            <p:cNvPr id="179" name="EX_h_e proton uptake (blocked)"/>
            <p:cNvSpPr/>
            <p:nvPr/>
          </p:nvSpPr>
          <p:spPr>
            <a:xfrm>
              <a:off x="3767328" y="6089904"/>
              <a:ext cx="1453896" cy="1"/>
            </a:xfrm>
            <a:custGeom>
              <a:avLst/>
              <a:gdLst/>
              <a:ahLst/>
              <a:cxnLst/>
              <a:rect l="0" t="0" r="r" b="b"/>
              <a:pathLst>
                <a:path w="1453896" h="1" fill="none">
                  <a:moveTo>
                    <a:pt x="0" y="0"/>
                  </a:moveTo>
                  <a:lnTo>
                    <a:pt x="1453896" y="0"/>
                  </a:lnTo>
                </a:path>
              </a:pathLst>
            </a:custGeom>
            <a:noFill/>
            <a:ln w="29209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MQC stop"/>
            <p:cNvSpPr/>
            <p:nvPr/>
          </p:nvSpPr>
          <p:spPr>
            <a:xfrm>
              <a:off x="4245559" y="6019495"/>
              <a:ext cx="140818" cy="140818"/>
            </a:xfrm>
            <a:custGeom>
              <a:avLst/>
              <a:gdLst/>
              <a:ahLst/>
              <a:cxnLst/>
              <a:rect l="0" t="0" r="r" b="b"/>
              <a:pathLst>
                <a:path w="140818" h="140818" fill="none">
                  <a:moveTo>
                    <a:pt x="0" y="0"/>
                  </a:moveTo>
                  <a:lnTo>
                    <a:pt x="140818" y="140818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MQC stop"/>
            <p:cNvSpPr/>
            <p:nvPr/>
          </p:nvSpPr>
          <p:spPr>
            <a:xfrm>
              <a:off x="4245559" y="6019495"/>
              <a:ext cx="140818" cy="140818"/>
            </a:xfrm>
            <a:custGeom>
              <a:avLst/>
              <a:gdLst/>
              <a:ahLst/>
              <a:cxnLst/>
              <a:rect l="0" t="0" r="r" b="b"/>
              <a:pathLst>
                <a:path w="140818" h="140818" fill="none">
                  <a:moveTo>
                    <a:pt x="0" y="140818"/>
                  </a:moveTo>
                  <a:lnTo>
                    <a:pt x="140818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uptake blocked"/>
            <p:cNvSpPr txBox="1"/>
            <p:nvPr/>
          </p:nvSpPr>
          <p:spPr>
            <a:xfrm>
              <a:off x="3694176" y="5641848"/>
              <a:ext cx="1426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C43C39"/>
                  </a:solidFill>
                  <a:latin typeface="Liberation Sans"/>
                </a:rPr>
                <a:t>uptake blocked</a:t>
              </a:r>
            </a:p>
          </p:txBody>
        </p:sp>
        <p:grpSp>
          <p:nvGrpSpPr>
            <p:cNvPr id="183" name="4 H⁺(e)"/>
            <p:cNvGrpSpPr/>
            <p:nvPr/>
          </p:nvGrpSpPr>
          <p:grpSpPr>
            <a:xfrm>
              <a:off x="5007002" y="5779643"/>
              <a:ext cx="647901" cy="251968"/>
              <a:chOff x="5007002" y="5779643"/>
              <a:chExt cx="647901" cy="251968"/>
            </a:xfrm>
          </p:grpSpPr>
          <p:sp>
            <p:nvSpPr>
              <p:cNvPr id="184" name="Chemical text: 4 H"/>
              <p:cNvSpPr txBox="1"/>
              <p:nvPr/>
            </p:nvSpPr>
            <p:spPr>
              <a:xfrm>
                <a:off x="5007002" y="5819013"/>
                <a:ext cx="324616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4C78A8"/>
                    </a:solidFill>
                    <a:latin typeface="Liberation Sans"/>
                  </a:rPr>
                  <a:t>4 H</a:t>
                </a:r>
              </a:p>
            </p:txBody>
          </p:sp>
          <p:sp>
            <p:nvSpPr>
              <p:cNvPr id="185" name="Chemical text: +"/>
              <p:cNvSpPr txBox="1"/>
              <p:nvPr/>
            </p:nvSpPr>
            <p:spPr>
              <a:xfrm>
                <a:off x="5313330" y="5779643"/>
                <a:ext cx="100987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1" i="0">
                    <a:solidFill>
                      <a:srgbClr val="4C78A8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86" name="Chemical text: (e)"/>
              <p:cNvSpPr txBox="1"/>
              <p:nvPr/>
            </p:nvSpPr>
            <p:spPr>
              <a:xfrm>
                <a:off x="5396029" y="5819013"/>
                <a:ext cx="258874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4C78A8"/>
                    </a:solidFill>
                    <a:latin typeface="Liberation Sans"/>
                  </a:rPr>
                  <a:t>(e)</a:t>
                </a:r>
              </a:p>
            </p:txBody>
          </p:sp>
        </p:grpSp>
        <p:sp>
          <p:nvSpPr>
            <p:cNvPr id="187" name="Proton flow through ATP synthase"/>
            <p:cNvSpPr/>
            <p:nvPr/>
          </p:nvSpPr>
          <p:spPr>
            <a:xfrm>
              <a:off x="5321808" y="6099048"/>
              <a:ext cx="786384" cy="923544"/>
            </a:xfrm>
            <a:custGeom>
              <a:avLst/>
              <a:gdLst/>
              <a:ahLst/>
              <a:cxnLst/>
              <a:rect l="0" t="0" r="r" b="b"/>
              <a:pathLst>
                <a:path w="786384" h="923544" fill="none">
                  <a:moveTo>
                    <a:pt x="0" y="0"/>
                  </a:moveTo>
                  <a:lnTo>
                    <a:pt x="0" y="640080"/>
                  </a:lnTo>
                  <a:cubicBezTo>
                    <a:pt x="0" y="914400"/>
                    <a:pt x="374904" y="923544"/>
                    <a:pt x="786384" y="923544"/>
                  </a:cubicBezTo>
                </a:path>
              </a:pathLst>
            </a:custGeom>
            <a:noFill/>
            <a:ln w="2730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88" name="3 H⁺(c)"/>
            <p:cNvGrpSpPr/>
            <p:nvPr/>
          </p:nvGrpSpPr>
          <p:grpSpPr>
            <a:xfrm>
              <a:off x="6205820" y="6849491"/>
              <a:ext cx="636848" cy="251968"/>
              <a:chOff x="6205820" y="6849491"/>
              <a:chExt cx="636848" cy="251968"/>
            </a:xfrm>
          </p:grpSpPr>
          <p:sp>
            <p:nvSpPr>
              <p:cNvPr id="189" name="Chemical text: 3 H"/>
              <p:cNvSpPr txBox="1"/>
              <p:nvPr/>
            </p:nvSpPr>
            <p:spPr>
              <a:xfrm>
                <a:off x="6205820" y="6888861"/>
                <a:ext cx="324616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4C78A8"/>
                    </a:solidFill>
                    <a:latin typeface="Liberation Sans"/>
                  </a:rPr>
                  <a:t>3 H</a:t>
                </a:r>
              </a:p>
            </p:txBody>
          </p:sp>
          <p:sp>
            <p:nvSpPr>
              <p:cNvPr id="190" name="Chemical text: +"/>
              <p:cNvSpPr txBox="1"/>
              <p:nvPr/>
            </p:nvSpPr>
            <p:spPr>
              <a:xfrm>
                <a:off x="6512148" y="6849491"/>
                <a:ext cx="100987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0" i="0">
                    <a:solidFill>
                      <a:srgbClr val="4C78A8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91" name="Chemical text: (c)"/>
              <p:cNvSpPr txBox="1"/>
              <p:nvPr/>
            </p:nvSpPr>
            <p:spPr>
              <a:xfrm>
                <a:off x="6594847" y="6888861"/>
                <a:ext cx="247821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4C78A8"/>
                    </a:solidFill>
                    <a:latin typeface="Liberation Sans"/>
                  </a:rPr>
                  <a:t>(c)</a:t>
                </a:r>
              </a:p>
            </p:txBody>
          </p:sp>
        </p:grpSp>
        <p:sp>
          <p:nvSpPr>
            <p:cNvPr id="192" name="Metabolic route"/>
            <p:cNvSpPr/>
            <p:nvPr/>
          </p:nvSpPr>
          <p:spPr>
            <a:xfrm>
              <a:off x="4251960" y="7324344"/>
              <a:ext cx="603504" cy="54864"/>
            </a:xfrm>
            <a:custGeom>
              <a:avLst/>
              <a:gdLst/>
              <a:ahLst/>
              <a:cxnLst/>
              <a:rect l="0" t="0" r="r" b="b"/>
              <a:pathLst>
                <a:path w="603504" h="54864" fill="none">
                  <a:moveTo>
                    <a:pt x="0" y="18288"/>
                  </a:moveTo>
                  <a:cubicBezTo>
                    <a:pt x="182880" y="18288"/>
                    <a:pt x="347472" y="0"/>
                    <a:pt x="603504" y="54864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Metabolic route"/>
            <p:cNvSpPr/>
            <p:nvPr/>
          </p:nvSpPr>
          <p:spPr>
            <a:xfrm>
              <a:off x="4251960" y="7479792"/>
              <a:ext cx="603504" cy="420624"/>
            </a:xfrm>
            <a:custGeom>
              <a:avLst/>
              <a:gdLst/>
              <a:ahLst/>
              <a:cxnLst/>
              <a:rect l="0" t="0" r="r" b="b"/>
              <a:pathLst>
                <a:path w="603504" h="420624" fill="none">
                  <a:moveTo>
                    <a:pt x="0" y="420624"/>
                  </a:moveTo>
                  <a:cubicBezTo>
                    <a:pt x="228600" y="420624"/>
                    <a:pt x="320040" y="91440"/>
                    <a:pt x="603504" y="0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Metabolic route"/>
            <p:cNvSpPr/>
            <p:nvPr/>
          </p:nvSpPr>
          <p:spPr>
            <a:xfrm>
              <a:off x="5797296" y="7315200"/>
              <a:ext cx="576072" cy="64008"/>
            </a:xfrm>
            <a:custGeom>
              <a:avLst/>
              <a:gdLst/>
              <a:ahLst/>
              <a:cxnLst/>
              <a:rect l="0" t="0" r="r" b="b"/>
              <a:pathLst>
                <a:path w="576072" h="64008" fill="none">
                  <a:moveTo>
                    <a:pt x="0" y="64008"/>
                  </a:moveTo>
                  <a:cubicBezTo>
                    <a:pt x="274320" y="0"/>
                    <a:pt x="374904" y="27432"/>
                    <a:pt x="576072" y="27432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Metabolic route"/>
            <p:cNvSpPr/>
            <p:nvPr/>
          </p:nvSpPr>
          <p:spPr>
            <a:xfrm>
              <a:off x="5797296" y="7479792"/>
              <a:ext cx="576072" cy="420624"/>
            </a:xfrm>
            <a:custGeom>
              <a:avLst/>
              <a:gdLst/>
              <a:ahLst/>
              <a:cxnLst/>
              <a:rect l="0" t="0" r="r" b="b"/>
              <a:pathLst>
                <a:path w="576072" h="420624" fill="none">
                  <a:moveTo>
                    <a:pt x="0" y="0"/>
                  </a:moveTo>
                  <a:cubicBezTo>
                    <a:pt x="219456" y="54864"/>
                    <a:pt x="320040" y="420624"/>
                    <a:pt x="576072" y="420624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Oval 195"/>
            <p:cNvSpPr/>
            <p:nvPr/>
          </p:nvSpPr>
          <p:spPr>
            <a:xfrm>
              <a:off x="4158691" y="7295083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Oval 196"/>
            <p:cNvSpPr/>
            <p:nvPr/>
          </p:nvSpPr>
          <p:spPr>
            <a:xfrm>
              <a:off x="4158691" y="7852867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Oval 197"/>
            <p:cNvSpPr/>
            <p:nvPr/>
          </p:nvSpPr>
          <p:spPr>
            <a:xfrm>
              <a:off x="6371539" y="7295083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E69F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Oval 198"/>
            <p:cNvSpPr/>
            <p:nvPr/>
          </p:nvSpPr>
          <p:spPr>
            <a:xfrm>
              <a:off x="6371539" y="7852867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ADP"/>
            <p:cNvSpPr txBox="1"/>
            <p:nvPr/>
          </p:nvSpPr>
          <p:spPr>
            <a:xfrm>
              <a:off x="3511296" y="7214616"/>
              <a:ext cx="576072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20262E"/>
                  </a:solidFill>
                  <a:latin typeface="Liberation Sans"/>
                </a:rPr>
                <a:t>ADP</a:t>
              </a:r>
            </a:p>
          </p:txBody>
        </p:sp>
        <p:sp>
          <p:nvSpPr>
            <p:cNvPr id="201" name="Pi"/>
            <p:cNvSpPr txBox="1"/>
            <p:nvPr/>
          </p:nvSpPr>
          <p:spPr>
            <a:xfrm>
              <a:off x="3639312" y="7772400"/>
              <a:ext cx="448056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20262E"/>
                  </a:solidFill>
                  <a:latin typeface="Liberation Sans"/>
                </a:rPr>
                <a:t>Pi</a:t>
              </a:r>
            </a:p>
          </p:txBody>
        </p:sp>
        <p:sp>
          <p:nvSpPr>
            <p:cNvPr id="202" name="ATP"/>
            <p:cNvSpPr txBox="1"/>
            <p:nvPr/>
          </p:nvSpPr>
          <p:spPr>
            <a:xfrm>
              <a:off x="6519672" y="7214616"/>
              <a:ext cx="521208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ATP</a:t>
              </a:r>
            </a:p>
          </p:txBody>
        </p:sp>
        <p:grpSp>
          <p:nvGrpSpPr>
            <p:cNvPr id="203" name="H₂O"/>
            <p:cNvGrpSpPr/>
            <p:nvPr/>
          </p:nvGrpSpPr>
          <p:grpSpPr>
            <a:xfrm>
              <a:off x="6519672" y="7784973"/>
              <a:ext cx="392313" cy="267716"/>
              <a:chOff x="6519672" y="7784973"/>
              <a:chExt cx="392313" cy="267716"/>
            </a:xfrm>
          </p:grpSpPr>
          <p:sp>
            <p:nvSpPr>
              <p:cNvPr id="204" name="Chemical text: H"/>
              <p:cNvSpPr txBox="1"/>
              <p:nvPr/>
            </p:nvSpPr>
            <p:spPr>
              <a:xfrm>
                <a:off x="6519672" y="7784973"/>
                <a:ext cx="160449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20262E"/>
                    </a:solidFill>
                    <a:latin typeface="Liberation Sans"/>
                  </a:rPr>
                  <a:t>H</a:t>
                </a:r>
              </a:p>
            </p:txBody>
          </p:sp>
          <p:sp>
            <p:nvSpPr>
              <p:cNvPr id="205" name="Chemical text: 2"/>
              <p:cNvSpPr txBox="1"/>
              <p:nvPr/>
            </p:nvSpPr>
            <p:spPr>
              <a:xfrm>
                <a:off x="6661833" y="7840091"/>
                <a:ext cx="97038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0" i="0">
                    <a:solidFill>
                      <a:srgbClr val="20262E"/>
                    </a:solidFill>
                    <a:latin typeface="Liberation Sans"/>
                  </a:rPr>
                  <a:t>2</a:t>
                </a:r>
              </a:p>
            </p:txBody>
          </p:sp>
          <p:sp>
            <p:nvSpPr>
              <p:cNvPr id="206" name="Chemical text: O"/>
              <p:cNvSpPr txBox="1"/>
              <p:nvPr/>
            </p:nvSpPr>
            <p:spPr>
              <a:xfrm>
                <a:off x="6740583" y="7784973"/>
                <a:ext cx="171402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20262E"/>
                    </a:solidFill>
                    <a:latin typeface="Liberation Sans"/>
                  </a:rPr>
                  <a:t>O</a:t>
                </a:r>
              </a:p>
            </p:txBody>
          </p:sp>
        </p:grpSp>
        <p:sp>
          <p:nvSpPr>
            <p:cNvPr id="207" name="Proton uptake supports NTP production"/>
            <p:cNvSpPr txBox="1"/>
            <p:nvPr/>
          </p:nvSpPr>
          <p:spPr>
            <a:xfrm>
              <a:off x="3090672" y="8302752"/>
              <a:ext cx="3867912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20262E"/>
                  </a:solidFill>
                  <a:latin typeface="Liberation Sans"/>
                </a:rPr>
                <a:t>Proton uptake supports NTP production</a:t>
              </a:r>
            </a:p>
          </p:txBody>
        </p:sp>
        <p:sp>
          <p:nvSpPr>
            <p:cNvPr id="208" name="ATPS4r flux: 2.500"/>
            <p:cNvSpPr txBox="1"/>
            <p:nvPr/>
          </p:nvSpPr>
          <p:spPr>
            <a:xfrm>
              <a:off x="3090672" y="8586216"/>
              <a:ext cx="3867912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20262E"/>
                  </a:solidFill>
                  <a:latin typeface="Liberation Sans"/>
                </a:rPr>
                <a:t>ATPS4r flux: 2.500</a:t>
              </a:r>
            </a:p>
          </p:txBody>
        </p:sp>
      </p:grpSp>
      <p:sp>
        <p:nvSpPr>
          <p:cNvPr id="209" name="Proton-supported ATP synthesis"/>
          <p:cNvSpPr txBox="1"/>
          <p:nvPr/>
        </p:nvSpPr>
        <p:spPr>
          <a:xfrm>
            <a:off x="164592" y="164592"/>
            <a:ext cx="3950208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0262E"/>
                </a:solidFill>
                <a:latin typeface="Liberation Sans"/>
              </a:rPr>
              <a:t>Proton-supported ATP synthesis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