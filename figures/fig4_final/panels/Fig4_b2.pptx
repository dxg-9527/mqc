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0" autoCompressPictures="0" embedTrueTypeFonts="1">
  <p:sldMasterIdLst>
    <p:sldMasterId id="2147483648" r:id="rId1"/>
  </p:sldMasterIdLst>
  <p:sldIdLst>
    <p:sldId id="256" r:id="rId7"/>
  </p:sldIdLst>
  <p:sldSz cx="4352544" cy="3982212" type="screen4x3"/>
  <p:notesSz cx="6858000" cy="9144000"/>
  <p:embeddedFontLst>
    <p:embeddedFont>
      <p:font typeface="Liberation Sans"/>
      <p:regular r:id="rIdLiberation1"/>
      <p:bold r:id="rIdLiberation2"/>
      <p:italic r:id="rIdLiberation3"/>
      <p:boldItalic r:id="rIdLiberation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Liberation1" Type="http://schemas.openxmlformats.org/officeDocument/2006/relationships/font" Target="fonts/LiberationSans-Regular.fntdata"/><Relationship Id="rIdLiberation2" Type="http://schemas.openxmlformats.org/officeDocument/2006/relationships/font" Target="fonts/LiberationSans-Bold.fntdata"/><Relationship Id="rIdLiberation3" Type="http://schemas.openxmlformats.org/officeDocument/2006/relationships/font" Target="fonts/LiberationSans-Italic.fntdata"/><Relationship Id="rIdLiberation4" Type="http://schemas.openxmlformats.org/officeDocument/2006/relationships/font" Target="fonts/LiberationSans-BoldItalic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" name="b2_outer_cycle"/>
          <p:cNvGrpSpPr/>
          <p:nvPr/>
        </p:nvGrpSpPr>
        <p:grpSpPr>
          <a:xfrm>
            <a:off x="274320" y="731520"/>
            <a:ext cx="3913632" cy="2327148"/>
            <a:chOff x="7424928" y="1997964"/>
            <a:chExt cx="3913632" cy="2327148"/>
          </a:xfrm>
        </p:grpSpPr>
        <p:sp>
          <p:nvSpPr>
            <p:cNvPr id="3" name="Rounded Rectangle 2"/>
            <p:cNvSpPr/>
            <p:nvPr/>
          </p:nvSpPr>
          <p:spPr>
            <a:xfrm>
              <a:off x="7680960" y="2020824"/>
              <a:ext cx="3246120" cy="393192"/>
            </a:xfrm>
            <a:prstGeom prst="roundRect">
              <a:avLst/>
            </a:prstGeom>
            <a:solidFill>
              <a:srgbClr val="EDF6F0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grpSp>
          <p:nvGrpSpPr>
            <p:cNvPr id="4" name="2 ATP + NAD⁺ → 2 ADP + 2 Pi + NADH"/>
            <p:cNvGrpSpPr/>
            <p:nvPr/>
          </p:nvGrpSpPr>
          <p:grpSpPr>
            <a:xfrm>
              <a:off x="8476526" y="1997964"/>
              <a:ext cx="1673277" cy="404622"/>
              <a:chOff x="8476526" y="1997964"/>
              <a:chExt cx="1673277" cy="404622"/>
            </a:xfrm>
          </p:grpSpPr>
          <p:sp>
            <p:nvSpPr>
              <p:cNvPr id="5" name="Chemical text: 2 ATP + NAD"/>
              <p:cNvSpPr txBox="1"/>
              <p:nvPr/>
            </p:nvSpPr>
            <p:spPr>
              <a:xfrm>
                <a:off x="8654236" y="2032254"/>
                <a:ext cx="1026827" cy="185166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350" b="0" i="0">
                    <a:solidFill>
                      <a:srgbClr val="20262E"/>
                    </a:solidFill>
                    <a:latin typeface="Liberation Sans"/>
                  </a:rPr>
                  <a:t>2 ATP + NAD</a:t>
                </a:r>
              </a:p>
            </p:txBody>
          </p:sp>
          <p:sp>
            <p:nvSpPr>
              <p:cNvPr id="6" name="Chemical text: +"/>
              <p:cNvSpPr txBox="1"/>
              <p:nvPr/>
            </p:nvSpPr>
            <p:spPr>
              <a:xfrm>
                <a:off x="9662775" y="1997964"/>
                <a:ext cx="90232" cy="185166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971" b="0" i="0">
                    <a:solidFill>
                      <a:srgbClr val="20262E"/>
                    </a:solidFill>
                    <a:latin typeface="Liberation Sans"/>
                  </a:rPr>
                  <a:t>+</a:t>
                </a:r>
              </a:p>
            </p:txBody>
          </p:sp>
          <p:sp>
            <p:nvSpPr>
              <p:cNvPr id="7" name="Chemical text:  →"/>
              <p:cNvSpPr txBox="1"/>
              <p:nvPr/>
            </p:nvSpPr>
            <p:spPr>
              <a:xfrm>
                <a:off x="9734719" y="2032254"/>
                <a:ext cx="237373" cy="185166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350" b="0" i="0">
                    <a:solidFill>
                      <a:srgbClr val="20262E"/>
                    </a:solidFill>
                    <a:latin typeface="Liberation Sans"/>
                  </a:rPr>
                  <a:t> →</a:t>
                </a:r>
              </a:p>
            </p:txBody>
          </p:sp>
          <p:sp>
            <p:nvSpPr>
              <p:cNvPr id="8" name="Chemical text: 2 ADP + 2 Pi + NADH"/>
              <p:cNvSpPr txBox="1"/>
              <p:nvPr/>
            </p:nvSpPr>
            <p:spPr>
              <a:xfrm>
                <a:off x="8476526" y="2217420"/>
                <a:ext cx="1673277" cy="185166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350" b="0" i="0">
                    <a:solidFill>
                      <a:srgbClr val="20262E"/>
                    </a:solidFill>
                    <a:latin typeface="Liberation Sans"/>
                  </a:rPr>
                  <a:t>2 ADP + 2 Pi + NADH</a:t>
                </a:r>
              </a:p>
            </p:txBody>
          </p:sp>
        </p:grpSp>
        <p:sp>
          <p:nvSpPr>
            <p:cNvPr id="9" name="OMMBLHX3:2ommbl_c&gt;2omhmbl_c"/>
            <p:cNvSpPr/>
            <p:nvPr/>
          </p:nvSpPr>
          <p:spPr>
            <a:xfrm>
              <a:off x="8302752" y="2825496"/>
              <a:ext cx="1865376" cy="77724"/>
            </a:xfrm>
            <a:custGeom>
              <a:avLst/>
              <a:gdLst/>
              <a:ahLst/>
              <a:cxnLst/>
              <a:rect l="0" t="0" r="r" b="b"/>
              <a:pathLst>
                <a:path w="1865376" h="77724" fill="none">
                  <a:moveTo>
                    <a:pt x="1865376" y="64008"/>
                  </a:moveTo>
                  <a:cubicBezTo>
                    <a:pt x="1490472" y="0"/>
                    <a:pt x="374904" y="0"/>
                    <a:pt x="0" y="77724"/>
                  </a:cubicBezTo>
                </a:path>
              </a:pathLst>
            </a:custGeom>
            <a:noFill/>
            <a:ln w="25400" cap="rnd">
              <a:solidFill>
                <a:srgbClr val="4C78A8"/>
              </a:solidFill>
              <a:tailEnd type="triangle" w="med" len="med"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DMQMT:2omhmbl_c&gt;q8h2_c"/>
            <p:cNvSpPr/>
            <p:nvPr/>
          </p:nvSpPr>
          <p:spPr>
            <a:xfrm>
              <a:off x="7690104" y="2990088"/>
              <a:ext cx="448056" cy="987552"/>
            </a:xfrm>
            <a:custGeom>
              <a:avLst/>
              <a:gdLst/>
              <a:ahLst/>
              <a:cxnLst/>
              <a:rect l="0" t="0" r="r" b="b"/>
              <a:pathLst>
                <a:path w="448056" h="987552" fill="none">
                  <a:moveTo>
                    <a:pt x="448056" y="0"/>
                  </a:moveTo>
                  <a:cubicBezTo>
                    <a:pt x="0" y="210312"/>
                    <a:pt x="18288" y="795528"/>
                    <a:pt x="429768" y="987552"/>
                  </a:cubicBezTo>
                </a:path>
              </a:pathLst>
            </a:custGeom>
            <a:noFill/>
            <a:ln w="25400" cap="rnd">
              <a:solidFill>
                <a:srgbClr val="4C78A8"/>
              </a:solidFill>
              <a:tailEnd type="triangle" w="med" len="med"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ABAH:q8_c&gt;2ommbl_c"/>
            <p:cNvSpPr/>
            <p:nvPr/>
          </p:nvSpPr>
          <p:spPr>
            <a:xfrm>
              <a:off x="10305288" y="2999232"/>
              <a:ext cx="393192" cy="969264"/>
            </a:xfrm>
            <a:custGeom>
              <a:avLst/>
              <a:gdLst/>
              <a:ahLst/>
              <a:cxnLst/>
              <a:rect l="0" t="0" r="r" b="b"/>
              <a:pathLst>
                <a:path w="393192" h="969264" fill="none">
                  <a:moveTo>
                    <a:pt x="0" y="969264"/>
                  </a:moveTo>
                  <a:cubicBezTo>
                    <a:pt x="393192" y="768096"/>
                    <a:pt x="384048" y="210312"/>
                    <a:pt x="13716" y="0"/>
                  </a:cubicBezTo>
                </a:path>
              </a:pathLst>
            </a:custGeom>
            <a:noFill/>
            <a:ln w="29845" cap="rnd">
              <a:solidFill>
                <a:srgbClr val="D55E00"/>
              </a:solidFill>
              <a:tailEnd type="triangle" w="med" len="med"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CYTBD:q8h2_c&gt;protein"/>
            <p:cNvSpPr/>
            <p:nvPr/>
          </p:nvSpPr>
          <p:spPr>
            <a:xfrm>
              <a:off x="8247888" y="4059936"/>
              <a:ext cx="713232" cy="265176"/>
            </a:xfrm>
            <a:custGeom>
              <a:avLst/>
              <a:gdLst/>
              <a:ahLst/>
              <a:cxnLst/>
              <a:rect l="0" t="0" r="r" b="b"/>
              <a:pathLst>
                <a:path w="713232" h="265176" fill="none">
                  <a:moveTo>
                    <a:pt x="0" y="0"/>
                  </a:moveTo>
                  <a:cubicBezTo>
                    <a:pt x="393192" y="201168"/>
                    <a:pt x="576072" y="265176"/>
                    <a:pt x="713232" y="265176"/>
                  </a:cubicBezTo>
                </a:path>
              </a:pathLst>
            </a:custGeom>
            <a:noFill/>
            <a:ln w="25400" cap="rnd">
              <a:solidFill>
                <a:srgbClr val="4C78A8"/>
              </a:solidFill>
              <a:tailEnd type="triangle" w="med" len="med"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CYTBD:protein&gt;q8_c"/>
            <p:cNvSpPr/>
            <p:nvPr/>
          </p:nvSpPr>
          <p:spPr>
            <a:xfrm>
              <a:off x="9592056" y="4059936"/>
              <a:ext cx="594360" cy="265176"/>
            </a:xfrm>
            <a:custGeom>
              <a:avLst/>
              <a:gdLst/>
              <a:ahLst/>
              <a:cxnLst/>
              <a:rect l="0" t="0" r="r" b="b"/>
              <a:pathLst>
                <a:path w="594360" h="265176" fill="none">
                  <a:moveTo>
                    <a:pt x="0" y="265176"/>
                  </a:moveTo>
                  <a:cubicBezTo>
                    <a:pt x="192024" y="219456"/>
                    <a:pt x="384048" y="128016"/>
                    <a:pt x="594360" y="0"/>
                  </a:cubicBezTo>
                </a:path>
              </a:pathLst>
            </a:custGeom>
            <a:noFill/>
            <a:ln w="25400" cap="rnd">
              <a:solidFill>
                <a:srgbClr val="4C78A8"/>
              </a:solidFill>
              <a:tailEnd type="triangle" w="med" len="med"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Oval 13"/>
            <p:cNvSpPr/>
            <p:nvPr/>
          </p:nvSpPr>
          <p:spPr>
            <a:xfrm>
              <a:off x="8136331" y="2860243"/>
              <a:ext cx="131674" cy="131674"/>
            </a:xfrm>
            <a:prstGeom prst="ellipse">
              <a:avLst/>
            </a:prstGeom>
            <a:solidFill>
              <a:srgbClr val="EDF4FA"/>
            </a:solidFill>
            <a:ln w="1524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Oval 14"/>
            <p:cNvSpPr/>
            <p:nvPr/>
          </p:nvSpPr>
          <p:spPr>
            <a:xfrm>
              <a:off x="10175443" y="2860243"/>
              <a:ext cx="131674" cy="131674"/>
            </a:xfrm>
            <a:prstGeom prst="ellipse">
              <a:avLst/>
            </a:prstGeom>
            <a:solidFill>
              <a:srgbClr val="EDF4FA"/>
            </a:solidFill>
            <a:ln w="1524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Oval 15"/>
            <p:cNvSpPr/>
            <p:nvPr/>
          </p:nvSpPr>
          <p:spPr>
            <a:xfrm>
              <a:off x="8136331" y="3975811"/>
              <a:ext cx="131674" cy="131674"/>
            </a:xfrm>
            <a:prstGeom prst="ellipse">
              <a:avLst/>
            </a:prstGeom>
            <a:solidFill>
              <a:srgbClr val="EDF4FA"/>
            </a:solidFill>
            <a:ln w="1524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Oval 16"/>
            <p:cNvSpPr/>
            <p:nvPr/>
          </p:nvSpPr>
          <p:spPr>
            <a:xfrm>
              <a:off x="10175443" y="3975811"/>
              <a:ext cx="131674" cy="131674"/>
            </a:xfrm>
            <a:prstGeom prst="ellipse">
              <a:avLst/>
            </a:prstGeom>
            <a:solidFill>
              <a:srgbClr val="EDF4FA"/>
            </a:solidFill>
            <a:ln w="1524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2OMHMBL"/>
            <p:cNvSpPr txBox="1"/>
            <p:nvPr/>
          </p:nvSpPr>
          <p:spPr>
            <a:xfrm>
              <a:off x="7424928" y="2624328"/>
              <a:ext cx="1298448" cy="26517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50" b="1" i="0">
                  <a:solidFill>
                    <a:srgbClr val="20262E"/>
                  </a:solidFill>
                  <a:latin typeface="Liberation Sans"/>
                </a:rPr>
                <a:t>2OMHMBL</a:t>
              </a:r>
            </a:p>
          </p:txBody>
        </p:sp>
        <p:sp>
          <p:nvSpPr>
            <p:cNvPr id="19" name="2OMMBL"/>
            <p:cNvSpPr txBox="1"/>
            <p:nvPr/>
          </p:nvSpPr>
          <p:spPr>
            <a:xfrm>
              <a:off x="9902952" y="2624328"/>
              <a:ext cx="1316736" cy="26517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50" b="1" i="0">
                  <a:solidFill>
                    <a:srgbClr val="20262E"/>
                  </a:solidFill>
                  <a:latin typeface="Liberation Sans"/>
                </a:rPr>
                <a:t>2OMMBL</a:t>
              </a:r>
            </a:p>
          </p:txBody>
        </p:sp>
        <p:sp>
          <p:nvSpPr>
            <p:cNvPr id="20" name="OMMBLHX3"/>
            <p:cNvSpPr txBox="1"/>
            <p:nvPr/>
          </p:nvSpPr>
          <p:spPr>
            <a:xfrm>
              <a:off x="8513064" y="2532888"/>
              <a:ext cx="1563624" cy="237744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50" b="1" i="1">
                  <a:solidFill>
                    <a:srgbClr val="4C78A8"/>
                  </a:solidFill>
                  <a:latin typeface="Liberation Sans"/>
                </a:rPr>
                <a:t>OMMBLHX3</a:t>
              </a:r>
            </a:p>
          </p:txBody>
        </p:sp>
        <p:sp>
          <p:nvSpPr>
            <p:cNvPr id="21" name="DMQMT"/>
            <p:cNvSpPr txBox="1"/>
            <p:nvPr/>
          </p:nvSpPr>
          <p:spPr>
            <a:xfrm>
              <a:off x="8001000" y="3264408"/>
              <a:ext cx="877824" cy="26517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 b="1" i="1">
                  <a:solidFill>
                    <a:srgbClr val="4C78A8"/>
                  </a:solidFill>
                  <a:latin typeface="Liberation Sans"/>
                </a:rPr>
                <a:t>DMQMT</a:t>
              </a:r>
            </a:p>
          </p:txBody>
        </p:sp>
        <p:sp>
          <p:nvSpPr>
            <p:cNvPr id="22" name="ABAH (reverse)"/>
            <p:cNvSpPr txBox="1"/>
            <p:nvPr/>
          </p:nvSpPr>
          <p:spPr>
            <a:xfrm>
              <a:off x="10616184" y="2953512"/>
              <a:ext cx="722376" cy="42976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 b="1" i="1">
                  <a:solidFill>
                    <a:srgbClr val="D55E00"/>
                  </a:solidFill>
                  <a:latin typeface="Liberation Sans"/>
                </a:rPr>
                <a:t>ABAH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 b="1" i="1">
                  <a:solidFill>
                    <a:srgbClr val="D55E00"/>
                  </a:solidFill>
                  <a:latin typeface="Liberation Sans"/>
                </a:rPr>
                <a:t>(reverse)</a:t>
              </a:r>
            </a:p>
          </p:txBody>
        </p:sp>
        <p:sp>
          <p:nvSpPr>
            <p:cNvPr id="23" name="MQC stop"/>
            <p:cNvSpPr/>
            <p:nvPr/>
          </p:nvSpPr>
          <p:spPr>
            <a:xfrm>
              <a:off x="10492740" y="3561588"/>
              <a:ext cx="137160" cy="137160"/>
            </a:xfrm>
            <a:custGeom>
              <a:avLst/>
              <a:gdLst/>
              <a:ahLst/>
              <a:cxnLst/>
              <a:rect l="0" t="0" r="r" b="b"/>
              <a:pathLst>
                <a:path w="137160" h="137160" fill="none">
                  <a:moveTo>
                    <a:pt x="0" y="0"/>
                  </a:moveTo>
                  <a:lnTo>
                    <a:pt x="137160" y="137160"/>
                  </a:lnTo>
                </a:path>
              </a:pathLst>
            </a:custGeom>
            <a:noFill/>
            <a:ln w="33020" cap="rnd">
              <a:solidFill>
                <a:srgbClr val="C43C39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MQC stop"/>
            <p:cNvSpPr/>
            <p:nvPr/>
          </p:nvSpPr>
          <p:spPr>
            <a:xfrm>
              <a:off x="10492740" y="3561588"/>
              <a:ext cx="137160" cy="137160"/>
            </a:xfrm>
            <a:custGeom>
              <a:avLst/>
              <a:gdLst/>
              <a:ahLst/>
              <a:cxnLst/>
              <a:rect l="0" t="0" r="r" b="b"/>
              <a:pathLst>
                <a:path w="137160" h="137160" fill="none">
                  <a:moveTo>
                    <a:pt x="0" y="137160"/>
                  </a:moveTo>
                  <a:lnTo>
                    <a:pt x="137160" y="0"/>
                  </a:lnTo>
                </a:path>
              </a:pathLst>
            </a:custGeom>
            <a:noFill/>
            <a:ln w="33020" cap="rnd">
              <a:solidFill>
                <a:srgbClr val="C43C39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closed"/>
            <p:cNvSpPr txBox="1"/>
            <p:nvPr/>
          </p:nvSpPr>
          <p:spPr>
            <a:xfrm>
              <a:off x="10634472" y="3511296"/>
              <a:ext cx="667512" cy="25603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 b="0" i="0">
                  <a:solidFill>
                    <a:srgbClr val="C43C39"/>
                  </a:solidFill>
                  <a:latin typeface="Liberation Sans"/>
                </a:rPr>
                <a:t>closed</a:t>
              </a:r>
            </a:p>
          </p:txBody>
        </p:sp>
        <p:grpSp>
          <p:nvGrpSpPr>
            <p:cNvPr id="26" name="Q₈H₂"/>
            <p:cNvGrpSpPr/>
            <p:nvPr/>
          </p:nvGrpSpPr>
          <p:grpSpPr>
            <a:xfrm>
              <a:off x="7536869" y="3921633"/>
              <a:ext cx="471063" cy="267716"/>
              <a:chOff x="7536869" y="3921633"/>
              <a:chExt cx="471063" cy="267716"/>
            </a:xfrm>
          </p:grpSpPr>
          <p:sp>
            <p:nvSpPr>
              <p:cNvPr id="27" name="Chemical text: Q"/>
              <p:cNvSpPr txBox="1"/>
              <p:nvPr/>
            </p:nvSpPr>
            <p:spPr>
              <a:xfrm>
                <a:off x="7536869" y="3921633"/>
                <a:ext cx="171402" cy="212598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550" b="1" i="0">
                    <a:solidFill>
                      <a:srgbClr val="20262E"/>
                    </a:solidFill>
                    <a:latin typeface="Liberation Sans"/>
                  </a:rPr>
                  <a:t>Q</a:t>
                </a:r>
              </a:p>
            </p:txBody>
          </p:sp>
          <p:sp>
            <p:nvSpPr>
              <p:cNvPr id="28" name="Chemical text: 8"/>
              <p:cNvSpPr txBox="1"/>
              <p:nvPr/>
            </p:nvSpPr>
            <p:spPr>
              <a:xfrm>
                <a:off x="7689983" y="3976751"/>
                <a:ext cx="97038" cy="212598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116" b="1" i="0">
                    <a:solidFill>
                      <a:srgbClr val="20262E"/>
                    </a:solidFill>
                    <a:latin typeface="Liberation Sans"/>
                  </a:rPr>
                  <a:t>8</a:t>
                </a:r>
              </a:p>
            </p:txBody>
          </p:sp>
          <p:sp>
            <p:nvSpPr>
              <p:cNvPr id="29" name="Chemical text: H"/>
              <p:cNvSpPr txBox="1"/>
              <p:nvPr/>
            </p:nvSpPr>
            <p:spPr>
              <a:xfrm>
                <a:off x="7768733" y="3921633"/>
                <a:ext cx="160449" cy="212598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550" b="1" i="0">
                    <a:solidFill>
                      <a:srgbClr val="20262E"/>
                    </a:solidFill>
                    <a:latin typeface="Liberation Sans"/>
                  </a:rPr>
                  <a:t>H</a:t>
                </a:r>
              </a:p>
            </p:txBody>
          </p:sp>
          <p:sp>
            <p:nvSpPr>
              <p:cNvPr id="30" name="Chemical text: 2"/>
              <p:cNvSpPr txBox="1"/>
              <p:nvPr/>
            </p:nvSpPr>
            <p:spPr>
              <a:xfrm>
                <a:off x="7910894" y="3976751"/>
                <a:ext cx="97038" cy="212598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116" b="1" i="0">
                    <a:solidFill>
                      <a:srgbClr val="20262E"/>
                    </a:solidFill>
                    <a:latin typeface="Liberation Sans"/>
                  </a:rPr>
                  <a:t>2</a:t>
                </a:r>
              </a:p>
            </p:txBody>
          </p:sp>
        </p:grpSp>
        <p:grpSp>
          <p:nvGrpSpPr>
            <p:cNvPr id="31" name="Q₈"/>
            <p:cNvGrpSpPr/>
            <p:nvPr/>
          </p:nvGrpSpPr>
          <p:grpSpPr>
            <a:xfrm>
              <a:off x="10573404" y="3907917"/>
              <a:ext cx="250152" cy="267716"/>
              <a:chOff x="10573404" y="3907917"/>
              <a:chExt cx="250152" cy="267716"/>
            </a:xfrm>
          </p:grpSpPr>
          <p:sp>
            <p:nvSpPr>
              <p:cNvPr id="32" name="Chemical text: Q"/>
              <p:cNvSpPr txBox="1"/>
              <p:nvPr/>
            </p:nvSpPr>
            <p:spPr>
              <a:xfrm>
                <a:off x="10573404" y="3907917"/>
                <a:ext cx="171402" cy="212598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550" b="1" i="0">
                    <a:solidFill>
                      <a:srgbClr val="20262E"/>
                    </a:solidFill>
                    <a:latin typeface="Liberation Sans"/>
                  </a:rPr>
                  <a:t>Q</a:t>
                </a:r>
              </a:p>
            </p:txBody>
          </p:sp>
          <p:sp>
            <p:nvSpPr>
              <p:cNvPr id="33" name="Chemical text: 8"/>
              <p:cNvSpPr txBox="1"/>
              <p:nvPr/>
            </p:nvSpPr>
            <p:spPr>
              <a:xfrm>
                <a:off x="10726518" y="3963035"/>
                <a:ext cx="97038" cy="212598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116" b="1" i="0">
                    <a:solidFill>
                      <a:srgbClr val="20262E"/>
                    </a:solidFill>
                    <a:latin typeface="Liberation Sans"/>
                  </a:rPr>
                  <a:t>8</a:t>
                </a:r>
              </a:p>
            </p:txBody>
          </p:sp>
        </p:grpSp>
      </p:grpSp>
      <p:grpSp>
        <p:nvGrpSpPr>
          <p:cNvPr id="34" name="b2_inner_cycle"/>
          <p:cNvGrpSpPr/>
          <p:nvPr/>
        </p:nvGrpSpPr>
        <p:grpSpPr>
          <a:xfrm>
            <a:off x="1536192" y="1569339"/>
            <a:ext cx="1207008" cy="1251585"/>
            <a:chOff x="8686800" y="2835783"/>
            <a:chExt cx="1207008" cy="1251585"/>
          </a:xfrm>
        </p:grpSpPr>
        <p:sp>
          <p:nvSpPr>
            <p:cNvPr id="35" name="DMQMT:amet_c&gt;ahcys_c"/>
            <p:cNvSpPr/>
            <p:nvPr/>
          </p:nvSpPr>
          <p:spPr>
            <a:xfrm>
              <a:off x="8686800" y="3154680"/>
              <a:ext cx="566928" cy="621792"/>
            </a:xfrm>
            <a:custGeom>
              <a:avLst/>
              <a:gdLst/>
              <a:ahLst/>
              <a:cxnLst/>
              <a:rect l="0" t="0" r="r" b="b"/>
              <a:pathLst>
                <a:path w="566928" h="621792" fill="none">
                  <a:moveTo>
                    <a:pt x="566928" y="621792"/>
                  </a:moveTo>
                  <a:cubicBezTo>
                    <a:pt x="0" y="612648"/>
                    <a:pt x="0" y="9144"/>
                    <a:pt x="566928" y="0"/>
                  </a:cubicBezTo>
                </a:path>
              </a:pathLst>
            </a:custGeom>
            <a:noFill/>
            <a:ln w="17780" cap="rnd">
              <a:solidFill>
                <a:srgbClr val="4C78A8"/>
              </a:solidFill>
              <a:tailEnd type="triangle" w="med" len="med"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" name="ABAH:ahcys_c&gt;amet_c"/>
            <p:cNvSpPr/>
            <p:nvPr/>
          </p:nvSpPr>
          <p:spPr>
            <a:xfrm>
              <a:off x="9326880" y="3154680"/>
              <a:ext cx="566928" cy="621792"/>
            </a:xfrm>
            <a:custGeom>
              <a:avLst/>
              <a:gdLst/>
              <a:ahLst/>
              <a:cxnLst/>
              <a:rect l="0" t="0" r="r" b="b"/>
              <a:pathLst>
                <a:path w="566928" h="621792" fill="none">
                  <a:moveTo>
                    <a:pt x="0" y="0"/>
                  </a:moveTo>
                  <a:cubicBezTo>
                    <a:pt x="566928" y="9144"/>
                    <a:pt x="566928" y="612648"/>
                    <a:pt x="0" y="621792"/>
                  </a:cubicBezTo>
                </a:path>
              </a:pathLst>
            </a:custGeom>
            <a:noFill/>
            <a:ln w="17780" cap="rnd">
              <a:solidFill>
                <a:srgbClr val="D55E00"/>
              </a:solidFill>
              <a:tailEnd type="triangle" w="med" len="med"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" name="Oval 36"/>
            <p:cNvSpPr/>
            <p:nvPr/>
          </p:nvSpPr>
          <p:spPr>
            <a:xfrm>
              <a:off x="9235440" y="3099816"/>
              <a:ext cx="109728" cy="109728"/>
            </a:xfrm>
            <a:prstGeom prst="ellipse">
              <a:avLst/>
            </a:prstGeom>
            <a:solidFill>
              <a:srgbClr val="FFF5D9"/>
            </a:solidFill>
            <a:ln w="14604">
              <a:solidFill>
                <a:srgbClr val="E69F00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" name="Oval 37"/>
            <p:cNvSpPr/>
            <p:nvPr/>
          </p:nvSpPr>
          <p:spPr>
            <a:xfrm>
              <a:off x="9235440" y="3721608"/>
              <a:ext cx="109728" cy="109728"/>
            </a:xfrm>
            <a:prstGeom prst="ellipse">
              <a:avLst/>
            </a:prstGeom>
            <a:solidFill>
              <a:srgbClr val="FFF5D9"/>
            </a:solidFill>
            <a:ln w="14604">
              <a:solidFill>
                <a:srgbClr val="E69F00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grpSp>
          <p:nvGrpSpPr>
            <p:cNvPr id="39" name="AdoHcy + H⁺"/>
            <p:cNvGrpSpPr/>
            <p:nvPr/>
          </p:nvGrpSpPr>
          <p:grpSpPr>
            <a:xfrm>
              <a:off x="8770839" y="2835783"/>
              <a:ext cx="1057218" cy="219456"/>
              <a:chOff x="8770839" y="2835783"/>
              <a:chExt cx="1057218" cy="219456"/>
            </a:xfrm>
          </p:grpSpPr>
          <p:sp>
            <p:nvSpPr>
              <p:cNvPr id="40" name="Chemical text: AdoHcy + H"/>
              <p:cNvSpPr txBox="1"/>
              <p:nvPr/>
            </p:nvSpPr>
            <p:spPr>
              <a:xfrm>
                <a:off x="8770839" y="2870073"/>
                <a:ext cx="985274" cy="185166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350" b="1" i="0">
                    <a:solidFill>
                      <a:srgbClr val="20262E"/>
                    </a:solidFill>
                    <a:latin typeface="Liberation Sans"/>
                  </a:rPr>
                  <a:t>AdoHcy + H</a:t>
                </a:r>
              </a:p>
            </p:txBody>
          </p:sp>
          <p:sp>
            <p:nvSpPr>
              <p:cNvPr id="41" name="Chemical text: +"/>
              <p:cNvSpPr txBox="1"/>
              <p:nvPr/>
            </p:nvSpPr>
            <p:spPr>
              <a:xfrm>
                <a:off x="9737825" y="2835783"/>
                <a:ext cx="90232" cy="185166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971" b="1" i="0">
                    <a:solidFill>
                      <a:srgbClr val="20262E"/>
                    </a:solidFill>
                    <a:latin typeface="Liberation Sans"/>
                  </a:rPr>
                  <a:t>+</a:t>
                </a:r>
              </a:p>
            </p:txBody>
          </p:sp>
        </p:grpSp>
        <p:sp>
          <p:nvSpPr>
            <p:cNvPr id="42" name="AdoMet"/>
            <p:cNvSpPr txBox="1"/>
            <p:nvPr/>
          </p:nvSpPr>
          <p:spPr>
            <a:xfrm>
              <a:off x="8769096" y="3840480"/>
              <a:ext cx="1042416" cy="24688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50" b="1" i="0">
                  <a:solidFill>
                    <a:srgbClr val="20262E"/>
                  </a:solidFill>
                  <a:latin typeface="Liberation Sans"/>
                </a:rPr>
                <a:t>AdoMet</a:t>
              </a:r>
            </a:p>
          </p:txBody>
        </p:sp>
        <p:sp>
          <p:nvSpPr>
            <p:cNvPr id="43" name="Cofactor recycling"/>
            <p:cNvSpPr txBox="1"/>
            <p:nvPr/>
          </p:nvSpPr>
          <p:spPr>
            <a:xfrm>
              <a:off x="8705088" y="3264408"/>
              <a:ext cx="1170432" cy="38404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 b="0" i="1">
                  <a:solidFill>
                    <a:srgbClr val="68727D"/>
                  </a:solidFill>
                  <a:latin typeface="Liberation Sans"/>
                </a:rPr>
                <a:t>Cofactor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 b="0" i="1">
                  <a:solidFill>
                    <a:srgbClr val="68727D"/>
                  </a:solidFill>
                  <a:latin typeface="Liberation Sans"/>
                </a:rPr>
                <a:t>recycling</a:t>
              </a:r>
            </a:p>
          </p:txBody>
        </p:sp>
      </p:grpSp>
      <p:grpSp>
        <p:nvGrpSpPr>
          <p:cNvPr id="44" name="b2_membrane"/>
          <p:cNvGrpSpPr/>
          <p:nvPr/>
        </p:nvGrpSpPr>
        <p:grpSpPr>
          <a:xfrm>
            <a:off x="164592" y="2921508"/>
            <a:ext cx="3941064" cy="896112"/>
            <a:chOff x="7315200" y="4187952"/>
            <a:chExt cx="3941064" cy="896112"/>
          </a:xfrm>
        </p:grpSpPr>
        <p:sp>
          <p:nvSpPr>
            <p:cNvPr id="45" name="Phospholipid tail"/>
            <p:cNvSpPr/>
            <p:nvPr/>
          </p:nvSpPr>
          <p:spPr>
            <a:xfrm>
              <a:off x="7920533" y="4328770"/>
              <a:ext cx="11887" cy="67666"/>
            </a:xfrm>
            <a:custGeom>
              <a:avLst/>
              <a:gdLst/>
              <a:ahLst/>
              <a:cxnLst/>
              <a:rect l="0" t="0" r="r" b="b"/>
              <a:pathLst>
                <a:path w="11887" h="67666" fill="none">
                  <a:moveTo>
                    <a:pt x="0" y="0"/>
                  </a:moveTo>
                  <a:lnTo>
                    <a:pt x="0" y="34747"/>
                  </a:lnTo>
                  <a:lnTo>
                    <a:pt x="11887" y="67666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" name="Phospholipid tail"/>
            <p:cNvSpPr/>
            <p:nvPr/>
          </p:nvSpPr>
          <p:spPr>
            <a:xfrm>
              <a:off x="7953451" y="4328770"/>
              <a:ext cx="11887" cy="67666"/>
            </a:xfrm>
            <a:custGeom>
              <a:avLst/>
              <a:gdLst/>
              <a:ahLst/>
              <a:cxnLst/>
              <a:rect l="0" t="0" r="r" b="b"/>
              <a:pathLst>
                <a:path w="11887" h="67666" fill="none">
                  <a:moveTo>
                    <a:pt x="0" y="0"/>
                  </a:moveTo>
                  <a:lnTo>
                    <a:pt x="0" y="34747"/>
                  </a:lnTo>
                  <a:lnTo>
                    <a:pt x="11887" y="67666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" name="Oval 46"/>
            <p:cNvSpPr/>
            <p:nvPr/>
          </p:nvSpPr>
          <p:spPr>
            <a:xfrm>
              <a:off x="7905902" y="4266590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" name="Phospholipid tail"/>
            <p:cNvSpPr/>
            <p:nvPr/>
          </p:nvSpPr>
          <p:spPr>
            <a:xfrm>
              <a:off x="7920533" y="4418381"/>
              <a:ext cx="11887" cy="67666"/>
            </a:xfrm>
            <a:custGeom>
              <a:avLst/>
              <a:gdLst/>
              <a:ahLst/>
              <a:cxnLst/>
              <a:rect l="0" t="0" r="r" b="b"/>
              <a:pathLst>
                <a:path w="11887" h="67666" fill="none">
                  <a:moveTo>
                    <a:pt x="0" y="67666"/>
                  </a:moveTo>
                  <a:lnTo>
                    <a:pt x="0" y="32918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" name="Phospholipid tail"/>
            <p:cNvSpPr/>
            <p:nvPr/>
          </p:nvSpPr>
          <p:spPr>
            <a:xfrm>
              <a:off x="7953451" y="4418381"/>
              <a:ext cx="11887" cy="67666"/>
            </a:xfrm>
            <a:custGeom>
              <a:avLst/>
              <a:gdLst/>
              <a:ahLst/>
              <a:cxnLst/>
              <a:rect l="0" t="0" r="r" b="b"/>
              <a:pathLst>
                <a:path w="11887" h="67666" fill="none">
                  <a:moveTo>
                    <a:pt x="0" y="67666"/>
                  </a:moveTo>
                  <a:lnTo>
                    <a:pt x="0" y="32918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" name="Oval 49"/>
            <p:cNvSpPr/>
            <p:nvPr/>
          </p:nvSpPr>
          <p:spPr>
            <a:xfrm>
              <a:off x="7905902" y="4486046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" name="Phospholipid tail"/>
            <p:cNvSpPr/>
            <p:nvPr/>
          </p:nvSpPr>
          <p:spPr>
            <a:xfrm>
              <a:off x="8028229" y="4328770"/>
              <a:ext cx="11887" cy="67666"/>
            </a:xfrm>
            <a:custGeom>
              <a:avLst/>
              <a:gdLst/>
              <a:ahLst/>
              <a:cxnLst/>
              <a:rect l="0" t="0" r="r" b="b"/>
              <a:pathLst>
                <a:path w="11887" h="67666" fill="none">
                  <a:moveTo>
                    <a:pt x="0" y="0"/>
                  </a:moveTo>
                  <a:lnTo>
                    <a:pt x="0" y="34747"/>
                  </a:lnTo>
                  <a:lnTo>
                    <a:pt x="11887" y="67666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" name="Phospholipid tail"/>
            <p:cNvSpPr/>
            <p:nvPr/>
          </p:nvSpPr>
          <p:spPr>
            <a:xfrm>
              <a:off x="8061147" y="4328770"/>
              <a:ext cx="11887" cy="67666"/>
            </a:xfrm>
            <a:custGeom>
              <a:avLst/>
              <a:gdLst/>
              <a:ahLst/>
              <a:cxnLst/>
              <a:rect l="0" t="0" r="r" b="b"/>
              <a:pathLst>
                <a:path w="11887" h="67666" fill="none">
                  <a:moveTo>
                    <a:pt x="0" y="0"/>
                  </a:moveTo>
                  <a:lnTo>
                    <a:pt x="0" y="34747"/>
                  </a:lnTo>
                  <a:lnTo>
                    <a:pt x="11887" y="67666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" name="Oval 52"/>
            <p:cNvSpPr/>
            <p:nvPr/>
          </p:nvSpPr>
          <p:spPr>
            <a:xfrm>
              <a:off x="8013598" y="4266590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" name="Phospholipid tail"/>
            <p:cNvSpPr/>
            <p:nvPr/>
          </p:nvSpPr>
          <p:spPr>
            <a:xfrm>
              <a:off x="8028229" y="4418381"/>
              <a:ext cx="11887" cy="67666"/>
            </a:xfrm>
            <a:custGeom>
              <a:avLst/>
              <a:gdLst/>
              <a:ahLst/>
              <a:cxnLst/>
              <a:rect l="0" t="0" r="r" b="b"/>
              <a:pathLst>
                <a:path w="11887" h="67666" fill="none">
                  <a:moveTo>
                    <a:pt x="0" y="67666"/>
                  </a:moveTo>
                  <a:lnTo>
                    <a:pt x="0" y="32918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" name="Phospholipid tail"/>
            <p:cNvSpPr/>
            <p:nvPr/>
          </p:nvSpPr>
          <p:spPr>
            <a:xfrm>
              <a:off x="8061147" y="4418381"/>
              <a:ext cx="11887" cy="67666"/>
            </a:xfrm>
            <a:custGeom>
              <a:avLst/>
              <a:gdLst/>
              <a:ahLst/>
              <a:cxnLst/>
              <a:rect l="0" t="0" r="r" b="b"/>
              <a:pathLst>
                <a:path w="11887" h="67666" fill="none">
                  <a:moveTo>
                    <a:pt x="0" y="67666"/>
                  </a:moveTo>
                  <a:lnTo>
                    <a:pt x="0" y="32918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6" name="Oval 55"/>
            <p:cNvSpPr/>
            <p:nvPr/>
          </p:nvSpPr>
          <p:spPr>
            <a:xfrm>
              <a:off x="8013598" y="4486046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7" name="Phospholipid tail"/>
            <p:cNvSpPr/>
            <p:nvPr/>
          </p:nvSpPr>
          <p:spPr>
            <a:xfrm>
              <a:off x="8135925" y="4328770"/>
              <a:ext cx="11887" cy="67666"/>
            </a:xfrm>
            <a:custGeom>
              <a:avLst/>
              <a:gdLst/>
              <a:ahLst/>
              <a:cxnLst/>
              <a:rect l="0" t="0" r="r" b="b"/>
              <a:pathLst>
                <a:path w="11887" h="67666" fill="none">
                  <a:moveTo>
                    <a:pt x="0" y="0"/>
                  </a:moveTo>
                  <a:lnTo>
                    <a:pt x="0" y="34747"/>
                  </a:lnTo>
                  <a:lnTo>
                    <a:pt x="11887" y="67666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8" name="Phospholipid tail"/>
            <p:cNvSpPr/>
            <p:nvPr/>
          </p:nvSpPr>
          <p:spPr>
            <a:xfrm>
              <a:off x="8168843" y="4328770"/>
              <a:ext cx="11887" cy="67666"/>
            </a:xfrm>
            <a:custGeom>
              <a:avLst/>
              <a:gdLst/>
              <a:ahLst/>
              <a:cxnLst/>
              <a:rect l="0" t="0" r="r" b="b"/>
              <a:pathLst>
                <a:path w="11887" h="67666" fill="none">
                  <a:moveTo>
                    <a:pt x="0" y="0"/>
                  </a:moveTo>
                  <a:lnTo>
                    <a:pt x="0" y="34747"/>
                  </a:lnTo>
                  <a:lnTo>
                    <a:pt x="11887" y="67666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9" name="Oval 58"/>
            <p:cNvSpPr/>
            <p:nvPr/>
          </p:nvSpPr>
          <p:spPr>
            <a:xfrm>
              <a:off x="8121294" y="4266590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0" name="Phospholipid tail"/>
            <p:cNvSpPr/>
            <p:nvPr/>
          </p:nvSpPr>
          <p:spPr>
            <a:xfrm>
              <a:off x="8135925" y="4418381"/>
              <a:ext cx="11887" cy="67666"/>
            </a:xfrm>
            <a:custGeom>
              <a:avLst/>
              <a:gdLst/>
              <a:ahLst/>
              <a:cxnLst/>
              <a:rect l="0" t="0" r="r" b="b"/>
              <a:pathLst>
                <a:path w="11887" h="67666" fill="none">
                  <a:moveTo>
                    <a:pt x="0" y="67666"/>
                  </a:moveTo>
                  <a:lnTo>
                    <a:pt x="0" y="32918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1" name="Phospholipid tail"/>
            <p:cNvSpPr/>
            <p:nvPr/>
          </p:nvSpPr>
          <p:spPr>
            <a:xfrm>
              <a:off x="8168843" y="4418381"/>
              <a:ext cx="11887" cy="67666"/>
            </a:xfrm>
            <a:custGeom>
              <a:avLst/>
              <a:gdLst/>
              <a:ahLst/>
              <a:cxnLst/>
              <a:rect l="0" t="0" r="r" b="b"/>
              <a:pathLst>
                <a:path w="11887" h="67666" fill="none">
                  <a:moveTo>
                    <a:pt x="0" y="67666"/>
                  </a:moveTo>
                  <a:lnTo>
                    <a:pt x="0" y="32918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2" name="Oval 61"/>
            <p:cNvSpPr/>
            <p:nvPr/>
          </p:nvSpPr>
          <p:spPr>
            <a:xfrm>
              <a:off x="8121294" y="4486046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3" name="Phospholipid tail"/>
            <p:cNvSpPr/>
            <p:nvPr/>
          </p:nvSpPr>
          <p:spPr>
            <a:xfrm>
              <a:off x="8243621" y="4328770"/>
              <a:ext cx="11887" cy="67666"/>
            </a:xfrm>
            <a:custGeom>
              <a:avLst/>
              <a:gdLst/>
              <a:ahLst/>
              <a:cxnLst/>
              <a:rect l="0" t="0" r="r" b="b"/>
              <a:pathLst>
                <a:path w="11887" h="67666" fill="none">
                  <a:moveTo>
                    <a:pt x="0" y="0"/>
                  </a:moveTo>
                  <a:lnTo>
                    <a:pt x="0" y="34747"/>
                  </a:lnTo>
                  <a:lnTo>
                    <a:pt x="11887" y="67666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4" name="Phospholipid tail"/>
            <p:cNvSpPr/>
            <p:nvPr/>
          </p:nvSpPr>
          <p:spPr>
            <a:xfrm>
              <a:off x="8276539" y="4328770"/>
              <a:ext cx="11887" cy="67666"/>
            </a:xfrm>
            <a:custGeom>
              <a:avLst/>
              <a:gdLst/>
              <a:ahLst/>
              <a:cxnLst/>
              <a:rect l="0" t="0" r="r" b="b"/>
              <a:pathLst>
                <a:path w="11887" h="67666" fill="none">
                  <a:moveTo>
                    <a:pt x="0" y="0"/>
                  </a:moveTo>
                  <a:lnTo>
                    <a:pt x="0" y="34747"/>
                  </a:lnTo>
                  <a:lnTo>
                    <a:pt x="11887" y="67666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5" name="Oval 64"/>
            <p:cNvSpPr/>
            <p:nvPr/>
          </p:nvSpPr>
          <p:spPr>
            <a:xfrm>
              <a:off x="8228990" y="4266590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6" name="Phospholipid tail"/>
            <p:cNvSpPr/>
            <p:nvPr/>
          </p:nvSpPr>
          <p:spPr>
            <a:xfrm>
              <a:off x="8243621" y="4418381"/>
              <a:ext cx="11887" cy="67666"/>
            </a:xfrm>
            <a:custGeom>
              <a:avLst/>
              <a:gdLst/>
              <a:ahLst/>
              <a:cxnLst/>
              <a:rect l="0" t="0" r="r" b="b"/>
              <a:pathLst>
                <a:path w="11887" h="67666" fill="none">
                  <a:moveTo>
                    <a:pt x="0" y="67666"/>
                  </a:moveTo>
                  <a:lnTo>
                    <a:pt x="0" y="32918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7" name="Phospholipid tail"/>
            <p:cNvSpPr/>
            <p:nvPr/>
          </p:nvSpPr>
          <p:spPr>
            <a:xfrm>
              <a:off x="8276539" y="4418381"/>
              <a:ext cx="11887" cy="67666"/>
            </a:xfrm>
            <a:custGeom>
              <a:avLst/>
              <a:gdLst/>
              <a:ahLst/>
              <a:cxnLst/>
              <a:rect l="0" t="0" r="r" b="b"/>
              <a:pathLst>
                <a:path w="11887" h="67666" fill="none">
                  <a:moveTo>
                    <a:pt x="0" y="67666"/>
                  </a:moveTo>
                  <a:lnTo>
                    <a:pt x="0" y="32918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8" name="Oval 67"/>
            <p:cNvSpPr/>
            <p:nvPr/>
          </p:nvSpPr>
          <p:spPr>
            <a:xfrm>
              <a:off x="8228990" y="4486046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" name="Phospholipid tail"/>
            <p:cNvSpPr/>
            <p:nvPr/>
          </p:nvSpPr>
          <p:spPr>
            <a:xfrm>
              <a:off x="8351317" y="4328770"/>
              <a:ext cx="11887" cy="67666"/>
            </a:xfrm>
            <a:custGeom>
              <a:avLst/>
              <a:gdLst/>
              <a:ahLst/>
              <a:cxnLst/>
              <a:rect l="0" t="0" r="r" b="b"/>
              <a:pathLst>
                <a:path w="11887" h="67666" fill="none">
                  <a:moveTo>
                    <a:pt x="0" y="0"/>
                  </a:moveTo>
                  <a:lnTo>
                    <a:pt x="0" y="34747"/>
                  </a:lnTo>
                  <a:lnTo>
                    <a:pt x="11887" y="67666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0" name="Phospholipid tail"/>
            <p:cNvSpPr/>
            <p:nvPr/>
          </p:nvSpPr>
          <p:spPr>
            <a:xfrm>
              <a:off x="8384235" y="4328770"/>
              <a:ext cx="11887" cy="67666"/>
            </a:xfrm>
            <a:custGeom>
              <a:avLst/>
              <a:gdLst/>
              <a:ahLst/>
              <a:cxnLst/>
              <a:rect l="0" t="0" r="r" b="b"/>
              <a:pathLst>
                <a:path w="11887" h="67666" fill="none">
                  <a:moveTo>
                    <a:pt x="0" y="0"/>
                  </a:moveTo>
                  <a:lnTo>
                    <a:pt x="0" y="34747"/>
                  </a:lnTo>
                  <a:lnTo>
                    <a:pt x="11887" y="67666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1" name="Oval 70"/>
            <p:cNvSpPr/>
            <p:nvPr/>
          </p:nvSpPr>
          <p:spPr>
            <a:xfrm>
              <a:off x="8336686" y="4266590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2" name="Phospholipid tail"/>
            <p:cNvSpPr/>
            <p:nvPr/>
          </p:nvSpPr>
          <p:spPr>
            <a:xfrm>
              <a:off x="8351317" y="4418381"/>
              <a:ext cx="11887" cy="67666"/>
            </a:xfrm>
            <a:custGeom>
              <a:avLst/>
              <a:gdLst/>
              <a:ahLst/>
              <a:cxnLst/>
              <a:rect l="0" t="0" r="r" b="b"/>
              <a:pathLst>
                <a:path w="11887" h="67666" fill="none">
                  <a:moveTo>
                    <a:pt x="0" y="67666"/>
                  </a:moveTo>
                  <a:lnTo>
                    <a:pt x="0" y="32918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3" name="Phospholipid tail"/>
            <p:cNvSpPr/>
            <p:nvPr/>
          </p:nvSpPr>
          <p:spPr>
            <a:xfrm>
              <a:off x="8384235" y="4418381"/>
              <a:ext cx="11887" cy="67666"/>
            </a:xfrm>
            <a:custGeom>
              <a:avLst/>
              <a:gdLst/>
              <a:ahLst/>
              <a:cxnLst/>
              <a:rect l="0" t="0" r="r" b="b"/>
              <a:pathLst>
                <a:path w="11887" h="67666" fill="none">
                  <a:moveTo>
                    <a:pt x="0" y="67666"/>
                  </a:moveTo>
                  <a:lnTo>
                    <a:pt x="0" y="32918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4" name="Oval 73"/>
            <p:cNvSpPr/>
            <p:nvPr/>
          </p:nvSpPr>
          <p:spPr>
            <a:xfrm>
              <a:off x="8336686" y="4486046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5" name="Phospholipid tail"/>
            <p:cNvSpPr/>
            <p:nvPr/>
          </p:nvSpPr>
          <p:spPr>
            <a:xfrm>
              <a:off x="8459013" y="4328770"/>
              <a:ext cx="11887" cy="67666"/>
            </a:xfrm>
            <a:custGeom>
              <a:avLst/>
              <a:gdLst/>
              <a:ahLst/>
              <a:cxnLst/>
              <a:rect l="0" t="0" r="r" b="b"/>
              <a:pathLst>
                <a:path w="11887" h="67666" fill="none">
                  <a:moveTo>
                    <a:pt x="0" y="0"/>
                  </a:moveTo>
                  <a:lnTo>
                    <a:pt x="0" y="34747"/>
                  </a:lnTo>
                  <a:lnTo>
                    <a:pt x="11887" y="67666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6" name="Phospholipid tail"/>
            <p:cNvSpPr/>
            <p:nvPr/>
          </p:nvSpPr>
          <p:spPr>
            <a:xfrm>
              <a:off x="8491931" y="4328770"/>
              <a:ext cx="11887" cy="67666"/>
            </a:xfrm>
            <a:custGeom>
              <a:avLst/>
              <a:gdLst/>
              <a:ahLst/>
              <a:cxnLst/>
              <a:rect l="0" t="0" r="r" b="b"/>
              <a:pathLst>
                <a:path w="11887" h="67666" fill="none">
                  <a:moveTo>
                    <a:pt x="0" y="0"/>
                  </a:moveTo>
                  <a:lnTo>
                    <a:pt x="0" y="34747"/>
                  </a:lnTo>
                  <a:lnTo>
                    <a:pt x="11887" y="67666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7" name="Oval 76"/>
            <p:cNvSpPr/>
            <p:nvPr/>
          </p:nvSpPr>
          <p:spPr>
            <a:xfrm>
              <a:off x="8444382" y="4266590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8" name="Phospholipid tail"/>
            <p:cNvSpPr/>
            <p:nvPr/>
          </p:nvSpPr>
          <p:spPr>
            <a:xfrm>
              <a:off x="8459013" y="4418381"/>
              <a:ext cx="11887" cy="67666"/>
            </a:xfrm>
            <a:custGeom>
              <a:avLst/>
              <a:gdLst/>
              <a:ahLst/>
              <a:cxnLst/>
              <a:rect l="0" t="0" r="r" b="b"/>
              <a:pathLst>
                <a:path w="11887" h="67666" fill="none">
                  <a:moveTo>
                    <a:pt x="0" y="67666"/>
                  </a:moveTo>
                  <a:lnTo>
                    <a:pt x="0" y="32918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9" name="Phospholipid tail"/>
            <p:cNvSpPr/>
            <p:nvPr/>
          </p:nvSpPr>
          <p:spPr>
            <a:xfrm>
              <a:off x="8491931" y="4418381"/>
              <a:ext cx="11887" cy="67666"/>
            </a:xfrm>
            <a:custGeom>
              <a:avLst/>
              <a:gdLst/>
              <a:ahLst/>
              <a:cxnLst/>
              <a:rect l="0" t="0" r="r" b="b"/>
              <a:pathLst>
                <a:path w="11887" h="67666" fill="none">
                  <a:moveTo>
                    <a:pt x="0" y="67666"/>
                  </a:moveTo>
                  <a:lnTo>
                    <a:pt x="0" y="32918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0" name="Oval 79"/>
            <p:cNvSpPr/>
            <p:nvPr/>
          </p:nvSpPr>
          <p:spPr>
            <a:xfrm>
              <a:off x="8444382" y="4486046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1" name="Phospholipid tail"/>
            <p:cNvSpPr/>
            <p:nvPr/>
          </p:nvSpPr>
          <p:spPr>
            <a:xfrm>
              <a:off x="8566709" y="4328770"/>
              <a:ext cx="11887" cy="67666"/>
            </a:xfrm>
            <a:custGeom>
              <a:avLst/>
              <a:gdLst/>
              <a:ahLst/>
              <a:cxnLst/>
              <a:rect l="0" t="0" r="r" b="b"/>
              <a:pathLst>
                <a:path w="11887" h="67666" fill="none">
                  <a:moveTo>
                    <a:pt x="0" y="0"/>
                  </a:moveTo>
                  <a:lnTo>
                    <a:pt x="0" y="34747"/>
                  </a:lnTo>
                  <a:lnTo>
                    <a:pt x="11887" y="67666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2" name="Phospholipid tail"/>
            <p:cNvSpPr/>
            <p:nvPr/>
          </p:nvSpPr>
          <p:spPr>
            <a:xfrm>
              <a:off x="8599627" y="4328770"/>
              <a:ext cx="11887" cy="67666"/>
            </a:xfrm>
            <a:custGeom>
              <a:avLst/>
              <a:gdLst/>
              <a:ahLst/>
              <a:cxnLst/>
              <a:rect l="0" t="0" r="r" b="b"/>
              <a:pathLst>
                <a:path w="11887" h="67666" fill="none">
                  <a:moveTo>
                    <a:pt x="0" y="0"/>
                  </a:moveTo>
                  <a:lnTo>
                    <a:pt x="0" y="34747"/>
                  </a:lnTo>
                  <a:lnTo>
                    <a:pt x="11887" y="67666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3" name="Oval 82"/>
            <p:cNvSpPr/>
            <p:nvPr/>
          </p:nvSpPr>
          <p:spPr>
            <a:xfrm>
              <a:off x="8552078" y="4266590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4" name="Phospholipid tail"/>
            <p:cNvSpPr/>
            <p:nvPr/>
          </p:nvSpPr>
          <p:spPr>
            <a:xfrm>
              <a:off x="8566709" y="4418381"/>
              <a:ext cx="11887" cy="67666"/>
            </a:xfrm>
            <a:custGeom>
              <a:avLst/>
              <a:gdLst/>
              <a:ahLst/>
              <a:cxnLst/>
              <a:rect l="0" t="0" r="r" b="b"/>
              <a:pathLst>
                <a:path w="11887" h="67666" fill="none">
                  <a:moveTo>
                    <a:pt x="0" y="67666"/>
                  </a:moveTo>
                  <a:lnTo>
                    <a:pt x="0" y="32918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5" name="Phospholipid tail"/>
            <p:cNvSpPr/>
            <p:nvPr/>
          </p:nvSpPr>
          <p:spPr>
            <a:xfrm>
              <a:off x="8599627" y="4418381"/>
              <a:ext cx="11887" cy="67666"/>
            </a:xfrm>
            <a:custGeom>
              <a:avLst/>
              <a:gdLst/>
              <a:ahLst/>
              <a:cxnLst/>
              <a:rect l="0" t="0" r="r" b="b"/>
              <a:pathLst>
                <a:path w="11887" h="67666" fill="none">
                  <a:moveTo>
                    <a:pt x="0" y="67666"/>
                  </a:moveTo>
                  <a:lnTo>
                    <a:pt x="0" y="32918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6" name="Oval 85"/>
            <p:cNvSpPr/>
            <p:nvPr/>
          </p:nvSpPr>
          <p:spPr>
            <a:xfrm>
              <a:off x="8552078" y="4486046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7" name="Phospholipid tail"/>
            <p:cNvSpPr/>
            <p:nvPr/>
          </p:nvSpPr>
          <p:spPr>
            <a:xfrm>
              <a:off x="8674405" y="4328770"/>
              <a:ext cx="11887" cy="67666"/>
            </a:xfrm>
            <a:custGeom>
              <a:avLst/>
              <a:gdLst/>
              <a:ahLst/>
              <a:cxnLst/>
              <a:rect l="0" t="0" r="r" b="b"/>
              <a:pathLst>
                <a:path w="11887" h="67666" fill="none">
                  <a:moveTo>
                    <a:pt x="0" y="0"/>
                  </a:moveTo>
                  <a:lnTo>
                    <a:pt x="0" y="34747"/>
                  </a:lnTo>
                  <a:lnTo>
                    <a:pt x="11887" y="67666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8" name="Phospholipid tail"/>
            <p:cNvSpPr/>
            <p:nvPr/>
          </p:nvSpPr>
          <p:spPr>
            <a:xfrm>
              <a:off x="8707323" y="4328770"/>
              <a:ext cx="11887" cy="67666"/>
            </a:xfrm>
            <a:custGeom>
              <a:avLst/>
              <a:gdLst/>
              <a:ahLst/>
              <a:cxnLst/>
              <a:rect l="0" t="0" r="r" b="b"/>
              <a:pathLst>
                <a:path w="11887" h="67666" fill="none">
                  <a:moveTo>
                    <a:pt x="0" y="0"/>
                  </a:moveTo>
                  <a:lnTo>
                    <a:pt x="0" y="34747"/>
                  </a:lnTo>
                  <a:lnTo>
                    <a:pt x="11887" y="67666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9" name="Oval 88"/>
            <p:cNvSpPr/>
            <p:nvPr/>
          </p:nvSpPr>
          <p:spPr>
            <a:xfrm>
              <a:off x="8659774" y="4266590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0" name="Phospholipid tail"/>
            <p:cNvSpPr/>
            <p:nvPr/>
          </p:nvSpPr>
          <p:spPr>
            <a:xfrm>
              <a:off x="8674405" y="4418381"/>
              <a:ext cx="11887" cy="67666"/>
            </a:xfrm>
            <a:custGeom>
              <a:avLst/>
              <a:gdLst/>
              <a:ahLst/>
              <a:cxnLst/>
              <a:rect l="0" t="0" r="r" b="b"/>
              <a:pathLst>
                <a:path w="11887" h="67666" fill="none">
                  <a:moveTo>
                    <a:pt x="0" y="67666"/>
                  </a:moveTo>
                  <a:lnTo>
                    <a:pt x="0" y="32918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1" name="Phospholipid tail"/>
            <p:cNvSpPr/>
            <p:nvPr/>
          </p:nvSpPr>
          <p:spPr>
            <a:xfrm>
              <a:off x="8707323" y="4418381"/>
              <a:ext cx="11887" cy="67666"/>
            </a:xfrm>
            <a:custGeom>
              <a:avLst/>
              <a:gdLst/>
              <a:ahLst/>
              <a:cxnLst/>
              <a:rect l="0" t="0" r="r" b="b"/>
              <a:pathLst>
                <a:path w="11887" h="67666" fill="none">
                  <a:moveTo>
                    <a:pt x="0" y="67666"/>
                  </a:moveTo>
                  <a:lnTo>
                    <a:pt x="0" y="32918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2" name="Oval 91"/>
            <p:cNvSpPr/>
            <p:nvPr/>
          </p:nvSpPr>
          <p:spPr>
            <a:xfrm>
              <a:off x="8659774" y="4486046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3" name="Phospholipid tail"/>
            <p:cNvSpPr/>
            <p:nvPr/>
          </p:nvSpPr>
          <p:spPr>
            <a:xfrm>
              <a:off x="8782101" y="4328770"/>
              <a:ext cx="11887" cy="67666"/>
            </a:xfrm>
            <a:custGeom>
              <a:avLst/>
              <a:gdLst/>
              <a:ahLst/>
              <a:cxnLst/>
              <a:rect l="0" t="0" r="r" b="b"/>
              <a:pathLst>
                <a:path w="11887" h="67666" fill="none">
                  <a:moveTo>
                    <a:pt x="0" y="0"/>
                  </a:moveTo>
                  <a:lnTo>
                    <a:pt x="0" y="34747"/>
                  </a:lnTo>
                  <a:lnTo>
                    <a:pt x="11887" y="67666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4" name="Phospholipid tail"/>
            <p:cNvSpPr/>
            <p:nvPr/>
          </p:nvSpPr>
          <p:spPr>
            <a:xfrm>
              <a:off x="8815019" y="4328770"/>
              <a:ext cx="11887" cy="67666"/>
            </a:xfrm>
            <a:custGeom>
              <a:avLst/>
              <a:gdLst/>
              <a:ahLst/>
              <a:cxnLst/>
              <a:rect l="0" t="0" r="r" b="b"/>
              <a:pathLst>
                <a:path w="11887" h="67666" fill="none">
                  <a:moveTo>
                    <a:pt x="0" y="0"/>
                  </a:moveTo>
                  <a:lnTo>
                    <a:pt x="0" y="34747"/>
                  </a:lnTo>
                  <a:lnTo>
                    <a:pt x="11887" y="67666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5" name="Oval 94"/>
            <p:cNvSpPr/>
            <p:nvPr/>
          </p:nvSpPr>
          <p:spPr>
            <a:xfrm>
              <a:off x="8767470" y="4266590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6" name="Phospholipid tail"/>
            <p:cNvSpPr/>
            <p:nvPr/>
          </p:nvSpPr>
          <p:spPr>
            <a:xfrm>
              <a:off x="8782101" y="4418381"/>
              <a:ext cx="11887" cy="67666"/>
            </a:xfrm>
            <a:custGeom>
              <a:avLst/>
              <a:gdLst/>
              <a:ahLst/>
              <a:cxnLst/>
              <a:rect l="0" t="0" r="r" b="b"/>
              <a:pathLst>
                <a:path w="11887" h="67666" fill="none">
                  <a:moveTo>
                    <a:pt x="0" y="67666"/>
                  </a:moveTo>
                  <a:lnTo>
                    <a:pt x="0" y="32918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7" name="Phospholipid tail"/>
            <p:cNvSpPr/>
            <p:nvPr/>
          </p:nvSpPr>
          <p:spPr>
            <a:xfrm>
              <a:off x="8815019" y="4418381"/>
              <a:ext cx="11887" cy="67666"/>
            </a:xfrm>
            <a:custGeom>
              <a:avLst/>
              <a:gdLst/>
              <a:ahLst/>
              <a:cxnLst/>
              <a:rect l="0" t="0" r="r" b="b"/>
              <a:pathLst>
                <a:path w="11887" h="67666" fill="none">
                  <a:moveTo>
                    <a:pt x="0" y="67666"/>
                  </a:moveTo>
                  <a:lnTo>
                    <a:pt x="0" y="32918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8" name="Oval 97"/>
            <p:cNvSpPr/>
            <p:nvPr/>
          </p:nvSpPr>
          <p:spPr>
            <a:xfrm>
              <a:off x="8767470" y="4486046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9" name="Phospholipid tail"/>
            <p:cNvSpPr/>
            <p:nvPr/>
          </p:nvSpPr>
          <p:spPr>
            <a:xfrm>
              <a:off x="8889797" y="4328770"/>
              <a:ext cx="11887" cy="67666"/>
            </a:xfrm>
            <a:custGeom>
              <a:avLst/>
              <a:gdLst/>
              <a:ahLst/>
              <a:cxnLst/>
              <a:rect l="0" t="0" r="r" b="b"/>
              <a:pathLst>
                <a:path w="11887" h="67666" fill="none">
                  <a:moveTo>
                    <a:pt x="0" y="0"/>
                  </a:moveTo>
                  <a:lnTo>
                    <a:pt x="0" y="34747"/>
                  </a:lnTo>
                  <a:lnTo>
                    <a:pt x="11887" y="67666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0" name="Phospholipid tail"/>
            <p:cNvSpPr/>
            <p:nvPr/>
          </p:nvSpPr>
          <p:spPr>
            <a:xfrm>
              <a:off x="8922715" y="4328770"/>
              <a:ext cx="11887" cy="67666"/>
            </a:xfrm>
            <a:custGeom>
              <a:avLst/>
              <a:gdLst/>
              <a:ahLst/>
              <a:cxnLst/>
              <a:rect l="0" t="0" r="r" b="b"/>
              <a:pathLst>
                <a:path w="11887" h="67666" fill="none">
                  <a:moveTo>
                    <a:pt x="0" y="0"/>
                  </a:moveTo>
                  <a:lnTo>
                    <a:pt x="0" y="34747"/>
                  </a:lnTo>
                  <a:lnTo>
                    <a:pt x="11887" y="67666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1" name="Oval 100"/>
            <p:cNvSpPr/>
            <p:nvPr/>
          </p:nvSpPr>
          <p:spPr>
            <a:xfrm>
              <a:off x="8875166" y="4266590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2" name="Phospholipid tail"/>
            <p:cNvSpPr/>
            <p:nvPr/>
          </p:nvSpPr>
          <p:spPr>
            <a:xfrm>
              <a:off x="8889797" y="4418381"/>
              <a:ext cx="11887" cy="67666"/>
            </a:xfrm>
            <a:custGeom>
              <a:avLst/>
              <a:gdLst/>
              <a:ahLst/>
              <a:cxnLst/>
              <a:rect l="0" t="0" r="r" b="b"/>
              <a:pathLst>
                <a:path w="11887" h="67666" fill="none">
                  <a:moveTo>
                    <a:pt x="0" y="67666"/>
                  </a:moveTo>
                  <a:lnTo>
                    <a:pt x="0" y="32918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3" name="Phospholipid tail"/>
            <p:cNvSpPr/>
            <p:nvPr/>
          </p:nvSpPr>
          <p:spPr>
            <a:xfrm>
              <a:off x="8922715" y="4418381"/>
              <a:ext cx="11887" cy="67666"/>
            </a:xfrm>
            <a:custGeom>
              <a:avLst/>
              <a:gdLst/>
              <a:ahLst/>
              <a:cxnLst/>
              <a:rect l="0" t="0" r="r" b="b"/>
              <a:pathLst>
                <a:path w="11887" h="67666" fill="none">
                  <a:moveTo>
                    <a:pt x="0" y="67666"/>
                  </a:moveTo>
                  <a:lnTo>
                    <a:pt x="0" y="32918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4" name="Oval 103"/>
            <p:cNvSpPr/>
            <p:nvPr/>
          </p:nvSpPr>
          <p:spPr>
            <a:xfrm>
              <a:off x="8875166" y="4486046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5" name="Phospholipid tail"/>
            <p:cNvSpPr/>
            <p:nvPr/>
          </p:nvSpPr>
          <p:spPr>
            <a:xfrm>
              <a:off x="9643669" y="4328770"/>
              <a:ext cx="11887" cy="67666"/>
            </a:xfrm>
            <a:custGeom>
              <a:avLst/>
              <a:gdLst/>
              <a:ahLst/>
              <a:cxnLst/>
              <a:rect l="0" t="0" r="r" b="b"/>
              <a:pathLst>
                <a:path w="11887" h="67666" fill="none">
                  <a:moveTo>
                    <a:pt x="0" y="0"/>
                  </a:moveTo>
                  <a:lnTo>
                    <a:pt x="0" y="34747"/>
                  </a:lnTo>
                  <a:lnTo>
                    <a:pt x="11887" y="67666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6" name="Phospholipid tail"/>
            <p:cNvSpPr/>
            <p:nvPr/>
          </p:nvSpPr>
          <p:spPr>
            <a:xfrm>
              <a:off x="9676587" y="4328770"/>
              <a:ext cx="11887" cy="67666"/>
            </a:xfrm>
            <a:custGeom>
              <a:avLst/>
              <a:gdLst/>
              <a:ahLst/>
              <a:cxnLst/>
              <a:rect l="0" t="0" r="r" b="b"/>
              <a:pathLst>
                <a:path w="11887" h="67666" fill="none">
                  <a:moveTo>
                    <a:pt x="0" y="0"/>
                  </a:moveTo>
                  <a:lnTo>
                    <a:pt x="0" y="34747"/>
                  </a:lnTo>
                  <a:lnTo>
                    <a:pt x="11887" y="67666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7" name="Oval 106"/>
            <p:cNvSpPr/>
            <p:nvPr/>
          </p:nvSpPr>
          <p:spPr>
            <a:xfrm>
              <a:off x="9629038" y="4266590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8" name="Phospholipid tail"/>
            <p:cNvSpPr/>
            <p:nvPr/>
          </p:nvSpPr>
          <p:spPr>
            <a:xfrm>
              <a:off x="9643669" y="4418381"/>
              <a:ext cx="11887" cy="67666"/>
            </a:xfrm>
            <a:custGeom>
              <a:avLst/>
              <a:gdLst/>
              <a:ahLst/>
              <a:cxnLst/>
              <a:rect l="0" t="0" r="r" b="b"/>
              <a:pathLst>
                <a:path w="11887" h="67666" fill="none">
                  <a:moveTo>
                    <a:pt x="0" y="67666"/>
                  </a:moveTo>
                  <a:lnTo>
                    <a:pt x="0" y="32918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9" name="Phospholipid tail"/>
            <p:cNvSpPr/>
            <p:nvPr/>
          </p:nvSpPr>
          <p:spPr>
            <a:xfrm>
              <a:off x="9676587" y="4418381"/>
              <a:ext cx="11887" cy="67666"/>
            </a:xfrm>
            <a:custGeom>
              <a:avLst/>
              <a:gdLst/>
              <a:ahLst/>
              <a:cxnLst/>
              <a:rect l="0" t="0" r="r" b="b"/>
              <a:pathLst>
                <a:path w="11887" h="67666" fill="none">
                  <a:moveTo>
                    <a:pt x="0" y="67666"/>
                  </a:moveTo>
                  <a:lnTo>
                    <a:pt x="0" y="32918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0" name="Oval 109"/>
            <p:cNvSpPr/>
            <p:nvPr/>
          </p:nvSpPr>
          <p:spPr>
            <a:xfrm>
              <a:off x="9629038" y="4486046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1" name="Phospholipid tail"/>
            <p:cNvSpPr/>
            <p:nvPr/>
          </p:nvSpPr>
          <p:spPr>
            <a:xfrm>
              <a:off x="9751365" y="4328770"/>
              <a:ext cx="11887" cy="67666"/>
            </a:xfrm>
            <a:custGeom>
              <a:avLst/>
              <a:gdLst/>
              <a:ahLst/>
              <a:cxnLst/>
              <a:rect l="0" t="0" r="r" b="b"/>
              <a:pathLst>
                <a:path w="11887" h="67666" fill="none">
                  <a:moveTo>
                    <a:pt x="0" y="0"/>
                  </a:moveTo>
                  <a:lnTo>
                    <a:pt x="0" y="34747"/>
                  </a:lnTo>
                  <a:lnTo>
                    <a:pt x="11887" y="67666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2" name="Phospholipid tail"/>
            <p:cNvSpPr/>
            <p:nvPr/>
          </p:nvSpPr>
          <p:spPr>
            <a:xfrm>
              <a:off x="9784283" y="4328770"/>
              <a:ext cx="11887" cy="67666"/>
            </a:xfrm>
            <a:custGeom>
              <a:avLst/>
              <a:gdLst/>
              <a:ahLst/>
              <a:cxnLst/>
              <a:rect l="0" t="0" r="r" b="b"/>
              <a:pathLst>
                <a:path w="11887" h="67666" fill="none">
                  <a:moveTo>
                    <a:pt x="0" y="0"/>
                  </a:moveTo>
                  <a:lnTo>
                    <a:pt x="0" y="34747"/>
                  </a:lnTo>
                  <a:lnTo>
                    <a:pt x="11887" y="67666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3" name="Oval 112"/>
            <p:cNvSpPr/>
            <p:nvPr/>
          </p:nvSpPr>
          <p:spPr>
            <a:xfrm>
              <a:off x="9736734" y="4266590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4" name="Phospholipid tail"/>
            <p:cNvSpPr/>
            <p:nvPr/>
          </p:nvSpPr>
          <p:spPr>
            <a:xfrm>
              <a:off x="9751365" y="4418381"/>
              <a:ext cx="11887" cy="67666"/>
            </a:xfrm>
            <a:custGeom>
              <a:avLst/>
              <a:gdLst/>
              <a:ahLst/>
              <a:cxnLst/>
              <a:rect l="0" t="0" r="r" b="b"/>
              <a:pathLst>
                <a:path w="11887" h="67666" fill="none">
                  <a:moveTo>
                    <a:pt x="0" y="67666"/>
                  </a:moveTo>
                  <a:lnTo>
                    <a:pt x="0" y="32918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5" name="Phospholipid tail"/>
            <p:cNvSpPr/>
            <p:nvPr/>
          </p:nvSpPr>
          <p:spPr>
            <a:xfrm>
              <a:off x="9784283" y="4418381"/>
              <a:ext cx="11887" cy="67666"/>
            </a:xfrm>
            <a:custGeom>
              <a:avLst/>
              <a:gdLst/>
              <a:ahLst/>
              <a:cxnLst/>
              <a:rect l="0" t="0" r="r" b="b"/>
              <a:pathLst>
                <a:path w="11887" h="67666" fill="none">
                  <a:moveTo>
                    <a:pt x="0" y="67666"/>
                  </a:moveTo>
                  <a:lnTo>
                    <a:pt x="0" y="32918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6" name="Oval 115"/>
            <p:cNvSpPr/>
            <p:nvPr/>
          </p:nvSpPr>
          <p:spPr>
            <a:xfrm>
              <a:off x="9736734" y="4486046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7" name="Phospholipid tail"/>
            <p:cNvSpPr/>
            <p:nvPr/>
          </p:nvSpPr>
          <p:spPr>
            <a:xfrm>
              <a:off x="9859061" y="4328770"/>
              <a:ext cx="11887" cy="67666"/>
            </a:xfrm>
            <a:custGeom>
              <a:avLst/>
              <a:gdLst/>
              <a:ahLst/>
              <a:cxnLst/>
              <a:rect l="0" t="0" r="r" b="b"/>
              <a:pathLst>
                <a:path w="11887" h="67666" fill="none">
                  <a:moveTo>
                    <a:pt x="0" y="0"/>
                  </a:moveTo>
                  <a:lnTo>
                    <a:pt x="0" y="34747"/>
                  </a:lnTo>
                  <a:lnTo>
                    <a:pt x="11887" y="67666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8" name="Phospholipid tail"/>
            <p:cNvSpPr/>
            <p:nvPr/>
          </p:nvSpPr>
          <p:spPr>
            <a:xfrm>
              <a:off x="9891979" y="4328770"/>
              <a:ext cx="11887" cy="67666"/>
            </a:xfrm>
            <a:custGeom>
              <a:avLst/>
              <a:gdLst/>
              <a:ahLst/>
              <a:cxnLst/>
              <a:rect l="0" t="0" r="r" b="b"/>
              <a:pathLst>
                <a:path w="11887" h="67666" fill="none">
                  <a:moveTo>
                    <a:pt x="0" y="0"/>
                  </a:moveTo>
                  <a:lnTo>
                    <a:pt x="0" y="34747"/>
                  </a:lnTo>
                  <a:lnTo>
                    <a:pt x="11887" y="67666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9" name="Oval 118"/>
            <p:cNvSpPr/>
            <p:nvPr/>
          </p:nvSpPr>
          <p:spPr>
            <a:xfrm>
              <a:off x="9844430" y="4266590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0" name="Phospholipid tail"/>
            <p:cNvSpPr/>
            <p:nvPr/>
          </p:nvSpPr>
          <p:spPr>
            <a:xfrm>
              <a:off x="9859061" y="4418381"/>
              <a:ext cx="11887" cy="67666"/>
            </a:xfrm>
            <a:custGeom>
              <a:avLst/>
              <a:gdLst/>
              <a:ahLst/>
              <a:cxnLst/>
              <a:rect l="0" t="0" r="r" b="b"/>
              <a:pathLst>
                <a:path w="11887" h="67666" fill="none">
                  <a:moveTo>
                    <a:pt x="0" y="67666"/>
                  </a:moveTo>
                  <a:lnTo>
                    <a:pt x="0" y="32918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1" name="Phospholipid tail"/>
            <p:cNvSpPr/>
            <p:nvPr/>
          </p:nvSpPr>
          <p:spPr>
            <a:xfrm>
              <a:off x="9891979" y="4418381"/>
              <a:ext cx="11887" cy="67666"/>
            </a:xfrm>
            <a:custGeom>
              <a:avLst/>
              <a:gdLst/>
              <a:ahLst/>
              <a:cxnLst/>
              <a:rect l="0" t="0" r="r" b="b"/>
              <a:pathLst>
                <a:path w="11887" h="67666" fill="none">
                  <a:moveTo>
                    <a:pt x="0" y="67666"/>
                  </a:moveTo>
                  <a:lnTo>
                    <a:pt x="0" y="32918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2" name="Oval 121"/>
            <p:cNvSpPr/>
            <p:nvPr/>
          </p:nvSpPr>
          <p:spPr>
            <a:xfrm>
              <a:off x="9844430" y="4486046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3" name="Phospholipid tail"/>
            <p:cNvSpPr/>
            <p:nvPr/>
          </p:nvSpPr>
          <p:spPr>
            <a:xfrm>
              <a:off x="9966757" y="4328770"/>
              <a:ext cx="11887" cy="67666"/>
            </a:xfrm>
            <a:custGeom>
              <a:avLst/>
              <a:gdLst/>
              <a:ahLst/>
              <a:cxnLst/>
              <a:rect l="0" t="0" r="r" b="b"/>
              <a:pathLst>
                <a:path w="11887" h="67666" fill="none">
                  <a:moveTo>
                    <a:pt x="0" y="0"/>
                  </a:moveTo>
                  <a:lnTo>
                    <a:pt x="0" y="34747"/>
                  </a:lnTo>
                  <a:lnTo>
                    <a:pt x="11887" y="67666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4" name="Phospholipid tail"/>
            <p:cNvSpPr/>
            <p:nvPr/>
          </p:nvSpPr>
          <p:spPr>
            <a:xfrm>
              <a:off x="9999675" y="4328770"/>
              <a:ext cx="11887" cy="67666"/>
            </a:xfrm>
            <a:custGeom>
              <a:avLst/>
              <a:gdLst/>
              <a:ahLst/>
              <a:cxnLst/>
              <a:rect l="0" t="0" r="r" b="b"/>
              <a:pathLst>
                <a:path w="11887" h="67666" fill="none">
                  <a:moveTo>
                    <a:pt x="0" y="0"/>
                  </a:moveTo>
                  <a:lnTo>
                    <a:pt x="0" y="34747"/>
                  </a:lnTo>
                  <a:lnTo>
                    <a:pt x="11887" y="67666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5" name="Oval 124"/>
            <p:cNvSpPr/>
            <p:nvPr/>
          </p:nvSpPr>
          <p:spPr>
            <a:xfrm>
              <a:off x="9952126" y="4266590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6" name="Phospholipid tail"/>
            <p:cNvSpPr/>
            <p:nvPr/>
          </p:nvSpPr>
          <p:spPr>
            <a:xfrm>
              <a:off x="9966757" y="4418381"/>
              <a:ext cx="11887" cy="67666"/>
            </a:xfrm>
            <a:custGeom>
              <a:avLst/>
              <a:gdLst/>
              <a:ahLst/>
              <a:cxnLst/>
              <a:rect l="0" t="0" r="r" b="b"/>
              <a:pathLst>
                <a:path w="11887" h="67666" fill="none">
                  <a:moveTo>
                    <a:pt x="0" y="67666"/>
                  </a:moveTo>
                  <a:lnTo>
                    <a:pt x="0" y="32918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7" name="Phospholipid tail"/>
            <p:cNvSpPr/>
            <p:nvPr/>
          </p:nvSpPr>
          <p:spPr>
            <a:xfrm>
              <a:off x="9999675" y="4418381"/>
              <a:ext cx="11887" cy="67666"/>
            </a:xfrm>
            <a:custGeom>
              <a:avLst/>
              <a:gdLst/>
              <a:ahLst/>
              <a:cxnLst/>
              <a:rect l="0" t="0" r="r" b="b"/>
              <a:pathLst>
                <a:path w="11887" h="67666" fill="none">
                  <a:moveTo>
                    <a:pt x="0" y="67666"/>
                  </a:moveTo>
                  <a:lnTo>
                    <a:pt x="0" y="32918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8" name="Oval 127"/>
            <p:cNvSpPr/>
            <p:nvPr/>
          </p:nvSpPr>
          <p:spPr>
            <a:xfrm>
              <a:off x="9952126" y="4486046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9" name="Phospholipid tail"/>
            <p:cNvSpPr/>
            <p:nvPr/>
          </p:nvSpPr>
          <p:spPr>
            <a:xfrm>
              <a:off x="10074453" y="4328770"/>
              <a:ext cx="11887" cy="67666"/>
            </a:xfrm>
            <a:custGeom>
              <a:avLst/>
              <a:gdLst/>
              <a:ahLst/>
              <a:cxnLst/>
              <a:rect l="0" t="0" r="r" b="b"/>
              <a:pathLst>
                <a:path w="11887" h="67666" fill="none">
                  <a:moveTo>
                    <a:pt x="0" y="0"/>
                  </a:moveTo>
                  <a:lnTo>
                    <a:pt x="0" y="34747"/>
                  </a:lnTo>
                  <a:lnTo>
                    <a:pt x="11887" y="67666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0" name="Phospholipid tail"/>
            <p:cNvSpPr/>
            <p:nvPr/>
          </p:nvSpPr>
          <p:spPr>
            <a:xfrm>
              <a:off x="10107371" y="4328770"/>
              <a:ext cx="11887" cy="67666"/>
            </a:xfrm>
            <a:custGeom>
              <a:avLst/>
              <a:gdLst/>
              <a:ahLst/>
              <a:cxnLst/>
              <a:rect l="0" t="0" r="r" b="b"/>
              <a:pathLst>
                <a:path w="11887" h="67666" fill="none">
                  <a:moveTo>
                    <a:pt x="0" y="0"/>
                  </a:moveTo>
                  <a:lnTo>
                    <a:pt x="0" y="34747"/>
                  </a:lnTo>
                  <a:lnTo>
                    <a:pt x="11887" y="67666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1" name="Oval 130"/>
            <p:cNvSpPr/>
            <p:nvPr/>
          </p:nvSpPr>
          <p:spPr>
            <a:xfrm>
              <a:off x="10059822" y="4266590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2" name="Phospholipid tail"/>
            <p:cNvSpPr/>
            <p:nvPr/>
          </p:nvSpPr>
          <p:spPr>
            <a:xfrm>
              <a:off x="10074453" y="4418381"/>
              <a:ext cx="11887" cy="67666"/>
            </a:xfrm>
            <a:custGeom>
              <a:avLst/>
              <a:gdLst/>
              <a:ahLst/>
              <a:cxnLst/>
              <a:rect l="0" t="0" r="r" b="b"/>
              <a:pathLst>
                <a:path w="11887" h="67666" fill="none">
                  <a:moveTo>
                    <a:pt x="0" y="67666"/>
                  </a:moveTo>
                  <a:lnTo>
                    <a:pt x="0" y="32918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3" name="Phospholipid tail"/>
            <p:cNvSpPr/>
            <p:nvPr/>
          </p:nvSpPr>
          <p:spPr>
            <a:xfrm>
              <a:off x="10107371" y="4418381"/>
              <a:ext cx="11887" cy="67666"/>
            </a:xfrm>
            <a:custGeom>
              <a:avLst/>
              <a:gdLst/>
              <a:ahLst/>
              <a:cxnLst/>
              <a:rect l="0" t="0" r="r" b="b"/>
              <a:pathLst>
                <a:path w="11887" h="67666" fill="none">
                  <a:moveTo>
                    <a:pt x="0" y="67666"/>
                  </a:moveTo>
                  <a:lnTo>
                    <a:pt x="0" y="32918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4" name="Oval 133"/>
            <p:cNvSpPr/>
            <p:nvPr/>
          </p:nvSpPr>
          <p:spPr>
            <a:xfrm>
              <a:off x="10059822" y="4486046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5" name="Phospholipid tail"/>
            <p:cNvSpPr/>
            <p:nvPr/>
          </p:nvSpPr>
          <p:spPr>
            <a:xfrm>
              <a:off x="10182149" y="4328770"/>
              <a:ext cx="11887" cy="67666"/>
            </a:xfrm>
            <a:custGeom>
              <a:avLst/>
              <a:gdLst/>
              <a:ahLst/>
              <a:cxnLst/>
              <a:rect l="0" t="0" r="r" b="b"/>
              <a:pathLst>
                <a:path w="11887" h="67666" fill="none">
                  <a:moveTo>
                    <a:pt x="0" y="0"/>
                  </a:moveTo>
                  <a:lnTo>
                    <a:pt x="0" y="34747"/>
                  </a:lnTo>
                  <a:lnTo>
                    <a:pt x="11887" y="67666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6" name="Phospholipid tail"/>
            <p:cNvSpPr/>
            <p:nvPr/>
          </p:nvSpPr>
          <p:spPr>
            <a:xfrm>
              <a:off x="10215067" y="4328770"/>
              <a:ext cx="11887" cy="67666"/>
            </a:xfrm>
            <a:custGeom>
              <a:avLst/>
              <a:gdLst/>
              <a:ahLst/>
              <a:cxnLst/>
              <a:rect l="0" t="0" r="r" b="b"/>
              <a:pathLst>
                <a:path w="11887" h="67666" fill="none">
                  <a:moveTo>
                    <a:pt x="0" y="0"/>
                  </a:moveTo>
                  <a:lnTo>
                    <a:pt x="0" y="34747"/>
                  </a:lnTo>
                  <a:lnTo>
                    <a:pt x="11887" y="67666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7" name="Oval 136"/>
            <p:cNvSpPr/>
            <p:nvPr/>
          </p:nvSpPr>
          <p:spPr>
            <a:xfrm>
              <a:off x="10167518" y="4266590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8" name="Phospholipid tail"/>
            <p:cNvSpPr/>
            <p:nvPr/>
          </p:nvSpPr>
          <p:spPr>
            <a:xfrm>
              <a:off x="10182149" y="4418381"/>
              <a:ext cx="11887" cy="67666"/>
            </a:xfrm>
            <a:custGeom>
              <a:avLst/>
              <a:gdLst/>
              <a:ahLst/>
              <a:cxnLst/>
              <a:rect l="0" t="0" r="r" b="b"/>
              <a:pathLst>
                <a:path w="11887" h="67666" fill="none">
                  <a:moveTo>
                    <a:pt x="0" y="67666"/>
                  </a:moveTo>
                  <a:lnTo>
                    <a:pt x="0" y="32918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9" name="Phospholipid tail"/>
            <p:cNvSpPr/>
            <p:nvPr/>
          </p:nvSpPr>
          <p:spPr>
            <a:xfrm>
              <a:off x="10215067" y="4418381"/>
              <a:ext cx="11887" cy="67666"/>
            </a:xfrm>
            <a:custGeom>
              <a:avLst/>
              <a:gdLst/>
              <a:ahLst/>
              <a:cxnLst/>
              <a:rect l="0" t="0" r="r" b="b"/>
              <a:pathLst>
                <a:path w="11887" h="67666" fill="none">
                  <a:moveTo>
                    <a:pt x="0" y="67666"/>
                  </a:moveTo>
                  <a:lnTo>
                    <a:pt x="0" y="32918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0" name="Oval 139"/>
            <p:cNvSpPr/>
            <p:nvPr/>
          </p:nvSpPr>
          <p:spPr>
            <a:xfrm>
              <a:off x="10167518" y="4486046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1" name="Phospholipid tail"/>
            <p:cNvSpPr/>
            <p:nvPr/>
          </p:nvSpPr>
          <p:spPr>
            <a:xfrm>
              <a:off x="10289845" y="4328770"/>
              <a:ext cx="11887" cy="67666"/>
            </a:xfrm>
            <a:custGeom>
              <a:avLst/>
              <a:gdLst/>
              <a:ahLst/>
              <a:cxnLst/>
              <a:rect l="0" t="0" r="r" b="b"/>
              <a:pathLst>
                <a:path w="11887" h="67666" fill="none">
                  <a:moveTo>
                    <a:pt x="0" y="0"/>
                  </a:moveTo>
                  <a:lnTo>
                    <a:pt x="0" y="34747"/>
                  </a:lnTo>
                  <a:lnTo>
                    <a:pt x="11887" y="67666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2" name="Phospholipid tail"/>
            <p:cNvSpPr/>
            <p:nvPr/>
          </p:nvSpPr>
          <p:spPr>
            <a:xfrm>
              <a:off x="10322763" y="4328770"/>
              <a:ext cx="11887" cy="67666"/>
            </a:xfrm>
            <a:custGeom>
              <a:avLst/>
              <a:gdLst/>
              <a:ahLst/>
              <a:cxnLst/>
              <a:rect l="0" t="0" r="r" b="b"/>
              <a:pathLst>
                <a:path w="11887" h="67666" fill="none">
                  <a:moveTo>
                    <a:pt x="0" y="0"/>
                  </a:moveTo>
                  <a:lnTo>
                    <a:pt x="0" y="34747"/>
                  </a:lnTo>
                  <a:lnTo>
                    <a:pt x="11887" y="67666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3" name="Oval 142"/>
            <p:cNvSpPr/>
            <p:nvPr/>
          </p:nvSpPr>
          <p:spPr>
            <a:xfrm>
              <a:off x="10275214" y="4266590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4" name="Phospholipid tail"/>
            <p:cNvSpPr/>
            <p:nvPr/>
          </p:nvSpPr>
          <p:spPr>
            <a:xfrm>
              <a:off x="10289845" y="4418381"/>
              <a:ext cx="11887" cy="67666"/>
            </a:xfrm>
            <a:custGeom>
              <a:avLst/>
              <a:gdLst/>
              <a:ahLst/>
              <a:cxnLst/>
              <a:rect l="0" t="0" r="r" b="b"/>
              <a:pathLst>
                <a:path w="11887" h="67666" fill="none">
                  <a:moveTo>
                    <a:pt x="0" y="67666"/>
                  </a:moveTo>
                  <a:lnTo>
                    <a:pt x="0" y="32918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5" name="Phospholipid tail"/>
            <p:cNvSpPr/>
            <p:nvPr/>
          </p:nvSpPr>
          <p:spPr>
            <a:xfrm>
              <a:off x="10322763" y="4418381"/>
              <a:ext cx="11887" cy="67666"/>
            </a:xfrm>
            <a:custGeom>
              <a:avLst/>
              <a:gdLst/>
              <a:ahLst/>
              <a:cxnLst/>
              <a:rect l="0" t="0" r="r" b="b"/>
              <a:pathLst>
                <a:path w="11887" h="67666" fill="none">
                  <a:moveTo>
                    <a:pt x="0" y="67666"/>
                  </a:moveTo>
                  <a:lnTo>
                    <a:pt x="0" y="32918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6" name="Oval 145"/>
            <p:cNvSpPr/>
            <p:nvPr/>
          </p:nvSpPr>
          <p:spPr>
            <a:xfrm>
              <a:off x="10275214" y="4486046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7" name="Phospholipid tail"/>
            <p:cNvSpPr/>
            <p:nvPr/>
          </p:nvSpPr>
          <p:spPr>
            <a:xfrm>
              <a:off x="10397541" y="4328770"/>
              <a:ext cx="11887" cy="67666"/>
            </a:xfrm>
            <a:custGeom>
              <a:avLst/>
              <a:gdLst/>
              <a:ahLst/>
              <a:cxnLst/>
              <a:rect l="0" t="0" r="r" b="b"/>
              <a:pathLst>
                <a:path w="11887" h="67666" fill="none">
                  <a:moveTo>
                    <a:pt x="0" y="0"/>
                  </a:moveTo>
                  <a:lnTo>
                    <a:pt x="0" y="34747"/>
                  </a:lnTo>
                  <a:lnTo>
                    <a:pt x="11887" y="67666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8" name="Phospholipid tail"/>
            <p:cNvSpPr/>
            <p:nvPr/>
          </p:nvSpPr>
          <p:spPr>
            <a:xfrm>
              <a:off x="10430459" y="4328770"/>
              <a:ext cx="11887" cy="67666"/>
            </a:xfrm>
            <a:custGeom>
              <a:avLst/>
              <a:gdLst/>
              <a:ahLst/>
              <a:cxnLst/>
              <a:rect l="0" t="0" r="r" b="b"/>
              <a:pathLst>
                <a:path w="11887" h="67666" fill="none">
                  <a:moveTo>
                    <a:pt x="0" y="0"/>
                  </a:moveTo>
                  <a:lnTo>
                    <a:pt x="0" y="34747"/>
                  </a:lnTo>
                  <a:lnTo>
                    <a:pt x="11887" y="67666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9" name="Oval 148"/>
            <p:cNvSpPr/>
            <p:nvPr/>
          </p:nvSpPr>
          <p:spPr>
            <a:xfrm>
              <a:off x="10382910" y="4266590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0" name="Phospholipid tail"/>
            <p:cNvSpPr/>
            <p:nvPr/>
          </p:nvSpPr>
          <p:spPr>
            <a:xfrm>
              <a:off x="10397541" y="4418381"/>
              <a:ext cx="11887" cy="67666"/>
            </a:xfrm>
            <a:custGeom>
              <a:avLst/>
              <a:gdLst/>
              <a:ahLst/>
              <a:cxnLst/>
              <a:rect l="0" t="0" r="r" b="b"/>
              <a:pathLst>
                <a:path w="11887" h="67666" fill="none">
                  <a:moveTo>
                    <a:pt x="0" y="67666"/>
                  </a:moveTo>
                  <a:lnTo>
                    <a:pt x="0" y="32918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1" name="Phospholipid tail"/>
            <p:cNvSpPr/>
            <p:nvPr/>
          </p:nvSpPr>
          <p:spPr>
            <a:xfrm>
              <a:off x="10430459" y="4418381"/>
              <a:ext cx="11887" cy="67666"/>
            </a:xfrm>
            <a:custGeom>
              <a:avLst/>
              <a:gdLst/>
              <a:ahLst/>
              <a:cxnLst/>
              <a:rect l="0" t="0" r="r" b="b"/>
              <a:pathLst>
                <a:path w="11887" h="67666" fill="none">
                  <a:moveTo>
                    <a:pt x="0" y="67666"/>
                  </a:moveTo>
                  <a:lnTo>
                    <a:pt x="0" y="32918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2" name="Oval 151"/>
            <p:cNvSpPr/>
            <p:nvPr/>
          </p:nvSpPr>
          <p:spPr>
            <a:xfrm>
              <a:off x="10382910" y="4486046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3" name="Phospholipid tail"/>
            <p:cNvSpPr/>
            <p:nvPr/>
          </p:nvSpPr>
          <p:spPr>
            <a:xfrm>
              <a:off x="10505237" y="4328770"/>
              <a:ext cx="11887" cy="67666"/>
            </a:xfrm>
            <a:custGeom>
              <a:avLst/>
              <a:gdLst/>
              <a:ahLst/>
              <a:cxnLst/>
              <a:rect l="0" t="0" r="r" b="b"/>
              <a:pathLst>
                <a:path w="11887" h="67666" fill="none">
                  <a:moveTo>
                    <a:pt x="0" y="0"/>
                  </a:moveTo>
                  <a:lnTo>
                    <a:pt x="0" y="34747"/>
                  </a:lnTo>
                  <a:lnTo>
                    <a:pt x="11887" y="67666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4" name="Phospholipid tail"/>
            <p:cNvSpPr/>
            <p:nvPr/>
          </p:nvSpPr>
          <p:spPr>
            <a:xfrm>
              <a:off x="10538155" y="4328770"/>
              <a:ext cx="11887" cy="67666"/>
            </a:xfrm>
            <a:custGeom>
              <a:avLst/>
              <a:gdLst/>
              <a:ahLst/>
              <a:cxnLst/>
              <a:rect l="0" t="0" r="r" b="b"/>
              <a:pathLst>
                <a:path w="11887" h="67666" fill="none">
                  <a:moveTo>
                    <a:pt x="0" y="0"/>
                  </a:moveTo>
                  <a:lnTo>
                    <a:pt x="0" y="34747"/>
                  </a:lnTo>
                  <a:lnTo>
                    <a:pt x="11887" y="67666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5" name="Oval 154"/>
            <p:cNvSpPr/>
            <p:nvPr/>
          </p:nvSpPr>
          <p:spPr>
            <a:xfrm>
              <a:off x="10490606" y="4266590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6" name="Phospholipid tail"/>
            <p:cNvSpPr/>
            <p:nvPr/>
          </p:nvSpPr>
          <p:spPr>
            <a:xfrm>
              <a:off x="10505237" y="4418381"/>
              <a:ext cx="11887" cy="67666"/>
            </a:xfrm>
            <a:custGeom>
              <a:avLst/>
              <a:gdLst/>
              <a:ahLst/>
              <a:cxnLst/>
              <a:rect l="0" t="0" r="r" b="b"/>
              <a:pathLst>
                <a:path w="11887" h="67666" fill="none">
                  <a:moveTo>
                    <a:pt x="0" y="67666"/>
                  </a:moveTo>
                  <a:lnTo>
                    <a:pt x="0" y="32918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7" name="Phospholipid tail"/>
            <p:cNvSpPr/>
            <p:nvPr/>
          </p:nvSpPr>
          <p:spPr>
            <a:xfrm>
              <a:off x="10538155" y="4418381"/>
              <a:ext cx="11887" cy="67666"/>
            </a:xfrm>
            <a:custGeom>
              <a:avLst/>
              <a:gdLst/>
              <a:ahLst/>
              <a:cxnLst/>
              <a:rect l="0" t="0" r="r" b="b"/>
              <a:pathLst>
                <a:path w="11887" h="67666" fill="none">
                  <a:moveTo>
                    <a:pt x="0" y="67666"/>
                  </a:moveTo>
                  <a:lnTo>
                    <a:pt x="0" y="32918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8" name="Oval 157"/>
            <p:cNvSpPr/>
            <p:nvPr/>
          </p:nvSpPr>
          <p:spPr>
            <a:xfrm>
              <a:off x="10490606" y="4486046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9" name="Phospholipid tail"/>
            <p:cNvSpPr/>
            <p:nvPr/>
          </p:nvSpPr>
          <p:spPr>
            <a:xfrm>
              <a:off x="10612933" y="4328770"/>
              <a:ext cx="11887" cy="67666"/>
            </a:xfrm>
            <a:custGeom>
              <a:avLst/>
              <a:gdLst/>
              <a:ahLst/>
              <a:cxnLst/>
              <a:rect l="0" t="0" r="r" b="b"/>
              <a:pathLst>
                <a:path w="11887" h="67666" fill="none">
                  <a:moveTo>
                    <a:pt x="0" y="0"/>
                  </a:moveTo>
                  <a:lnTo>
                    <a:pt x="0" y="34747"/>
                  </a:lnTo>
                  <a:lnTo>
                    <a:pt x="11887" y="67666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0" name="Phospholipid tail"/>
            <p:cNvSpPr/>
            <p:nvPr/>
          </p:nvSpPr>
          <p:spPr>
            <a:xfrm>
              <a:off x="10645851" y="4328770"/>
              <a:ext cx="11887" cy="67666"/>
            </a:xfrm>
            <a:custGeom>
              <a:avLst/>
              <a:gdLst/>
              <a:ahLst/>
              <a:cxnLst/>
              <a:rect l="0" t="0" r="r" b="b"/>
              <a:pathLst>
                <a:path w="11887" h="67666" fill="none">
                  <a:moveTo>
                    <a:pt x="0" y="0"/>
                  </a:moveTo>
                  <a:lnTo>
                    <a:pt x="0" y="34747"/>
                  </a:lnTo>
                  <a:lnTo>
                    <a:pt x="11887" y="67666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1" name="Oval 160"/>
            <p:cNvSpPr/>
            <p:nvPr/>
          </p:nvSpPr>
          <p:spPr>
            <a:xfrm>
              <a:off x="10598302" y="4266590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2" name="Phospholipid tail"/>
            <p:cNvSpPr/>
            <p:nvPr/>
          </p:nvSpPr>
          <p:spPr>
            <a:xfrm>
              <a:off x="10612933" y="4418381"/>
              <a:ext cx="11887" cy="67666"/>
            </a:xfrm>
            <a:custGeom>
              <a:avLst/>
              <a:gdLst/>
              <a:ahLst/>
              <a:cxnLst/>
              <a:rect l="0" t="0" r="r" b="b"/>
              <a:pathLst>
                <a:path w="11887" h="67666" fill="none">
                  <a:moveTo>
                    <a:pt x="0" y="67666"/>
                  </a:moveTo>
                  <a:lnTo>
                    <a:pt x="0" y="32918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3" name="Phospholipid tail"/>
            <p:cNvSpPr/>
            <p:nvPr/>
          </p:nvSpPr>
          <p:spPr>
            <a:xfrm>
              <a:off x="10645851" y="4418381"/>
              <a:ext cx="11887" cy="67666"/>
            </a:xfrm>
            <a:custGeom>
              <a:avLst/>
              <a:gdLst/>
              <a:ahLst/>
              <a:cxnLst/>
              <a:rect l="0" t="0" r="r" b="b"/>
              <a:pathLst>
                <a:path w="11887" h="67666" fill="none">
                  <a:moveTo>
                    <a:pt x="0" y="67666"/>
                  </a:moveTo>
                  <a:lnTo>
                    <a:pt x="0" y="32918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4" name="Oval 163"/>
            <p:cNvSpPr/>
            <p:nvPr/>
          </p:nvSpPr>
          <p:spPr>
            <a:xfrm>
              <a:off x="10598302" y="4486046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5" name="Phospholipid tail"/>
            <p:cNvSpPr/>
            <p:nvPr/>
          </p:nvSpPr>
          <p:spPr>
            <a:xfrm>
              <a:off x="10720629" y="4328770"/>
              <a:ext cx="11887" cy="67666"/>
            </a:xfrm>
            <a:custGeom>
              <a:avLst/>
              <a:gdLst/>
              <a:ahLst/>
              <a:cxnLst/>
              <a:rect l="0" t="0" r="r" b="b"/>
              <a:pathLst>
                <a:path w="11887" h="67666" fill="none">
                  <a:moveTo>
                    <a:pt x="0" y="0"/>
                  </a:moveTo>
                  <a:lnTo>
                    <a:pt x="0" y="34747"/>
                  </a:lnTo>
                  <a:lnTo>
                    <a:pt x="11887" y="67666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6" name="Phospholipid tail"/>
            <p:cNvSpPr/>
            <p:nvPr/>
          </p:nvSpPr>
          <p:spPr>
            <a:xfrm>
              <a:off x="10753547" y="4328770"/>
              <a:ext cx="11887" cy="67666"/>
            </a:xfrm>
            <a:custGeom>
              <a:avLst/>
              <a:gdLst/>
              <a:ahLst/>
              <a:cxnLst/>
              <a:rect l="0" t="0" r="r" b="b"/>
              <a:pathLst>
                <a:path w="11887" h="67666" fill="none">
                  <a:moveTo>
                    <a:pt x="0" y="0"/>
                  </a:moveTo>
                  <a:lnTo>
                    <a:pt x="0" y="34747"/>
                  </a:lnTo>
                  <a:lnTo>
                    <a:pt x="11887" y="67666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7" name="Oval 166"/>
            <p:cNvSpPr/>
            <p:nvPr/>
          </p:nvSpPr>
          <p:spPr>
            <a:xfrm>
              <a:off x="10705998" y="4266590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8" name="Phospholipid tail"/>
            <p:cNvSpPr/>
            <p:nvPr/>
          </p:nvSpPr>
          <p:spPr>
            <a:xfrm>
              <a:off x="10720629" y="4418381"/>
              <a:ext cx="11887" cy="67666"/>
            </a:xfrm>
            <a:custGeom>
              <a:avLst/>
              <a:gdLst/>
              <a:ahLst/>
              <a:cxnLst/>
              <a:rect l="0" t="0" r="r" b="b"/>
              <a:pathLst>
                <a:path w="11887" h="67666" fill="none">
                  <a:moveTo>
                    <a:pt x="0" y="67666"/>
                  </a:moveTo>
                  <a:lnTo>
                    <a:pt x="0" y="32918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9" name="Phospholipid tail"/>
            <p:cNvSpPr/>
            <p:nvPr/>
          </p:nvSpPr>
          <p:spPr>
            <a:xfrm>
              <a:off x="10753547" y="4418381"/>
              <a:ext cx="11887" cy="67666"/>
            </a:xfrm>
            <a:custGeom>
              <a:avLst/>
              <a:gdLst/>
              <a:ahLst/>
              <a:cxnLst/>
              <a:rect l="0" t="0" r="r" b="b"/>
              <a:pathLst>
                <a:path w="11887" h="67666" fill="none">
                  <a:moveTo>
                    <a:pt x="0" y="67666"/>
                  </a:moveTo>
                  <a:lnTo>
                    <a:pt x="0" y="32918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0" name="Oval 169"/>
            <p:cNvSpPr/>
            <p:nvPr/>
          </p:nvSpPr>
          <p:spPr>
            <a:xfrm>
              <a:off x="10705998" y="4486046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1" name="Phospholipid tail"/>
            <p:cNvSpPr/>
            <p:nvPr/>
          </p:nvSpPr>
          <p:spPr>
            <a:xfrm>
              <a:off x="10828325" y="4328770"/>
              <a:ext cx="11887" cy="67666"/>
            </a:xfrm>
            <a:custGeom>
              <a:avLst/>
              <a:gdLst/>
              <a:ahLst/>
              <a:cxnLst/>
              <a:rect l="0" t="0" r="r" b="b"/>
              <a:pathLst>
                <a:path w="11887" h="67666" fill="none">
                  <a:moveTo>
                    <a:pt x="0" y="0"/>
                  </a:moveTo>
                  <a:lnTo>
                    <a:pt x="0" y="34747"/>
                  </a:lnTo>
                  <a:lnTo>
                    <a:pt x="11887" y="67666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2" name="Phospholipid tail"/>
            <p:cNvSpPr/>
            <p:nvPr/>
          </p:nvSpPr>
          <p:spPr>
            <a:xfrm>
              <a:off x="10861243" y="4328770"/>
              <a:ext cx="11887" cy="67666"/>
            </a:xfrm>
            <a:custGeom>
              <a:avLst/>
              <a:gdLst/>
              <a:ahLst/>
              <a:cxnLst/>
              <a:rect l="0" t="0" r="r" b="b"/>
              <a:pathLst>
                <a:path w="11887" h="67666" fill="none">
                  <a:moveTo>
                    <a:pt x="0" y="0"/>
                  </a:moveTo>
                  <a:lnTo>
                    <a:pt x="0" y="34747"/>
                  </a:lnTo>
                  <a:lnTo>
                    <a:pt x="11887" y="67666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3" name="Oval 172"/>
            <p:cNvSpPr/>
            <p:nvPr/>
          </p:nvSpPr>
          <p:spPr>
            <a:xfrm>
              <a:off x="10813694" y="4266590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4" name="Phospholipid tail"/>
            <p:cNvSpPr/>
            <p:nvPr/>
          </p:nvSpPr>
          <p:spPr>
            <a:xfrm>
              <a:off x="10828325" y="4418381"/>
              <a:ext cx="11887" cy="67666"/>
            </a:xfrm>
            <a:custGeom>
              <a:avLst/>
              <a:gdLst/>
              <a:ahLst/>
              <a:cxnLst/>
              <a:rect l="0" t="0" r="r" b="b"/>
              <a:pathLst>
                <a:path w="11887" h="67666" fill="none">
                  <a:moveTo>
                    <a:pt x="0" y="67666"/>
                  </a:moveTo>
                  <a:lnTo>
                    <a:pt x="0" y="32918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5" name="Phospholipid tail"/>
            <p:cNvSpPr/>
            <p:nvPr/>
          </p:nvSpPr>
          <p:spPr>
            <a:xfrm>
              <a:off x="10861243" y="4418381"/>
              <a:ext cx="11887" cy="67666"/>
            </a:xfrm>
            <a:custGeom>
              <a:avLst/>
              <a:gdLst/>
              <a:ahLst/>
              <a:cxnLst/>
              <a:rect l="0" t="0" r="r" b="b"/>
              <a:pathLst>
                <a:path w="11887" h="67666" fill="none">
                  <a:moveTo>
                    <a:pt x="0" y="67666"/>
                  </a:moveTo>
                  <a:lnTo>
                    <a:pt x="0" y="32918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6" name="Oval 175"/>
            <p:cNvSpPr/>
            <p:nvPr/>
          </p:nvSpPr>
          <p:spPr>
            <a:xfrm>
              <a:off x="10813694" y="4486046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7" name="Rounded Rectangle 176"/>
            <p:cNvSpPr/>
            <p:nvPr/>
          </p:nvSpPr>
          <p:spPr>
            <a:xfrm>
              <a:off x="8961120" y="4187952"/>
              <a:ext cx="630936" cy="448056"/>
            </a:xfrm>
            <a:prstGeom prst="roundRect">
              <a:avLst/>
            </a:prstGeom>
            <a:solidFill>
              <a:srgbClr val="EDF4FA"/>
            </a:solidFill>
            <a:ln w="14604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8" name="CYTBD"/>
            <p:cNvSpPr txBox="1"/>
            <p:nvPr/>
          </p:nvSpPr>
          <p:spPr>
            <a:xfrm>
              <a:off x="8869680" y="4297680"/>
              <a:ext cx="813816" cy="26517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 b="1" i="1">
                  <a:solidFill>
                    <a:srgbClr val="4C78A8"/>
                  </a:solidFill>
                  <a:latin typeface="Liberation Sans"/>
                </a:rPr>
                <a:t>CYTBD</a:t>
              </a:r>
            </a:p>
          </p:txBody>
        </p:sp>
        <p:sp>
          <p:nvSpPr>
            <p:cNvPr id="179" name="c"/>
            <p:cNvSpPr txBox="1"/>
            <p:nvPr/>
          </p:nvSpPr>
          <p:spPr>
            <a:xfrm>
              <a:off x="7452360" y="4187952"/>
              <a:ext cx="429768" cy="24688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 b="0" i="0">
                  <a:solidFill>
                    <a:srgbClr val="68727D"/>
                  </a:solidFill>
                  <a:latin typeface="Liberation Sans"/>
                </a:rPr>
                <a:t>c</a:t>
              </a:r>
            </a:p>
          </p:txBody>
        </p:sp>
        <p:sp>
          <p:nvSpPr>
            <p:cNvPr id="180" name="e"/>
            <p:cNvSpPr txBox="1"/>
            <p:nvPr/>
          </p:nvSpPr>
          <p:spPr>
            <a:xfrm>
              <a:off x="7452360" y="4535424"/>
              <a:ext cx="429768" cy="24688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 b="0" i="0">
                  <a:solidFill>
                    <a:srgbClr val="68727D"/>
                  </a:solidFill>
                  <a:latin typeface="Liberation Sans"/>
                </a:rPr>
                <a:t>e</a:t>
              </a:r>
            </a:p>
          </p:txBody>
        </p:sp>
        <p:grpSp>
          <p:nvGrpSpPr>
            <p:cNvPr id="181" name="½ O₂ + 2 H⁺(c) → H₂O + 2 H⁺(e)"/>
            <p:cNvGrpSpPr/>
            <p:nvPr/>
          </p:nvGrpSpPr>
          <p:grpSpPr>
            <a:xfrm>
              <a:off x="8347040" y="4628007"/>
              <a:ext cx="2480888" cy="267462"/>
              <a:chOff x="8347040" y="4628007"/>
              <a:chExt cx="2480888" cy="267462"/>
            </a:xfrm>
          </p:grpSpPr>
          <p:sp>
            <p:nvSpPr>
              <p:cNvPr id="182" name="Chemical text: ½ O"/>
              <p:cNvSpPr txBox="1"/>
              <p:nvPr/>
            </p:nvSpPr>
            <p:spPr>
              <a:xfrm>
                <a:off x="8347040" y="4662297"/>
                <a:ext cx="342267" cy="185166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350" b="0" i="0">
                    <a:solidFill>
                      <a:srgbClr val="68727D"/>
                    </a:solidFill>
                    <a:latin typeface="Liberation Sans"/>
                  </a:rPr>
                  <a:t>½ O</a:t>
                </a:r>
              </a:p>
            </p:txBody>
          </p:sp>
          <p:sp>
            <p:nvSpPr>
              <p:cNvPr id="183" name="Chemical text: 2"/>
              <p:cNvSpPr txBox="1"/>
              <p:nvPr/>
            </p:nvSpPr>
            <p:spPr>
              <a:xfrm>
                <a:off x="8671019" y="4710303"/>
                <a:ext cx="86799" cy="185166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971" b="0" i="0">
                    <a:solidFill>
                      <a:srgbClr val="68727D"/>
                    </a:solidFill>
                    <a:latin typeface="Liberation Sans"/>
                  </a:rPr>
                  <a:t>2</a:t>
                </a:r>
              </a:p>
            </p:txBody>
          </p:sp>
          <p:sp>
            <p:nvSpPr>
              <p:cNvPr id="184" name="Chemical text:  + 2 H"/>
              <p:cNvSpPr txBox="1"/>
              <p:nvPr/>
            </p:nvSpPr>
            <p:spPr>
              <a:xfrm>
                <a:off x="8739530" y="4662297"/>
                <a:ext cx="480479" cy="185166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350" b="0" i="0">
                    <a:solidFill>
                      <a:srgbClr val="68727D"/>
                    </a:solidFill>
                    <a:latin typeface="Liberation Sans"/>
                  </a:rPr>
                  <a:t> + 2 H</a:t>
                </a:r>
              </a:p>
            </p:txBody>
          </p:sp>
          <p:sp>
            <p:nvSpPr>
              <p:cNvPr id="185" name="Chemical text: +"/>
              <p:cNvSpPr txBox="1"/>
              <p:nvPr/>
            </p:nvSpPr>
            <p:spPr>
              <a:xfrm>
                <a:off x="9201721" y="4628007"/>
                <a:ext cx="90232" cy="185166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971" b="0" i="0">
                    <a:solidFill>
                      <a:srgbClr val="68727D"/>
                    </a:solidFill>
                    <a:latin typeface="Liberation Sans"/>
                  </a:rPr>
                  <a:t>+</a:t>
                </a:r>
              </a:p>
            </p:txBody>
          </p:sp>
          <p:sp>
            <p:nvSpPr>
              <p:cNvPr id="186" name="Chemical text: (c) → H"/>
              <p:cNvSpPr txBox="1"/>
              <p:nvPr/>
            </p:nvSpPr>
            <p:spPr>
              <a:xfrm>
                <a:off x="9273664" y="4662297"/>
                <a:ext cx="608729" cy="185166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350" b="0" i="0">
                    <a:solidFill>
                      <a:srgbClr val="68727D"/>
                    </a:solidFill>
                    <a:latin typeface="Liberation Sans"/>
                  </a:rPr>
                  <a:t>(c) → H</a:t>
                </a:r>
              </a:p>
            </p:txBody>
          </p:sp>
          <p:sp>
            <p:nvSpPr>
              <p:cNvPr id="187" name="Chemical text: 2"/>
              <p:cNvSpPr txBox="1"/>
              <p:nvPr/>
            </p:nvSpPr>
            <p:spPr>
              <a:xfrm>
                <a:off x="9864105" y="4710303"/>
                <a:ext cx="86799" cy="185166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971" b="0" i="0">
                    <a:solidFill>
                      <a:srgbClr val="68727D"/>
                    </a:solidFill>
                    <a:latin typeface="Liberation Sans"/>
                  </a:rPr>
                  <a:t>2</a:t>
                </a:r>
              </a:p>
            </p:txBody>
          </p:sp>
          <p:sp>
            <p:nvSpPr>
              <p:cNvPr id="188" name="Chemical text: O + 2 H"/>
              <p:cNvSpPr txBox="1"/>
              <p:nvPr/>
            </p:nvSpPr>
            <p:spPr>
              <a:xfrm>
                <a:off x="9932615" y="4662297"/>
                <a:ext cx="613839" cy="185166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350" b="0" i="0">
                    <a:solidFill>
                      <a:srgbClr val="68727D"/>
                    </a:solidFill>
                    <a:latin typeface="Liberation Sans"/>
                  </a:rPr>
                  <a:t>O + 2 H</a:t>
                </a:r>
              </a:p>
            </p:txBody>
          </p:sp>
          <p:sp>
            <p:nvSpPr>
              <p:cNvPr id="189" name="Chemical text: +"/>
              <p:cNvSpPr txBox="1"/>
              <p:nvPr/>
            </p:nvSpPr>
            <p:spPr>
              <a:xfrm>
                <a:off x="10528166" y="4628007"/>
                <a:ext cx="90232" cy="185166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971" b="0" i="0">
                    <a:solidFill>
                      <a:srgbClr val="68727D"/>
                    </a:solidFill>
                    <a:latin typeface="Liberation Sans"/>
                  </a:rPr>
                  <a:t>+</a:t>
                </a:r>
              </a:p>
            </p:txBody>
          </p:sp>
          <p:sp>
            <p:nvSpPr>
              <p:cNvPr id="190" name="Chemical text: (e)"/>
              <p:cNvSpPr txBox="1"/>
              <p:nvPr/>
            </p:nvSpPr>
            <p:spPr>
              <a:xfrm>
                <a:off x="10600110" y="4662297"/>
                <a:ext cx="227818" cy="185166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350" b="0" i="0">
                    <a:solidFill>
                      <a:srgbClr val="68727D"/>
                    </a:solidFill>
                    <a:latin typeface="Liberation Sans"/>
                  </a:rPr>
                  <a:t>(e)</a:t>
                </a:r>
              </a:p>
            </p:txBody>
          </p:sp>
        </p:grpSp>
        <p:sp>
          <p:nvSpPr>
            <p:cNvPr id="191" name="NADH output: 1.667"/>
            <p:cNvSpPr txBox="1"/>
            <p:nvPr/>
          </p:nvSpPr>
          <p:spPr>
            <a:xfrm>
              <a:off x="7315200" y="4864608"/>
              <a:ext cx="3941064" cy="21945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 b="1" i="0">
                  <a:solidFill>
                    <a:srgbClr val="20262E"/>
                  </a:solidFill>
                  <a:latin typeface="Liberation Sans"/>
                </a:rPr>
                <a:t>NADH output: 1.667</a:t>
              </a:r>
            </a:p>
          </p:txBody>
        </p:sp>
      </p:grpSp>
      <p:sp>
        <p:nvSpPr>
          <p:cNvPr id="192" name="ABAH-dependent redox cycle"/>
          <p:cNvSpPr txBox="1"/>
          <p:nvPr/>
        </p:nvSpPr>
        <p:spPr>
          <a:xfrm>
            <a:off x="164592" y="164592"/>
            <a:ext cx="4023360" cy="457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0262E"/>
                </a:solidFill>
                <a:latin typeface="Liberation Sans"/>
              </a:rPr>
              <a:t>ABAH-dependent redox cycle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Arial"/>
        <a:font script="Hang" typeface="Arial"/>
        <a:font script="Hans" typeface="Arial"/>
        <a:font script="Hant" typeface="Arial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Arial"/>
        <a:font script="Hang" typeface="Arial"/>
        <a:font script="Hans" typeface="Arial"/>
        <a:font script="Hant" typeface="Arial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